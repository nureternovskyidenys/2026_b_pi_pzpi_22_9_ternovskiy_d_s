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72" r:id="rId5"/>
    <p:sldId id="260" r:id="rId6"/>
    <p:sldId id="259" r:id="rId7"/>
    <p:sldId id="261" r:id="rId8"/>
    <p:sldId id="267" r:id="rId9"/>
    <p:sldId id="263" r:id="rId10"/>
    <p:sldId id="264" r:id="rId11"/>
    <p:sldId id="265" r:id="rId12"/>
    <p:sldId id="266" r:id="rId13"/>
    <p:sldId id="268" r:id="rId14"/>
    <p:sldId id="270" r:id="rId15"/>
    <p:sldId id="271" r:id="rId16"/>
  </p:sldIdLst>
  <p:sldSz cx="16256000" cy="9144000"/>
  <p:notesSz cx="9144000" cy="16256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126" y="13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1151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21454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flip="none" rotWithShape="1">
          <a:gsLst>
            <a:gs pos="0">
              <a:srgbClr val="0A6B70"/>
            </a:gs>
            <a:gs pos="100000">
              <a:srgbClr val="1A2E35"/>
            </a:gs>
          </a:gsLst>
          <a:path path="circle"/>
        </a:gradFill>
        <a:effectLst/>
      </p:bgPr>
    </p:bg>
    <p:spTree>
      <p:nvGrpSpPr>
        <p:cNvPr id="1" name=""/>
        <p:cNvGrpSpPr/>
        <p:nvPr/>
      </p:nvGrpSpPr>
      <p:grpSpPr>
        <a:xfrm>
          <a:off x="0" y="0"/>
          <a:ext cx="0" cy="0"/>
          <a:chOff x="0" y="0"/>
          <a:chExt cx="0" cy="0"/>
        </a:xfrm>
      </p:grpSpPr>
      <p:sp>
        <p:nvSpPr>
          <p:cNvPr id="2" name="Shape 0"/>
          <p:cNvSpPr/>
          <p:nvPr/>
        </p:nvSpPr>
        <p:spPr>
          <a:xfrm>
            <a:off x="13716000" y="6604000"/>
            <a:ext cx="2540000" cy="2540000"/>
          </a:xfrm>
          <a:prstGeom prst="ellipse">
            <a:avLst/>
          </a:prstGeom>
          <a:solidFill>
            <a:srgbClr val="FFFFFF">
              <a:alpha val="3137"/>
            </a:srgbClr>
          </a:solidFill>
          <a:ln/>
        </p:spPr>
      </p:sp>
      <p:sp>
        <p:nvSpPr>
          <p:cNvPr id="3" name="Shape 1"/>
          <p:cNvSpPr/>
          <p:nvPr/>
        </p:nvSpPr>
        <p:spPr>
          <a:xfrm>
            <a:off x="0" y="0"/>
            <a:ext cx="2540000" cy="2540000"/>
          </a:xfrm>
          <a:prstGeom prst="ellipse">
            <a:avLst/>
          </a:prstGeom>
          <a:solidFill>
            <a:srgbClr val="FFFFFF">
              <a:alpha val="1961"/>
            </a:srgbClr>
          </a:solidFill>
          <a:ln/>
        </p:spPr>
      </p:sp>
      <p:sp>
        <p:nvSpPr>
          <p:cNvPr id="4" name="Text 2"/>
          <p:cNvSpPr/>
          <p:nvPr/>
        </p:nvSpPr>
        <p:spPr>
          <a:xfrm>
            <a:off x="1777999" y="2540000"/>
            <a:ext cx="13344769" cy="1778000"/>
          </a:xfrm>
          <a:prstGeom prst="rect">
            <a:avLst/>
          </a:prstGeom>
          <a:noFill/>
          <a:ln/>
        </p:spPr>
        <p:txBody>
          <a:bodyPr wrap="square" lIns="0" tIns="0" rIns="0" bIns="0" rtlCol="0" anchor="ctr"/>
          <a:lstStyle/>
          <a:p>
            <a:pPr algn="ctr">
              <a:lnSpc>
                <a:spcPct val="120000"/>
              </a:lnSpc>
            </a:pPr>
            <a:r>
              <a:rPr lang="en-US" sz="5600" kern="0" spc="100" dirty="0">
                <a:solidFill>
                  <a:srgbClr val="FFFFFF"/>
                </a:solidFill>
                <a:latin typeface="Times New Roman" panose="02020603050405020304" pitchFamily="18" charset="0"/>
                <a:ea typeface="Liter" pitchFamily="34" charset="-122"/>
                <a:cs typeface="Times New Roman" panose="02020603050405020304" pitchFamily="18" charset="0"/>
              </a:rPr>
              <a:t>Кросплатформений застосунок для обліку</a:t>
            </a:r>
            <a:endParaRPr lang="en-US" sz="5600" dirty="0"/>
          </a:p>
        </p:txBody>
      </p:sp>
      <p:sp>
        <p:nvSpPr>
          <p:cNvPr id="5" name="Text 3"/>
          <p:cNvSpPr/>
          <p:nvPr/>
        </p:nvSpPr>
        <p:spPr>
          <a:xfrm>
            <a:off x="1778001" y="3847123"/>
            <a:ext cx="12700000" cy="762000"/>
          </a:xfrm>
          <a:prstGeom prst="rect">
            <a:avLst/>
          </a:prstGeom>
          <a:noFill/>
          <a:ln/>
        </p:spPr>
        <p:txBody>
          <a:bodyPr wrap="square" lIns="0" tIns="0" rIns="0" bIns="0" rtlCol="0" anchor="ctr"/>
          <a:lstStyle/>
          <a:p>
            <a:pPr algn="ctr">
              <a:lnSpc>
                <a:spcPct val="120000"/>
              </a:lnSpc>
            </a:pPr>
            <a:r>
              <a:rPr lang="en-US" sz="4000" dirty="0">
                <a:solidFill>
                  <a:srgbClr val="FFFFFF"/>
                </a:solidFill>
                <a:latin typeface="Times New Roman" panose="02020603050405020304" pitchFamily="18" charset="0"/>
                <a:ea typeface="Liter" pitchFamily="34" charset="-122"/>
                <a:cs typeface="Times New Roman" panose="02020603050405020304" pitchFamily="18" charset="0"/>
              </a:rPr>
              <a:t>та аналізу спортивних тренувань. Front-End.</a:t>
            </a:r>
            <a:endParaRPr lang="en-US" sz="4000" dirty="0"/>
          </a:p>
        </p:txBody>
      </p:sp>
      <p:sp>
        <p:nvSpPr>
          <p:cNvPr id="6" name="Text 4"/>
          <p:cNvSpPr/>
          <p:nvPr/>
        </p:nvSpPr>
        <p:spPr>
          <a:xfrm>
            <a:off x="3683000" y="5334000"/>
            <a:ext cx="8890000" cy="635000"/>
          </a:xfrm>
          <a:prstGeom prst="rect">
            <a:avLst/>
          </a:prstGeom>
          <a:noFill/>
          <a:ln/>
        </p:spPr>
        <p:txBody>
          <a:bodyPr wrap="square" lIns="0" tIns="0" rIns="0" bIns="0" rtlCol="0" anchor="ctr"/>
          <a:lstStyle/>
          <a:p>
            <a:pPr algn="ctr">
              <a:lnSpc>
                <a:spcPct val="120000"/>
              </a:lnSpc>
            </a:pPr>
            <a:r>
              <a:rPr lang="uk-UA" sz="2800" dirty="0">
                <a:solidFill>
                  <a:srgbClr val="D8D8D8"/>
                </a:solidFill>
                <a:latin typeface="Times New Roman" panose="02020603050405020304" pitchFamily="18" charset="0"/>
                <a:ea typeface="Liter" pitchFamily="34" charset="-122"/>
                <a:cs typeface="Times New Roman" panose="02020603050405020304" pitchFamily="18" charset="0"/>
              </a:rPr>
              <a:t>Кваліфікаційна робота бакалавра</a:t>
            </a:r>
          </a:p>
        </p:txBody>
      </p:sp>
      <p:sp>
        <p:nvSpPr>
          <p:cNvPr id="7" name="Shape 5"/>
          <p:cNvSpPr/>
          <p:nvPr/>
        </p:nvSpPr>
        <p:spPr>
          <a:xfrm>
            <a:off x="6858000" y="6096000"/>
            <a:ext cx="2540000" cy="25400"/>
          </a:xfrm>
          <a:prstGeom prst="rect">
            <a:avLst/>
          </a:prstGeom>
          <a:solidFill>
            <a:srgbClr val="FFFFFF">
              <a:alpha val="25098"/>
            </a:srgbClr>
          </a:solidFill>
          <a:ln/>
        </p:spPr>
      </p:sp>
      <p:sp>
        <p:nvSpPr>
          <p:cNvPr id="8" name="Text 6"/>
          <p:cNvSpPr/>
          <p:nvPr/>
        </p:nvSpPr>
        <p:spPr>
          <a:xfrm>
            <a:off x="4318000" y="6350000"/>
            <a:ext cx="7620000" cy="1016000"/>
          </a:xfrm>
          <a:prstGeom prst="rect">
            <a:avLst/>
          </a:prstGeom>
          <a:noFill/>
          <a:ln/>
        </p:spPr>
        <p:txBody>
          <a:bodyPr wrap="square" lIns="0" tIns="0" rIns="0" bIns="0" rtlCol="0" anchor="ctr"/>
          <a:lstStyle/>
          <a:p>
            <a:pPr algn="ctr">
              <a:lnSpc>
                <a:spcPct val="160000"/>
              </a:lnSpc>
            </a:pPr>
            <a:r>
              <a:rPr lang="uk-UA" sz="2000">
                <a:solidFill>
                  <a:srgbClr val="D8D8D8"/>
                </a:solidFill>
                <a:latin typeface="Times New Roman" panose="02020603050405020304" pitchFamily="18" charset="0"/>
                <a:ea typeface="Liter" pitchFamily="34" charset="-122"/>
                <a:cs typeface="Times New Roman" panose="02020603050405020304" pitchFamily="18" charset="0"/>
              </a:rPr>
              <a:t>Здобувач </a:t>
            </a:r>
            <a:r>
              <a:rPr lang="uk-UA" sz="2000" dirty="0">
                <a:solidFill>
                  <a:srgbClr val="D8D8D8"/>
                </a:solidFill>
                <a:latin typeface="Times New Roman" panose="02020603050405020304" pitchFamily="18" charset="0"/>
                <a:ea typeface="Liter" pitchFamily="34" charset="-122"/>
                <a:cs typeface="Times New Roman" panose="02020603050405020304" pitchFamily="18" charset="0"/>
              </a:rPr>
              <a:t>гр. ПЗПІ-22-9 Денис ТЕРНОВСЬКИЙ</a:t>
            </a:r>
            <a:endParaRPr lang="en-US" sz="2000" dirty="0"/>
          </a:p>
          <a:p>
            <a:pPr algn="ctr">
              <a:lnSpc>
                <a:spcPct val="160000"/>
              </a:lnSpc>
            </a:pPr>
            <a:r>
              <a:rPr lang="en-US" sz="2000" dirty="0">
                <a:solidFill>
                  <a:srgbClr val="D8D8D8"/>
                </a:solidFill>
                <a:latin typeface="Times New Roman" panose="02020603050405020304" pitchFamily="18" charset="0"/>
                <a:ea typeface="Liter" pitchFamily="34" charset="-122"/>
                <a:cs typeface="Times New Roman" panose="02020603050405020304" pitchFamily="18" charset="0"/>
              </a:rPr>
              <a:t>Керівник: </a:t>
            </a:r>
            <a:r>
              <a:rPr lang="uk-UA" sz="2000" dirty="0">
                <a:solidFill>
                  <a:srgbClr val="D8D8D8"/>
                </a:solidFill>
                <a:latin typeface="Times New Roman" panose="02020603050405020304" pitchFamily="18" charset="0"/>
                <a:ea typeface="Liter" pitchFamily="34" charset="-122"/>
                <a:cs typeface="Times New Roman" panose="02020603050405020304" pitchFamily="18" charset="0"/>
              </a:rPr>
              <a:t>доц. Наталія РУСАКОВА</a:t>
            </a:r>
            <a:endParaRPr lang="en-US" sz="20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1016000" y="635000"/>
            <a:ext cx="7620000" cy="635000"/>
          </a:xfrm>
          <a:prstGeom prst="rect">
            <a:avLst/>
          </a:prstGeom>
          <a:noFill/>
          <a:ln/>
        </p:spPr>
        <p:txBody>
          <a:bodyPr wrap="square" lIns="0" tIns="0" rIns="0" bIns="0" rtlCol="0" anchor="t"/>
          <a:lstStyle/>
          <a:p>
            <a:pPr>
              <a:lnSpc>
                <a:spcPct val="120000"/>
              </a:lnSpc>
            </a:pPr>
            <a:r>
              <a:rPr lang="en-US" sz="3600" b="1" dirty="0" err="1">
                <a:solidFill>
                  <a:srgbClr val="3C4A5A"/>
                </a:solidFill>
                <a:latin typeface="Times New Roman" panose="02020603050405020304" pitchFamily="18" charset="0"/>
                <a:ea typeface="Liter"/>
                <a:cs typeface="Times New Roman" panose="02020603050405020304" pitchFamily="18" charset="0"/>
              </a:rPr>
              <a:t>Мета</a:t>
            </a:r>
            <a:r>
              <a:rPr lang="en-US" sz="3600" b="1" dirty="0">
                <a:solidFill>
                  <a:srgbClr val="3C4A5A"/>
                </a:solidFill>
                <a:latin typeface="Times New Roman" panose="02020603050405020304" pitchFamily="18" charset="0"/>
                <a:ea typeface="Liter"/>
                <a:cs typeface="Times New Roman" panose="02020603050405020304" pitchFamily="18" charset="0"/>
              </a:rPr>
              <a:t> </a:t>
            </a:r>
            <a:r>
              <a:rPr lang="uk-UA" sz="3600" b="1" dirty="0">
                <a:solidFill>
                  <a:srgbClr val="3C4A5A"/>
                </a:solidFill>
                <a:latin typeface="Times New Roman" panose="02020603050405020304" pitchFamily="18" charset="0"/>
                <a:ea typeface="Liter"/>
                <a:cs typeface="Times New Roman" panose="02020603050405020304" pitchFamily="18" charset="0"/>
              </a:rPr>
              <a:t>та задачі </a:t>
            </a:r>
            <a:r>
              <a:rPr lang="en-US" sz="3600" b="1" dirty="0" err="1">
                <a:solidFill>
                  <a:srgbClr val="3C4A5A"/>
                </a:solidFill>
                <a:latin typeface="Times New Roman" panose="02020603050405020304" pitchFamily="18" charset="0"/>
                <a:ea typeface="Liter"/>
                <a:cs typeface="Times New Roman" panose="02020603050405020304" pitchFamily="18" charset="0"/>
              </a:rPr>
              <a:t>роботи</a:t>
            </a:r>
            <a:endParaRPr lang="en-US" sz="3600" dirty="0">
              <a:latin typeface="Times New Roman" panose="02020603050405020304" pitchFamily="18" charset="0"/>
              <a:ea typeface="Liter"/>
            </a:endParaRPr>
          </a:p>
        </p:txBody>
      </p:sp>
      <p:sp>
        <p:nvSpPr>
          <p:cNvPr id="3" name="Shape 1"/>
          <p:cNvSpPr/>
          <p:nvPr/>
        </p:nvSpPr>
        <p:spPr>
          <a:xfrm>
            <a:off x="1016000" y="1651001"/>
            <a:ext cx="14224000" cy="32258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6" name="Text 4"/>
          <p:cNvSpPr/>
          <p:nvPr/>
        </p:nvSpPr>
        <p:spPr>
          <a:xfrm>
            <a:off x="1524000" y="2133600"/>
            <a:ext cx="13208000" cy="2286000"/>
          </a:xfrm>
          <a:prstGeom prst="rect">
            <a:avLst/>
          </a:prstGeom>
          <a:noFill/>
          <a:ln/>
        </p:spPr>
        <p:txBody>
          <a:bodyPr wrap="square" lIns="0" tIns="0" rIns="0" bIns="0" rtlCol="0" anchor="t"/>
          <a:lstStyle/>
          <a:p>
            <a:pPr algn="l">
              <a:lnSpc>
                <a:spcPct val="160000"/>
              </a:lnSpc>
            </a:pPr>
            <a:r>
              <a:rPr lang="en-US" sz="2200" dirty="0">
                <a:solidFill>
                  <a:srgbClr val="333333"/>
                </a:solidFill>
                <a:latin typeface="Times New Roman" panose="02020603050405020304" pitchFamily="18" charset="0"/>
                <a:ea typeface="Liter" pitchFamily="34" charset="-122"/>
                <a:cs typeface="Times New Roman" panose="02020603050405020304" pitchFamily="18" charset="0"/>
              </a:rPr>
              <a:t>Метою роботи є розробка клієнтської частини вебсистеми </a:t>
            </a:r>
            <a:r>
              <a:rPr lang="en-US" sz="2200" b="1" dirty="0">
                <a:solidFill>
                  <a:srgbClr val="333333"/>
                </a:solidFill>
                <a:latin typeface="Times New Roman" panose="02020603050405020304" pitchFamily="18" charset="0"/>
                <a:ea typeface="Liter" pitchFamily="34" charset="-122"/>
                <a:cs typeface="Times New Roman" panose="02020603050405020304" pitchFamily="18" charset="0"/>
              </a:rPr>
              <a:t>GymAnalysis</a:t>
            </a:r>
            <a:r>
              <a:rPr lang="en-US" sz="2200" dirty="0">
                <a:solidFill>
                  <a:srgbClr val="333333"/>
                </a:solidFill>
                <a:latin typeface="Times New Roman" panose="02020603050405020304" pitchFamily="18" charset="0"/>
                <a:ea typeface="Liter" pitchFamily="34" charset="-122"/>
                <a:cs typeface="Times New Roman" panose="02020603050405020304" pitchFamily="18" charset="0"/>
              </a:rPr>
              <a:t>, яка допомагає людям ефективно тренуватися та формувати безпечні програми навантажень. Головний фокус зроблено на створенні зручного інтерфейсу на базі бібліотеки </a:t>
            </a:r>
            <a:r>
              <a:rPr lang="en-US" sz="2200" b="1" dirty="0">
                <a:solidFill>
                  <a:srgbClr val="0A6B70"/>
                </a:solidFill>
                <a:latin typeface="Times New Roman" panose="02020603050405020304" pitchFamily="18" charset="0"/>
                <a:ea typeface="Liter" pitchFamily="34" charset="-122"/>
                <a:cs typeface="Times New Roman" panose="02020603050405020304" pitchFamily="18" charset="0"/>
              </a:rPr>
              <a:t>React</a:t>
            </a:r>
            <a:r>
              <a:rPr lang="en-US" sz="2200" dirty="0">
                <a:solidFill>
                  <a:srgbClr val="333333"/>
                </a:solidFill>
                <a:latin typeface="Times New Roman" panose="02020603050405020304" pitchFamily="18" charset="0"/>
                <a:ea typeface="Liter" pitchFamily="34" charset="-122"/>
                <a:cs typeface="Times New Roman" panose="02020603050405020304" pitchFamily="18" charset="0"/>
              </a:rPr>
              <a:t> та його правильному поєднанні з аналітичним модулем штучного інтелекту для надання персональних рекомендацій.</a:t>
            </a:r>
            <a:endParaRPr lang="en-US" sz="2200" dirty="0"/>
          </a:p>
        </p:txBody>
      </p:sp>
      <p:sp>
        <p:nvSpPr>
          <p:cNvPr id="7" name="Shape 5"/>
          <p:cNvSpPr/>
          <p:nvPr/>
        </p:nvSpPr>
        <p:spPr>
          <a:xfrm>
            <a:off x="1016000" y="5257800"/>
            <a:ext cx="6858000" cy="2794000"/>
          </a:xfrm>
          <a:prstGeom prst="roundRect">
            <a:avLst>
              <a:gd name="adj" fmla="val 12000"/>
            </a:avLst>
          </a:prstGeom>
          <a:solidFill>
            <a:srgbClr val="FDFDFB"/>
          </a:solidFill>
          <a:ln w="12700">
            <a:solidFill>
              <a:srgbClr val="0A6B70"/>
            </a:solidFill>
            <a:prstDash val="solid"/>
          </a:ln>
        </p:spPr>
      </p:sp>
      <p:sp>
        <p:nvSpPr>
          <p:cNvPr id="8" name="Shape 6"/>
          <p:cNvSpPr/>
          <p:nvPr/>
        </p:nvSpPr>
        <p:spPr>
          <a:xfrm>
            <a:off x="1524000" y="5638800"/>
            <a:ext cx="431800" cy="431800"/>
          </a:xfrm>
          <a:custGeom>
            <a:avLst/>
            <a:gdLst/>
            <a:ahLst/>
            <a:cxnLst/>
            <a:rect l="l" t="t" r="r" b="b"/>
            <a:pathLst>
              <a:path w="431800" h="431800">
                <a:moveTo>
                  <a:pt x="53975" y="26988"/>
                </a:moveTo>
                <a:cubicBezTo>
                  <a:pt x="24204" y="26988"/>
                  <a:pt x="0" y="51192"/>
                  <a:pt x="0" y="80962"/>
                </a:cubicBezTo>
                <a:lnTo>
                  <a:pt x="0" y="296863"/>
                </a:lnTo>
                <a:cubicBezTo>
                  <a:pt x="0" y="326633"/>
                  <a:pt x="24204" y="350838"/>
                  <a:pt x="53975" y="350838"/>
                </a:cubicBezTo>
                <a:lnTo>
                  <a:pt x="175419" y="350838"/>
                </a:lnTo>
                <a:lnTo>
                  <a:pt x="161925" y="391319"/>
                </a:lnTo>
                <a:lnTo>
                  <a:pt x="101203" y="391319"/>
                </a:lnTo>
                <a:cubicBezTo>
                  <a:pt x="89986" y="391319"/>
                  <a:pt x="80962" y="400343"/>
                  <a:pt x="80962" y="411559"/>
                </a:cubicBezTo>
                <a:cubicBezTo>
                  <a:pt x="80962" y="422776"/>
                  <a:pt x="89986" y="431800"/>
                  <a:pt x="101203" y="431800"/>
                </a:cubicBezTo>
                <a:lnTo>
                  <a:pt x="330597" y="431800"/>
                </a:lnTo>
                <a:cubicBezTo>
                  <a:pt x="341814" y="431800"/>
                  <a:pt x="350838" y="422776"/>
                  <a:pt x="350838" y="411559"/>
                </a:cubicBezTo>
                <a:cubicBezTo>
                  <a:pt x="350838" y="400343"/>
                  <a:pt x="341814" y="391319"/>
                  <a:pt x="330597" y="391319"/>
                </a:cubicBezTo>
                <a:lnTo>
                  <a:pt x="269875" y="391319"/>
                </a:lnTo>
                <a:lnTo>
                  <a:pt x="256381" y="350838"/>
                </a:lnTo>
                <a:lnTo>
                  <a:pt x="377825" y="350838"/>
                </a:lnTo>
                <a:cubicBezTo>
                  <a:pt x="407596" y="350838"/>
                  <a:pt x="431800" y="326633"/>
                  <a:pt x="431800" y="296863"/>
                </a:cubicBezTo>
                <a:lnTo>
                  <a:pt x="431800" y="80962"/>
                </a:lnTo>
                <a:cubicBezTo>
                  <a:pt x="431800" y="51192"/>
                  <a:pt x="407596" y="26988"/>
                  <a:pt x="377825" y="26988"/>
                </a:cubicBezTo>
                <a:lnTo>
                  <a:pt x="53975" y="26988"/>
                </a:lnTo>
                <a:close/>
                <a:moveTo>
                  <a:pt x="80962" y="80962"/>
                </a:moveTo>
                <a:lnTo>
                  <a:pt x="350838" y="80962"/>
                </a:lnTo>
                <a:cubicBezTo>
                  <a:pt x="365765" y="80962"/>
                  <a:pt x="377825" y="93023"/>
                  <a:pt x="377825" y="107950"/>
                </a:cubicBezTo>
                <a:lnTo>
                  <a:pt x="377825" y="242888"/>
                </a:lnTo>
                <a:cubicBezTo>
                  <a:pt x="377825" y="257815"/>
                  <a:pt x="365765" y="269875"/>
                  <a:pt x="350838" y="269875"/>
                </a:cubicBezTo>
                <a:lnTo>
                  <a:pt x="80962" y="269875"/>
                </a:lnTo>
                <a:cubicBezTo>
                  <a:pt x="66035" y="269875"/>
                  <a:pt x="53975" y="257815"/>
                  <a:pt x="53975" y="242888"/>
                </a:cubicBezTo>
                <a:lnTo>
                  <a:pt x="53975" y="107950"/>
                </a:lnTo>
                <a:cubicBezTo>
                  <a:pt x="53975" y="93023"/>
                  <a:pt x="66035" y="80962"/>
                  <a:pt x="80962" y="80962"/>
                </a:cubicBezTo>
                <a:close/>
              </a:path>
            </a:pathLst>
          </a:custGeom>
          <a:solidFill>
            <a:srgbClr val="0A6B70"/>
          </a:solidFill>
          <a:ln/>
        </p:spPr>
      </p:sp>
      <p:sp>
        <p:nvSpPr>
          <p:cNvPr id="9" name="Text 7"/>
          <p:cNvSpPr/>
          <p:nvPr/>
        </p:nvSpPr>
        <p:spPr>
          <a:xfrm>
            <a:off x="2159000" y="5638800"/>
            <a:ext cx="5080000" cy="431800"/>
          </a:xfrm>
          <a:prstGeom prst="rect">
            <a:avLst/>
          </a:prstGeom>
          <a:noFill/>
          <a:ln/>
        </p:spPr>
        <p:txBody>
          <a:bodyPr wrap="square" lIns="0" tIns="0" rIns="0" bIns="0" rtlCol="0" anchor="ctr"/>
          <a:lstStyle/>
          <a:p>
            <a:pPr algn="l">
              <a:lnSpc>
                <a:spcPct val="120000"/>
              </a:lnSpc>
            </a:pPr>
            <a:r>
              <a:rPr lang="en-US" sz="2400" dirty="0">
                <a:solidFill>
                  <a:srgbClr val="0A6B70"/>
                </a:solidFill>
                <a:latin typeface="Times New Roman" panose="02020603050405020304" pitchFamily="18" charset="0"/>
                <a:ea typeface="Liter" pitchFamily="34" charset="-122"/>
                <a:cs typeface="Times New Roman" panose="02020603050405020304" pitchFamily="18" charset="0"/>
              </a:rPr>
              <a:t>Зручний інтерфейс</a:t>
            </a:r>
            <a:endParaRPr lang="en-US" sz="2400" dirty="0"/>
          </a:p>
        </p:txBody>
      </p:sp>
      <p:sp>
        <p:nvSpPr>
          <p:cNvPr id="10" name="Text 8"/>
          <p:cNvSpPr/>
          <p:nvPr/>
        </p:nvSpPr>
        <p:spPr>
          <a:xfrm>
            <a:off x="1524000" y="6273800"/>
            <a:ext cx="5842000" cy="1524000"/>
          </a:xfrm>
          <a:prstGeom prst="rect">
            <a:avLst/>
          </a:prstGeom>
          <a:noFill/>
          <a:ln/>
        </p:spPr>
        <p:txBody>
          <a:bodyPr wrap="square" lIns="0" tIns="0" rIns="0" bIns="0" rtlCol="0" anchor="t"/>
          <a:lstStyle/>
          <a:p>
            <a:pPr algn="l">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Створення інтуїтивно зрозумілого UI на базі React з використанням сучасних підходів до дизайну.</a:t>
            </a:r>
            <a:endParaRPr lang="en-US" sz="1800" dirty="0"/>
          </a:p>
        </p:txBody>
      </p:sp>
      <p:sp>
        <p:nvSpPr>
          <p:cNvPr id="11" name="Shape 9"/>
          <p:cNvSpPr/>
          <p:nvPr/>
        </p:nvSpPr>
        <p:spPr>
          <a:xfrm>
            <a:off x="8382000" y="5257800"/>
            <a:ext cx="6858000" cy="2794000"/>
          </a:xfrm>
          <a:prstGeom prst="roundRect">
            <a:avLst>
              <a:gd name="adj" fmla="val 12000"/>
            </a:avLst>
          </a:prstGeom>
          <a:solidFill>
            <a:srgbClr val="FDFDFB"/>
          </a:solidFill>
          <a:ln w="12700">
            <a:solidFill>
              <a:srgbClr val="FFC107"/>
            </a:solidFill>
            <a:prstDash val="solid"/>
          </a:ln>
        </p:spPr>
      </p:sp>
      <p:sp>
        <p:nvSpPr>
          <p:cNvPr id="12" name="Shape 10"/>
          <p:cNvSpPr/>
          <p:nvPr/>
        </p:nvSpPr>
        <p:spPr>
          <a:xfrm>
            <a:off x="8890000" y="5638800"/>
            <a:ext cx="431800" cy="431800"/>
          </a:xfrm>
          <a:custGeom>
            <a:avLst/>
            <a:gdLst/>
            <a:ahLst/>
            <a:cxnLst/>
            <a:rect l="l" t="t" r="r" b="b"/>
            <a:pathLst>
              <a:path w="431800" h="431800">
                <a:moveTo>
                  <a:pt x="101203" y="47228"/>
                </a:moveTo>
                <a:cubicBezTo>
                  <a:pt x="101203" y="21168"/>
                  <a:pt x="122371" y="0"/>
                  <a:pt x="148431" y="0"/>
                </a:cubicBezTo>
                <a:lnTo>
                  <a:pt x="168672" y="0"/>
                </a:lnTo>
                <a:cubicBezTo>
                  <a:pt x="183599" y="0"/>
                  <a:pt x="195659" y="12060"/>
                  <a:pt x="195659" y="26988"/>
                </a:cubicBezTo>
                <a:lnTo>
                  <a:pt x="195659" y="404813"/>
                </a:lnTo>
                <a:cubicBezTo>
                  <a:pt x="195659" y="419740"/>
                  <a:pt x="183599" y="431800"/>
                  <a:pt x="168672" y="431800"/>
                </a:cubicBezTo>
                <a:lnTo>
                  <a:pt x="141684" y="431800"/>
                </a:lnTo>
                <a:cubicBezTo>
                  <a:pt x="116552" y="431800"/>
                  <a:pt x="95384" y="414595"/>
                  <a:pt x="89396" y="391319"/>
                </a:cubicBezTo>
                <a:cubicBezTo>
                  <a:pt x="88806" y="391319"/>
                  <a:pt x="88300" y="391319"/>
                  <a:pt x="87709" y="391319"/>
                </a:cubicBezTo>
                <a:cubicBezTo>
                  <a:pt x="50433" y="391319"/>
                  <a:pt x="20241" y="361126"/>
                  <a:pt x="20241" y="323850"/>
                </a:cubicBezTo>
                <a:cubicBezTo>
                  <a:pt x="20241" y="308670"/>
                  <a:pt x="25301" y="294670"/>
                  <a:pt x="33734" y="283369"/>
                </a:cubicBezTo>
                <a:cubicBezTo>
                  <a:pt x="17373" y="271056"/>
                  <a:pt x="6747" y="251490"/>
                  <a:pt x="6747" y="229394"/>
                </a:cubicBezTo>
                <a:cubicBezTo>
                  <a:pt x="6747" y="203334"/>
                  <a:pt x="21590" y="180648"/>
                  <a:pt x="43180" y="169431"/>
                </a:cubicBezTo>
                <a:cubicBezTo>
                  <a:pt x="37192" y="159311"/>
                  <a:pt x="33734" y="147504"/>
                  <a:pt x="33734" y="134938"/>
                </a:cubicBezTo>
                <a:cubicBezTo>
                  <a:pt x="33734" y="97661"/>
                  <a:pt x="63927" y="67469"/>
                  <a:pt x="101203" y="67469"/>
                </a:cubicBezTo>
                <a:lnTo>
                  <a:pt x="101203" y="47228"/>
                </a:lnTo>
                <a:close/>
                <a:moveTo>
                  <a:pt x="330597" y="47228"/>
                </a:moveTo>
                <a:lnTo>
                  <a:pt x="330597" y="67469"/>
                </a:lnTo>
                <a:cubicBezTo>
                  <a:pt x="367873" y="67469"/>
                  <a:pt x="398066" y="97661"/>
                  <a:pt x="398066" y="134938"/>
                </a:cubicBezTo>
                <a:cubicBezTo>
                  <a:pt x="398066" y="147588"/>
                  <a:pt x="394608" y="159395"/>
                  <a:pt x="388620" y="169431"/>
                </a:cubicBezTo>
                <a:cubicBezTo>
                  <a:pt x="410294" y="180648"/>
                  <a:pt x="425053" y="203250"/>
                  <a:pt x="425053" y="229394"/>
                </a:cubicBezTo>
                <a:cubicBezTo>
                  <a:pt x="425053" y="251490"/>
                  <a:pt x="414427" y="271056"/>
                  <a:pt x="398066" y="283369"/>
                </a:cubicBezTo>
                <a:cubicBezTo>
                  <a:pt x="406499" y="294670"/>
                  <a:pt x="411559" y="308670"/>
                  <a:pt x="411559" y="323850"/>
                </a:cubicBezTo>
                <a:cubicBezTo>
                  <a:pt x="411559" y="361126"/>
                  <a:pt x="381367" y="391319"/>
                  <a:pt x="344091" y="391319"/>
                </a:cubicBezTo>
                <a:cubicBezTo>
                  <a:pt x="343500" y="391319"/>
                  <a:pt x="342994" y="391319"/>
                  <a:pt x="342404" y="391319"/>
                </a:cubicBezTo>
                <a:cubicBezTo>
                  <a:pt x="336416" y="414595"/>
                  <a:pt x="315248" y="431800"/>
                  <a:pt x="290116" y="431800"/>
                </a:cubicBezTo>
                <a:lnTo>
                  <a:pt x="263128" y="431800"/>
                </a:lnTo>
                <a:cubicBezTo>
                  <a:pt x="248201" y="431800"/>
                  <a:pt x="236141" y="419740"/>
                  <a:pt x="236141" y="404813"/>
                </a:cubicBezTo>
                <a:lnTo>
                  <a:pt x="236141" y="26988"/>
                </a:lnTo>
                <a:cubicBezTo>
                  <a:pt x="236141" y="12060"/>
                  <a:pt x="248201" y="0"/>
                  <a:pt x="263128" y="0"/>
                </a:cubicBezTo>
                <a:lnTo>
                  <a:pt x="283369" y="0"/>
                </a:lnTo>
                <a:cubicBezTo>
                  <a:pt x="309429" y="0"/>
                  <a:pt x="330597" y="21168"/>
                  <a:pt x="330597" y="47228"/>
                </a:cubicBezTo>
                <a:close/>
              </a:path>
            </a:pathLst>
          </a:custGeom>
          <a:solidFill>
            <a:srgbClr val="FFC107"/>
          </a:solidFill>
          <a:ln/>
        </p:spPr>
      </p:sp>
      <p:sp>
        <p:nvSpPr>
          <p:cNvPr id="13" name="Text 11"/>
          <p:cNvSpPr/>
          <p:nvPr/>
        </p:nvSpPr>
        <p:spPr>
          <a:xfrm>
            <a:off x="9525000" y="5638800"/>
            <a:ext cx="5080000" cy="431800"/>
          </a:xfrm>
          <a:prstGeom prst="rect">
            <a:avLst/>
          </a:prstGeom>
          <a:noFill/>
          <a:ln/>
        </p:spPr>
        <p:txBody>
          <a:bodyPr wrap="square" lIns="0" tIns="0" rIns="0" bIns="0" rtlCol="0" anchor="ctr"/>
          <a:lstStyle/>
          <a:p>
            <a:pPr algn="l">
              <a:lnSpc>
                <a:spcPct val="120000"/>
              </a:lnSpc>
            </a:pPr>
            <a:r>
              <a:rPr lang="en-US" sz="2400" dirty="0">
                <a:solidFill>
                  <a:srgbClr val="FFC107"/>
                </a:solidFill>
                <a:latin typeface="Times New Roman" panose="02020603050405020304" pitchFamily="18" charset="0"/>
                <a:ea typeface="Liter" pitchFamily="34" charset="-122"/>
                <a:cs typeface="Times New Roman" panose="02020603050405020304" pitchFamily="18" charset="0"/>
              </a:rPr>
              <a:t>AI-рекомендації</a:t>
            </a:r>
            <a:endParaRPr lang="en-US" sz="2400" dirty="0"/>
          </a:p>
        </p:txBody>
      </p:sp>
      <p:sp>
        <p:nvSpPr>
          <p:cNvPr id="14" name="Text 12"/>
          <p:cNvSpPr/>
          <p:nvPr/>
        </p:nvSpPr>
        <p:spPr>
          <a:xfrm>
            <a:off x="8890000" y="6273800"/>
            <a:ext cx="5842000" cy="1524000"/>
          </a:xfrm>
          <a:prstGeom prst="rect">
            <a:avLst/>
          </a:prstGeom>
          <a:noFill/>
          <a:ln/>
        </p:spPr>
        <p:txBody>
          <a:bodyPr wrap="square" lIns="0" tIns="0" rIns="0" bIns="0" rtlCol="0" anchor="t"/>
          <a:lstStyle/>
          <a:p>
            <a:pPr algn="l">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Поєднання інтерфейсу з аналітичним модулем ШІ для персоналізованих рекомендацій та аналізу безпеки.</a:t>
            </a:r>
            <a:endParaRPr lang="en-US" sz="18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1016000" y="635000"/>
            <a:ext cx="7620000" cy="635000"/>
          </a:xfrm>
          <a:prstGeom prst="rect">
            <a:avLst/>
          </a:prstGeom>
          <a:noFill/>
          <a:ln/>
        </p:spPr>
        <p:txBody>
          <a:bodyPr wrap="square" lIns="0" tIns="0" rIns="0" bIns="0" rtlCol="0" anchor="t"/>
          <a:lstStyle/>
          <a:p>
            <a:pPr>
              <a:lnSpc>
                <a:spcPct val="120000"/>
              </a:lnSpc>
            </a:pPr>
            <a:r>
              <a:rPr lang="en-US" sz="3600" b="1" dirty="0" err="1">
                <a:solidFill>
                  <a:srgbClr val="3C4A5A"/>
                </a:solidFill>
                <a:latin typeface="Times New Roman" panose="02020603050405020304" pitchFamily="18" charset="0"/>
                <a:ea typeface="Liter"/>
                <a:cs typeface="Times New Roman" panose="02020603050405020304" pitchFamily="18" charset="0"/>
              </a:rPr>
              <a:t>Вихідні</a:t>
            </a:r>
            <a:r>
              <a:rPr lang="en-US" sz="3600" b="1" dirty="0">
                <a:solidFill>
                  <a:srgbClr val="3C4A5A"/>
                </a:solidFill>
                <a:latin typeface="Times New Roman" panose="02020603050405020304" pitchFamily="18" charset="0"/>
                <a:ea typeface="Liter"/>
                <a:cs typeface="Times New Roman" panose="02020603050405020304" pitchFamily="18" charset="0"/>
              </a:rPr>
              <a:t> </a:t>
            </a:r>
            <a:r>
              <a:rPr lang="en-US" sz="3600" b="1" dirty="0" err="1">
                <a:solidFill>
                  <a:srgbClr val="3C4A5A"/>
                </a:solidFill>
                <a:latin typeface="Times New Roman" panose="02020603050405020304" pitchFamily="18" charset="0"/>
                <a:ea typeface="Liter"/>
                <a:cs typeface="Times New Roman" panose="02020603050405020304" pitchFamily="18" charset="0"/>
              </a:rPr>
              <a:t>дані</a:t>
            </a:r>
            <a:r>
              <a:rPr lang="en-US" sz="3600" b="1" dirty="0">
                <a:solidFill>
                  <a:srgbClr val="3C4A5A"/>
                </a:solidFill>
                <a:latin typeface="Times New Roman" panose="02020603050405020304" pitchFamily="18" charset="0"/>
                <a:ea typeface="Liter"/>
                <a:cs typeface="Times New Roman" panose="02020603050405020304" pitchFamily="18" charset="0"/>
              </a:rPr>
              <a:t> </a:t>
            </a:r>
            <a:r>
              <a:rPr lang="en-US" sz="3600" b="1" dirty="0" err="1">
                <a:solidFill>
                  <a:srgbClr val="3C4A5A"/>
                </a:solidFill>
                <a:latin typeface="Times New Roman" panose="02020603050405020304" pitchFamily="18" charset="0"/>
                <a:ea typeface="Liter"/>
                <a:cs typeface="Times New Roman" panose="02020603050405020304" pitchFamily="18" charset="0"/>
              </a:rPr>
              <a:t>та</a:t>
            </a:r>
            <a:r>
              <a:rPr lang="en-US" sz="3600" b="1" dirty="0">
                <a:solidFill>
                  <a:srgbClr val="3C4A5A"/>
                </a:solidFill>
                <a:latin typeface="Times New Roman" panose="02020603050405020304" pitchFamily="18" charset="0"/>
                <a:ea typeface="Liter"/>
                <a:cs typeface="Times New Roman" panose="02020603050405020304" pitchFamily="18" charset="0"/>
              </a:rPr>
              <a:t> </a:t>
            </a:r>
            <a:r>
              <a:rPr lang="en-US" sz="3600" b="1" dirty="0" err="1">
                <a:solidFill>
                  <a:srgbClr val="3C4A5A"/>
                </a:solidFill>
                <a:latin typeface="Times New Roman" panose="02020603050405020304" pitchFamily="18" charset="0"/>
                <a:ea typeface="Liter"/>
                <a:cs typeface="Times New Roman" panose="02020603050405020304" pitchFamily="18" charset="0"/>
              </a:rPr>
              <a:t>вимоги</a:t>
            </a:r>
            <a:endParaRPr lang="en-US" sz="3600" dirty="0">
              <a:latin typeface="Times New Roman" panose="02020603050405020304" pitchFamily="18" charset="0"/>
              <a:ea typeface="Liter"/>
            </a:endParaRPr>
          </a:p>
        </p:txBody>
      </p:sp>
      <p:sp>
        <p:nvSpPr>
          <p:cNvPr id="3" name="Shape 1"/>
          <p:cNvSpPr/>
          <p:nvPr/>
        </p:nvSpPr>
        <p:spPr>
          <a:xfrm>
            <a:off x="1016000" y="1397000"/>
            <a:ext cx="14224000" cy="3556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4" name="Shape 2"/>
          <p:cNvSpPr/>
          <p:nvPr/>
        </p:nvSpPr>
        <p:spPr>
          <a:xfrm>
            <a:off x="1524000" y="1778000"/>
            <a:ext cx="508000" cy="508000"/>
          </a:xfrm>
          <a:custGeom>
            <a:avLst/>
            <a:gdLst/>
            <a:ahLst/>
            <a:cxnLst/>
            <a:rect l="l" t="t" r="r" b="b"/>
            <a:pathLst>
              <a:path w="508000" h="508000">
                <a:moveTo>
                  <a:pt x="508000" y="204192"/>
                </a:moveTo>
                <a:cubicBezTo>
                  <a:pt x="491218" y="213916"/>
                  <a:pt x="471941" y="221754"/>
                  <a:pt x="451871" y="228005"/>
                </a:cubicBezTo>
                <a:cubicBezTo>
                  <a:pt x="398576" y="244673"/>
                  <a:pt x="328613" y="254000"/>
                  <a:pt x="254000" y="254000"/>
                </a:cubicBezTo>
                <a:cubicBezTo>
                  <a:pt x="179387" y="254000"/>
                  <a:pt x="109311" y="244574"/>
                  <a:pt x="56129" y="228005"/>
                </a:cubicBezTo>
                <a:cubicBezTo>
                  <a:pt x="36172" y="221754"/>
                  <a:pt x="16782" y="213916"/>
                  <a:pt x="0" y="204192"/>
                </a:cubicBezTo>
                <a:lnTo>
                  <a:pt x="0" y="285750"/>
                </a:lnTo>
                <a:cubicBezTo>
                  <a:pt x="0" y="329605"/>
                  <a:pt x="113733" y="365125"/>
                  <a:pt x="254000" y="365125"/>
                </a:cubicBezTo>
                <a:cubicBezTo>
                  <a:pt x="394267" y="365125"/>
                  <a:pt x="508000" y="329605"/>
                  <a:pt x="508000" y="285750"/>
                </a:cubicBezTo>
                <a:lnTo>
                  <a:pt x="508000" y="204192"/>
                </a:lnTo>
                <a:close/>
                <a:moveTo>
                  <a:pt x="508000" y="127000"/>
                </a:moveTo>
                <a:lnTo>
                  <a:pt x="508000" y="79375"/>
                </a:lnTo>
                <a:cubicBezTo>
                  <a:pt x="508000" y="35520"/>
                  <a:pt x="394267" y="0"/>
                  <a:pt x="254000" y="0"/>
                </a:cubicBezTo>
                <a:cubicBezTo>
                  <a:pt x="113733" y="0"/>
                  <a:pt x="0" y="35520"/>
                  <a:pt x="0" y="79375"/>
                </a:cubicBezTo>
                <a:lnTo>
                  <a:pt x="0" y="127000"/>
                </a:lnTo>
                <a:cubicBezTo>
                  <a:pt x="0" y="170855"/>
                  <a:pt x="113733" y="206375"/>
                  <a:pt x="254000" y="206375"/>
                </a:cubicBezTo>
                <a:cubicBezTo>
                  <a:pt x="394267" y="206375"/>
                  <a:pt x="508000" y="170855"/>
                  <a:pt x="508000" y="127000"/>
                </a:cubicBezTo>
                <a:close/>
                <a:moveTo>
                  <a:pt x="451871" y="386755"/>
                </a:moveTo>
                <a:cubicBezTo>
                  <a:pt x="398689" y="403324"/>
                  <a:pt x="328726" y="412750"/>
                  <a:pt x="254000" y="412750"/>
                </a:cubicBezTo>
                <a:cubicBezTo>
                  <a:pt x="179274" y="412750"/>
                  <a:pt x="109311" y="403324"/>
                  <a:pt x="56129" y="386755"/>
                </a:cubicBezTo>
                <a:cubicBezTo>
                  <a:pt x="36172" y="380504"/>
                  <a:pt x="16782" y="372666"/>
                  <a:pt x="0" y="362942"/>
                </a:cubicBezTo>
                <a:lnTo>
                  <a:pt x="0" y="428625"/>
                </a:lnTo>
                <a:cubicBezTo>
                  <a:pt x="0" y="472480"/>
                  <a:pt x="113733" y="508000"/>
                  <a:pt x="254000" y="508000"/>
                </a:cubicBezTo>
                <a:cubicBezTo>
                  <a:pt x="394267" y="508000"/>
                  <a:pt x="508000" y="472480"/>
                  <a:pt x="508000" y="428625"/>
                </a:cubicBezTo>
                <a:lnTo>
                  <a:pt x="508000" y="362942"/>
                </a:lnTo>
                <a:cubicBezTo>
                  <a:pt x="491218" y="372666"/>
                  <a:pt x="471941" y="380504"/>
                  <a:pt x="451871" y="386755"/>
                </a:cubicBezTo>
                <a:close/>
              </a:path>
            </a:pathLst>
          </a:custGeom>
          <a:solidFill>
            <a:srgbClr val="0A6B70"/>
          </a:solidFill>
          <a:ln/>
        </p:spPr>
      </p:sp>
      <p:sp>
        <p:nvSpPr>
          <p:cNvPr id="5" name="Text 3"/>
          <p:cNvSpPr/>
          <p:nvPr/>
        </p:nvSpPr>
        <p:spPr>
          <a:xfrm>
            <a:off x="2286000" y="1778000"/>
            <a:ext cx="5080000" cy="508000"/>
          </a:xfrm>
          <a:prstGeom prst="rect">
            <a:avLst/>
          </a:prstGeom>
          <a:noFill/>
          <a:ln/>
        </p:spPr>
        <p:txBody>
          <a:bodyPr wrap="square" lIns="0" tIns="0" rIns="0" bIns="0" rtlCol="0" anchor="ctr"/>
          <a:lstStyle/>
          <a:p>
            <a:pPr algn="l">
              <a:lnSpc>
                <a:spcPct val="120000"/>
              </a:lnSpc>
            </a:pPr>
            <a:r>
              <a:rPr lang="en-US" sz="2400" dirty="0">
                <a:solidFill>
                  <a:srgbClr val="0A6B70"/>
                </a:solidFill>
                <a:latin typeface="Times New Roman" panose="02020603050405020304" pitchFamily="18" charset="0"/>
                <a:ea typeface="Liter" pitchFamily="34" charset="-122"/>
                <a:cs typeface="Times New Roman" panose="02020603050405020304" pitchFamily="18" charset="0"/>
              </a:rPr>
              <a:t>Завдання на розробку</a:t>
            </a:r>
            <a:endParaRPr lang="en-US" sz="2400" dirty="0"/>
          </a:p>
        </p:txBody>
      </p:sp>
      <p:sp>
        <p:nvSpPr>
          <p:cNvPr id="6" name="Text 4"/>
          <p:cNvSpPr/>
          <p:nvPr/>
        </p:nvSpPr>
        <p:spPr>
          <a:xfrm>
            <a:off x="1524000" y="2540000"/>
            <a:ext cx="13208000" cy="2286000"/>
          </a:xfrm>
          <a:prstGeom prst="rect">
            <a:avLst/>
          </a:prstGeom>
          <a:noFill/>
          <a:ln/>
        </p:spPr>
        <p:txBody>
          <a:bodyPr wrap="square" lIns="0" tIns="0" rIns="0" bIns="0" rtlCol="0" anchor="t"/>
          <a:lstStyle/>
          <a:p>
            <a:pPr algn="l">
              <a:lnSpc>
                <a:spcPct val="160000"/>
              </a:lnSpc>
            </a:pPr>
            <a:r>
              <a:rPr lang="en-US" sz="2200" dirty="0">
                <a:solidFill>
                  <a:srgbClr val="333333"/>
                </a:solidFill>
                <a:latin typeface="Times New Roman" panose="02020603050405020304" pitchFamily="18" charset="0"/>
                <a:ea typeface="Liter" pitchFamily="34" charset="-122"/>
                <a:cs typeface="Times New Roman" panose="02020603050405020304" pitchFamily="18" charset="0"/>
              </a:rPr>
              <a:t>Розробити клієнтську частину комплексної платформи для організації спортивних тренувань, яка включає сучасний веб-інтерфейс, інтеграцію з генеративною моделлю штучного інтелекту та підключення до зовнішньої масивної бази вправ (</a:t>
            </a:r>
            <a:r>
              <a:rPr lang="en-US" sz="2200" b="1" dirty="0">
                <a:solidFill>
                  <a:srgbClr val="0A6B70"/>
                </a:solidFill>
                <a:latin typeface="Times New Roman" panose="02020603050405020304" pitchFamily="18" charset="0"/>
                <a:ea typeface="Liter" pitchFamily="34" charset="-122"/>
                <a:cs typeface="Times New Roman" panose="02020603050405020304" pitchFamily="18" charset="0"/>
              </a:rPr>
              <a:t>ExerciseDB</a:t>
            </a:r>
            <a:r>
              <a:rPr lang="en-US" sz="2200" dirty="0">
                <a:solidFill>
                  <a:srgbClr val="333333"/>
                </a:solidFill>
                <a:latin typeface="Times New Roman" panose="02020603050405020304" pitchFamily="18" charset="0"/>
                <a:ea typeface="Liter" pitchFamily="34" charset="-122"/>
                <a:cs typeface="Times New Roman" panose="02020603050405020304" pitchFamily="18" charset="0"/>
              </a:rPr>
              <a:t>) через API. Реалізувати зручну та надійну взаємодію користувача з цими даними.</a:t>
            </a:r>
            <a:endParaRPr lang="en-US" sz="2200" dirty="0"/>
          </a:p>
        </p:txBody>
      </p:sp>
      <p:sp>
        <p:nvSpPr>
          <p:cNvPr id="7" name="Shape 5"/>
          <p:cNvSpPr/>
          <p:nvPr/>
        </p:nvSpPr>
        <p:spPr>
          <a:xfrm>
            <a:off x="1016000" y="5207000"/>
            <a:ext cx="4445000" cy="3302000"/>
          </a:xfrm>
          <a:prstGeom prst="roundRect">
            <a:avLst>
              <a:gd name="adj" fmla="val 12000"/>
            </a:avLst>
          </a:prstGeom>
          <a:solidFill>
            <a:srgbClr val="FDFDFB"/>
          </a:solidFill>
          <a:ln w="12700">
            <a:solidFill>
              <a:srgbClr val="0A6B70"/>
            </a:solidFill>
            <a:prstDash val="solid"/>
          </a:ln>
        </p:spPr>
      </p:sp>
      <p:sp>
        <p:nvSpPr>
          <p:cNvPr id="8" name="Text 6"/>
          <p:cNvSpPr/>
          <p:nvPr/>
        </p:nvSpPr>
        <p:spPr>
          <a:xfrm>
            <a:off x="1270000" y="5461000"/>
            <a:ext cx="762000" cy="508000"/>
          </a:xfrm>
          <a:prstGeom prst="rect">
            <a:avLst/>
          </a:prstGeom>
          <a:noFill/>
          <a:ln/>
        </p:spPr>
        <p:txBody>
          <a:bodyPr wrap="square" lIns="0" tIns="0" rIns="0" bIns="0" rtlCol="0" anchor="ctr"/>
          <a:lstStyle/>
          <a:p>
            <a:pPr algn="ctr">
              <a:lnSpc>
                <a:spcPct val="120000"/>
              </a:lnSpc>
            </a:pPr>
            <a:r>
              <a:rPr lang="en-US" sz="3200" dirty="0">
                <a:solidFill>
                  <a:srgbClr val="0A6B70"/>
                </a:solidFill>
                <a:latin typeface="Times New Roman" panose="02020603050405020304" pitchFamily="18" charset="0"/>
                <a:ea typeface="Liter" pitchFamily="34" charset="-122"/>
                <a:cs typeface="Times New Roman" panose="02020603050405020304" pitchFamily="18" charset="0"/>
              </a:rPr>
              <a:t>01</a:t>
            </a:r>
            <a:endParaRPr lang="en-US" sz="3200" dirty="0"/>
          </a:p>
        </p:txBody>
      </p:sp>
      <p:sp>
        <p:nvSpPr>
          <p:cNvPr id="9" name="Text 7"/>
          <p:cNvSpPr/>
          <p:nvPr/>
        </p:nvSpPr>
        <p:spPr>
          <a:xfrm>
            <a:off x="2159000" y="5461000"/>
            <a:ext cx="3048000" cy="508000"/>
          </a:xfrm>
          <a:prstGeom prst="rect">
            <a:avLst/>
          </a:prstGeom>
          <a:noFill/>
          <a:ln/>
        </p:spPr>
        <p:txBody>
          <a:bodyPr wrap="square" lIns="0" tIns="0" rIns="0" bIns="0" rtlCol="0" anchor="ctr"/>
          <a:lstStyle/>
          <a:p>
            <a:pPr algn="l">
              <a:lnSpc>
                <a:spcPct val="120000"/>
              </a:lnSpc>
            </a:pPr>
            <a:r>
              <a:rPr lang="en-US" sz="2000" b="1" dirty="0">
                <a:solidFill>
                  <a:srgbClr val="0A6B70"/>
                </a:solidFill>
                <a:latin typeface="Times New Roman" panose="02020603050405020304" pitchFamily="18" charset="0"/>
                <a:ea typeface="Liter" pitchFamily="34" charset="-122"/>
                <a:cs typeface="Times New Roman" panose="02020603050405020304" pitchFamily="18" charset="0"/>
              </a:rPr>
              <a:t>Веб-інтерфейс</a:t>
            </a:r>
            <a:endParaRPr lang="en-US" sz="2000" dirty="0"/>
          </a:p>
        </p:txBody>
      </p:sp>
      <p:sp>
        <p:nvSpPr>
          <p:cNvPr id="10" name="Text 8"/>
          <p:cNvSpPr/>
          <p:nvPr/>
        </p:nvSpPr>
        <p:spPr>
          <a:xfrm>
            <a:off x="1270000" y="6096000"/>
            <a:ext cx="3937000" cy="2159000"/>
          </a:xfrm>
          <a:prstGeom prst="rect">
            <a:avLst/>
          </a:prstGeom>
          <a:noFill/>
          <a:ln/>
        </p:spPr>
        <p:txBody>
          <a:bodyPr wrap="square" lIns="0" tIns="0" rIns="0" bIns="0" rtlCol="0" anchor="t"/>
          <a:lstStyle/>
          <a:p>
            <a:pPr algn="l">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Сучасний адаптивний інтерфейс для зручної взаємодії користувача з платформою тренувань.</a:t>
            </a:r>
            <a:endParaRPr lang="en-US" sz="1800" dirty="0"/>
          </a:p>
        </p:txBody>
      </p:sp>
      <p:sp>
        <p:nvSpPr>
          <p:cNvPr id="11" name="Shape 9"/>
          <p:cNvSpPr/>
          <p:nvPr/>
        </p:nvSpPr>
        <p:spPr>
          <a:xfrm>
            <a:off x="5905500" y="5207000"/>
            <a:ext cx="4445000" cy="3302000"/>
          </a:xfrm>
          <a:prstGeom prst="roundRect">
            <a:avLst>
              <a:gd name="adj" fmla="val 12000"/>
            </a:avLst>
          </a:prstGeom>
          <a:solidFill>
            <a:srgbClr val="FDFDFB"/>
          </a:solidFill>
          <a:ln w="12700">
            <a:solidFill>
              <a:srgbClr val="FFC107"/>
            </a:solidFill>
            <a:prstDash val="solid"/>
          </a:ln>
        </p:spPr>
      </p:sp>
      <p:sp>
        <p:nvSpPr>
          <p:cNvPr id="12" name="Text 10"/>
          <p:cNvSpPr/>
          <p:nvPr/>
        </p:nvSpPr>
        <p:spPr>
          <a:xfrm>
            <a:off x="6159500" y="5461000"/>
            <a:ext cx="762000" cy="508000"/>
          </a:xfrm>
          <a:prstGeom prst="rect">
            <a:avLst/>
          </a:prstGeom>
          <a:noFill/>
          <a:ln/>
        </p:spPr>
        <p:txBody>
          <a:bodyPr wrap="square" lIns="0" tIns="0" rIns="0" bIns="0" rtlCol="0" anchor="ctr"/>
          <a:lstStyle/>
          <a:p>
            <a:pPr algn="ctr">
              <a:lnSpc>
                <a:spcPct val="120000"/>
              </a:lnSpc>
            </a:pPr>
            <a:r>
              <a:rPr lang="en-US" sz="3200" dirty="0">
                <a:solidFill>
                  <a:srgbClr val="FFC107"/>
                </a:solidFill>
                <a:latin typeface="Times New Roman" panose="02020603050405020304" pitchFamily="18" charset="0"/>
                <a:ea typeface="Liter" pitchFamily="34" charset="-122"/>
                <a:cs typeface="Times New Roman" panose="02020603050405020304" pitchFamily="18" charset="0"/>
              </a:rPr>
              <a:t>02</a:t>
            </a:r>
            <a:endParaRPr lang="en-US" sz="3200" dirty="0"/>
          </a:p>
        </p:txBody>
      </p:sp>
      <p:sp>
        <p:nvSpPr>
          <p:cNvPr id="13" name="Text 11"/>
          <p:cNvSpPr/>
          <p:nvPr/>
        </p:nvSpPr>
        <p:spPr>
          <a:xfrm>
            <a:off x="7048500" y="5461000"/>
            <a:ext cx="3048000" cy="508000"/>
          </a:xfrm>
          <a:prstGeom prst="rect">
            <a:avLst/>
          </a:prstGeom>
          <a:noFill/>
          <a:ln/>
        </p:spPr>
        <p:txBody>
          <a:bodyPr wrap="square" lIns="0" tIns="0" rIns="0" bIns="0" rtlCol="0" anchor="ctr"/>
          <a:lstStyle/>
          <a:p>
            <a:pPr algn="l">
              <a:lnSpc>
                <a:spcPct val="120000"/>
              </a:lnSpc>
            </a:pPr>
            <a:r>
              <a:rPr lang="en-US" sz="2000" b="1" dirty="0">
                <a:solidFill>
                  <a:srgbClr val="FFC107"/>
                </a:solidFill>
                <a:latin typeface="Times New Roman" panose="02020603050405020304" pitchFamily="18" charset="0"/>
                <a:ea typeface="Liter" pitchFamily="34" charset="-122"/>
                <a:cs typeface="Times New Roman" panose="02020603050405020304" pitchFamily="18" charset="0"/>
              </a:rPr>
              <a:t>AI-інтеграція</a:t>
            </a:r>
            <a:endParaRPr lang="en-US" sz="2000" dirty="0"/>
          </a:p>
        </p:txBody>
      </p:sp>
      <p:sp>
        <p:nvSpPr>
          <p:cNvPr id="14" name="Text 12"/>
          <p:cNvSpPr/>
          <p:nvPr/>
        </p:nvSpPr>
        <p:spPr>
          <a:xfrm>
            <a:off x="6159500" y="6096000"/>
            <a:ext cx="3937000" cy="2159000"/>
          </a:xfrm>
          <a:prstGeom prst="rect">
            <a:avLst/>
          </a:prstGeom>
          <a:noFill/>
          <a:ln/>
        </p:spPr>
        <p:txBody>
          <a:bodyPr wrap="square" lIns="0" tIns="0" rIns="0" bIns="0" rtlCol="0" anchor="t"/>
          <a:lstStyle/>
          <a:p>
            <a:pPr algn="l">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Інтеграція з генеративною моделлю ШІ для аналізу тренувань та персоналізованих рекомендацій.</a:t>
            </a:r>
            <a:endParaRPr lang="en-US" sz="1800" dirty="0"/>
          </a:p>
        </p:txBody>
      </p:sp>
      <p:sp>
        <p:nvSpPr>
          <p:cNvPr id="15" name="Shape 13"/>
          <p:cNvSpPr/>
          <p:nvPr/>
        </p:nvSpPr>
        <p:spPr>
          <a:xfrm>
            <a:off x="10795000" y="5207000"/>
            <a:ext cx="4445000" cy="3302000"/>
          </a:xfrm>
          <a:prstGeom prst="roundRect">
            <a:avLst>
              <a:gd name="adj" fmla="val 12000"/>
            </a:avLst>
          </a:prstGeom>
          <a:solidFill>
            <a:srgbClr val="FDFDFB"/>
          </a:solidFill>
          <a:ln w="12700">
            <a:solidFill>
              <a:srgbClr val="6C7A89"/>
            </a:solidFill>
            <a:prstDash val="solid"/>
          </a:ln>
        </p:spPr>
      </p:sp>
      <p:sp>
        <p:nvSpPr>
          <p:cNvPr id="16" name="Text 14"/>
          <p:cNvSpPr/>
          <p:nvPr/>
        </p:nvSpPr>
        <p:spPr>
          <a:xfrm>
            <a:off x="11049000" y="5461000"/>
            <a:ext cx="762000" cy="508000"/>
          </a:xfrm>
          <a:prstGeom prst="rect">
            <a:avLst/>
          </a:prstGeom>
          <a:noFill/>
          <a:ln/>
        </p:spPr>
        <p:txBody>
          <a:bodyPr wrap="square" lIns="0" tIns="0" rIns="0" bIns="0" rtlCol="0" anchor="ctr"/>
          <a:lstStyle/>
          <a:p>
            <a:pPr algn="ctr">
              <a:lnSpc>
                <a:spcPct val="120000"/>
              </a:lnSpc>
            </a:pPr>
            <a:r>
              <a:rPr lang="en-US" sz="3200" dirty="0">
                <a:solidFill>
                  <a:srgbClr val="6C7A89"/>
                </a:solidFill>
                <a:latin typeface="Times New Roman" panose="02020603050405020304" pitchFamily="18" charset="0"/>
                <a:ea typeface="Liter" pitchFamily="34" charset="-122"/>
                <a:cs typeface="Times New Roman" panose="02020603050405020304" pitchFamily="18" charset="0"/>
              </a:rPr>
              <a:t>03</a:t>
            </a:r>
            <a:endParaRPr lang="en-US" sz="3200" dirty="0"/>
          </a:p>
        </p:txBody>
      </p:sp>
      <p:sp>
        <p:nvSpPr>
          <p:cNvPr id="17" name="Text 15"/>
          <p:cNvSpPr/>
          <p:nvPr/>
        </p:nvSpPr>
        <p:spPr>
          <a:xfrm>
            <a:off x="11938000" y="5461000"/>
            <a:ext cx="3048000" cy="508000"/>
          </a:xfrm>
          <a:prstGeom prst="rect">
            <a:avLst/>
          </a:prstGeom>
          <a:noFill/>
          <a:ln/>
        </p:spPr>
        <p:txBody>
          <a:bodyPr wrap="square" lIns="0" tIns="0" rIns="0" bIns="0" rtlCol="0" anchor="ctr"/>
          <a:lstStyle/>
          <a:p>
            <a:pPr algn="l">
              <a:lnSpc>
                <a:spcPct val="120000"/>
              </a:lnSpc>
            </a:pPr>
            <a:r>
              <a:rPr lang="en-US" sz="2000" b="1" dirty="0">
                <a:solidFill>
                  <a:srgbClr val="6C7A89"/>
                </a:solidFill>
                <a:latin typeface="Times New Roman" panose="02020603050405020304" pitchFamily="18" charset="0"/>
                <a:ea typeface="Liter" pitchFamily="34" charset="-122"/>
                <a:cs typeface="Times New Roman" panose="02020603050405020304" pitchFamily="18" charset="0"/>
              </a:rPr>
              <a:t>ExerciseDB API</a:t>
            </a:r>
            <a:endParaRPr lang="en-US" sz="2000" dirty="0"/>
          </a:p>
        </p:txBody>
      </p:sp>
      <p:sp>
        <p:nvSpPr>
          <p:cNvPr id="18" name="Text 16"/>
          <p:cNvSpPr/>
          <p:nvPr/>
        </p:nvSpPr>
        <p:spPr>
          <a:xfrm>
            <a:off x="11049000" y="6096000"/>
            <a:ext cx="3937000" cy="2159000"/>
          </a:xfrm>
          <a:prstGeom prst="rect">
            <a:avLst/>
          </a:prstGeom>
          <a:noFill/>
          <a:ln/>
        </p:spPr>
        <p:txBody>
          <a:bodyPr wrap="square" lIns="0" tIns="0" rIns="0" bIns="0" rtlCol="0" anchor="t"/>
          <a:lstStyle/>
          <a:p>
            <a:pPr algn="l">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Підключення до зовнішньої бази вправ через API для отримання актуальної інформації.</a:t>
            </a:r>
            <a:endParaRPr lang="en-US" sz="18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1016000" y="635000"/>
            <a:ext cx="7620000" cy="635000"/>
          </a:xfrm>
          <a:prstGeom prst="rect">
            <a:avLst/>
          </a:prstGeom>
          <a:noFill/>
          <a:ln/>
        </p:spPr>
        <p:txBody>
          <a:bodyPr wrap="square" lIns="0" tIns="0" rIns="0" bIns="0" rtlCol="0" anchor="t"/>
          <a:lstStyle/>
          <a:p>
            <a:pPr>
              <a:lnSpc>
                <a:spcPct val="120000"/>
              </a:lnSpc>
            </a:pPr>
            <a:r>
              <a:rPr lang="en-US" sz="3600" b="1" dirty="0" err="1">
                <a:solidFill>
                  <a:srgbClr val="3C4A5A"/>
                </a:solidFill>
                <a:latin typeface="Times New Roman" panose="02020603050405020304" pitchFamily="18" charset="0"/>
                <a:ea typeface="Liter"/>
                <a:cs typeface="Times New Roman" panose="02020603050405020304" pitchFamily="18" charset="0"/>
              </a:rPr>
              <a:t>Аналіз</a:t>
            </a:r>
            <a:r>
              <a:rPr lang="en-US" sz="3600" b="1" dirty="0">
                <a:solidFill>
                  <a:srgbClr val="3C4A5A"/>
                </a:solidFill>
                <a:latin typeface="Times New Roman" panose="02020603050405020304" pitchFamily="18" charset="0"/>
                <a:ea typeface="Liter"/>
                <a:cs typeface="Times New Roman" panose="02020603050405020304" pitchFamily="18" charset="0"/>
              </a:rPr>
              <a:t> </a:t>
            </a:r>
            <a:r>
              <a:rPr lang="en-US" sz="3600" b="1" dirty="0" err="1">
                <a:solidFill>
                  <a:srgbClr val="3C4A5A"/>
                </a:solidFill>
                <a:latin typeface="Times New Roman" panose="02020603050405020304" pitchFamily="18" charset="0"/>
                <a:ea typeface="Liter"/>
                <a:cs typeface="Times New Roman" panose="02020603050405020304" pitchFamily="18" charset="0"/>
              </a:rPr>
              <a:t>предметної</a:t>
            </a:r>
            <a:r>
              <a:rPr lang="en-US" sz="3600" b="1" dirty="0">
                <a:solidFill>
                  <a:srgbClr val="3C4A5A"/>
                </a:solidFill>
                <a:latin typeface="Times New Roman" panose="02020603050405020304" pitchFamily="18" charset="0"/>
                <a:ea typeface="Liter"/>
                <a:cs typeface="Times New Roman" panose="02020603050405020304" pitchFamily="18" charset="0"/>
              </a:rPr>
              <a:t> </a:t>
            </a:r>
            <a:r>
              <a:rPr lang="en-US" sz="3600" b="1" dirty="0" err="1">
                <a:solidFill>
                  <a:srgbClr val="3C4A5A"/>
                </a:solidFill>
                <a:latin typeface="Times New Roman" panose="02020603050405020304" pitchFamily="18" charset="0"/>
                <a:ea typeface="Liter"/>
                <a:cs typeface="Times New Roman" panose="02020603050405020304" pitchFamily="18" charset="0"/>
              </a:rPr>
              <a:t>галузі</a:t>
            </a:r>
            <a:endParaRPr lang="en-US" sz="3600" dirty="0">
              <a:latin typeface="Times New Roman" panose="02020603050405020304" pitchFamily="18" charset="0"/>
              <a:ea typeface="Liter"/>
            </a:endParaRPr>
          </a:p>
        </p:txBody>
      </p:sp>
      <p:sp>
        <p:nvSpPr>
          <p:cNvPr id="3" name="Shape 1"/>
          <p:cNvSpPr/>
          <p:nvPr/>
        </p:nvSpPr>
        <p:spPr>
          <a:xfrm>
            <a:off x="1016000" y="1807307"/>
            <a:ext cx="14224000" cy="5969000"/>
          </a:xfrm>
          <a:prstGeom prst="roundRect">
            <a:avLst>
              <a:gd name="adj" fmla="val 12000"/>
            </a:avLst>
          </a:prstGeom>
          <a:solidFill>
            <a:srgbClr val="FFFFFF"/>
          </a:solidFill>
          <a:ln/>
          <a:effectLst>
            <a:outerShdw blurRad="101600" dist="25400" dir="5400000" algn="bl" rotWithShape="0">
              <a:srgbClr val="000000">
                <a:alpha val="2353"/>
              </a:srgbClr>
            </a:outerShdw>
          </a:effectLst>
        </p:spPr>
        <p:txBody>
          <a:bodyPr/>
          <a:lstStyle/>
          <a:p>
            <a:endParaRPr lang="uk-UA" dirty="0"/>
          </a:p>
        </p:txBody>
      </p:sp>
      <p:sp>
        <p:nvSpPr>
          <p:cNvPr id="6" name="Text 4"/>
          <p:cNvSpPr/>
          <p:nvPr/>
        </p:nvSpPr>
        <p:spPr>
          <a:xfrm>
            <a:off x="1524000" y="2568330"/>
            <a:ext cx="13208000" cy="4446954"/>
          </a:xfrm>
          <a:prstGeom prst="rect">
            <a:avLst/>
          </a:prstGeom>
          <a:noFill/>
          <a:ln/>
        </p:spPr>
        <p:txBody>
          <a:bodyPr wrap="square" lIns="0" tIns="0" rIns="0" bIns="0" rtlCol="0" anchor="t"/>
          <a:lstStyle/>
          <a:p>
            <a:pPr>
              <a:lnSpc>
                <a:spcPct val="160000"/>
              </a:lnSpc>
            </a:pPr>
            <a:r>
              <a:rPr lang="uk-UA" sz="2200" dirty="0">
                <a:solidFill>
                  <a:srgbClr val="333333"/>
                </a:solidFill>
                <a:latin typeface="Times New Roman" panose="02020603050405020304" pitchFamily="18" charset="0"/>
                <a:ea typeface="Liter" pitchFamily="34" charset="-122"/>
                <a:cs typeface="Times New Roman" panose="02020603050405020304" pitchFamily="18" charset="0"/>
              </a:rPr>
              <a:t>Актуальність теми зумовлена стрімким зростанням інтересу до здорового способу життя та самостійних тренувань. Проте, однією з головних проблем сучасних фітнес-застосунків є високий поріг входження для новачків. Користувачі часто не розуміють біомеханіку рухів та не знають, які саме групи м'язів задіяні під час виконання конкретної вправи. Існуючі комерційні рішення зазвичай пропонують перевантажені текстові списки або складні таблиці, що значно ускладнює навігацію. Отже, виникає гостра потреба у </a:t>
            </a:r>
            <a:r>
              <a:rPr lang="uk-UA" sz="2200" dirty="0" err="1">
                <a:solidFill>
                  <a:srgbClr val="333333"/>
                </a:solidFill>
                <a:latin typeface="Times New Roman" panose="02020603050405020304" pitchFamily="18" charset="0"/>
                <a:ea typeface="Liter" pitchFamily="34" charset="-122"/>
                <a:cs typeface="Times New Roman" panose="02020603050405020304" pitchFamily="18" charset="0"/>
              </a:rPr>
              <a:t>проєктуванні</a:t>
            </a:r>
            <a:r>
              <a:rPr lang="uk-UA" sz="2200" dirty="0">
                <a:solidFill>
                  <a:srgbClr val="333333"/>
                </a:solidFill>
                <a:latin typeface="Times New Roman" panose="02020603050405020304" pitchFamily="18" charset="0"/>
                <a:ea typeface="Liter" pitchFamily="34" charset="-122"/>
                <a:cs typeface="Times New Roman" panose="02020603050405020304" pitchFamily="18" charset="0"/>
              </a:rPr>
              <a:t> інтуїтивно зрозумілих інтерфейсів (наприклад, з використанням інтерактивних візуалізацій анатомії людини), які дозволять користувачам легко орієнтуватися у тренувальному процесі, незалежно від їхнього попереднього досвіду</a:t>
            </a:r>
            <a:r>
              <a:rPr lang="en-US" sz="2200" dirty="0">
                <a:solidFill>
                  <a:srgbClr val="333333"/>
                </a:solidFill>
                <a:latin typeface="Times New Roman" panose="02020603050405020304" pitchFamily="18" charset="0"/>
                <a:ea typeface="Liter" pitchFamily="34" charset="-122"/>
                <a:cs typeface="Times New Roman" panose="02020603050405020304" pitchFamily="18" charset="0"/>
              </a:rPr>
              <a:t>.</a:t>
            </a:r>
            <a:endParaRPr lang="en-US" sz="2200" dirty="0"/>
          </a:p>
        </p:txBody>
      </p:sp>
    </p:spTree>
    <p:extLst>
      <p:ext uri="{BB962C8B-B14F-4D97-AF65-F5344CB8AC3E}">
        <p14:creationId xmlns:p14="http://schemas.microsoft.com/office/powerpoint/2010/main" val="139832888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1016000" y="635000"/>
            <a:ext cx="11430000" cy="635000"/>
          </a:xfrm>
          <a:prstGeom prst="rect">
            <a:avLst/>
          </a:prstGeom>
          <a:noFill/>
          <a:ln/>
        </p:spPr>
        <p:txBody>
          <a:bodyPr wrap="square" lIns="0" tIns="0" rIns="0" bIns="0" rtlCol="0" anchor="t"/>
          <a:lstStyle/>
          <a:p>
            <a:pPr>
              <a:lnSpc>
                <a:spcPct val="120000"/>
              </a:lnSpc>
            </a:pPr>
            <a:r>
              <a:rPr lang="en-US" sz="3600" b="1" dirty="0">
                <a:solidFill>
                  <a:srgbClr val="3C4A5A"/>
                </a:solidFill>
                <a:latin typeface="Times New Roman" panose="02020603050405020304" pitchFamily="18" charset="0"/>
                <a:ea typeface="Liter"/>
                <a:cs typeface="Times New Roman" panose="02020603050405020304" pitchFamily="18" charset="0"/>
              </a:rPr>
              <a:t>Проблеми </a:t>
            </a:r>
            <a:r>
              <a:rPr lang="en-US" sz="3600" b="1" dirty="0" err="1">
                <a:solidFill>
                  <a:srgbClr val="3C4A5A"/>
                </a:solidFill>
                <a:latin typeface="Times New Roman" panose="02020603050405020304" pitchFamily="18" charset="0"/>
                <a:ea typeface="Liter"/>
                <a:cs typeface="Times New Roman" panose="02020603050405020304" pitchFamily="18" charset="0"/>
              </a:rPr>
              <a:t>існуючих</a:t>
            </a:r>
            <a:r>
              <a:rPr lang="en-US" sz="3600" b="1" dirty="0">
                <a:solidFill>
                  <a:srgbClr val="3C4A5A"/>
                </a:solidFill>
                <a:latin typeface="Times New Roman" panose="02020603050405020304" pitchFamily="18" charset="0"/>
                <a:ea typeface="Liter"/>
                <a:cs typeface="Times New Roman" panose="02020603050405020304" pitchFamily="18" charset="0"/>
              </a:rPr>
              <a:t> </a:t>
            </a:r>
            <a:r>
              <a:rPr lang="en-US" sz="3600" b="1" dirty="0" err="1">
                <a:solidFill>
                  <a:srgbClr val="3C4A5A"/>
                </a:solidFill>
                <a:latin typeface="Times New Roman" panose="02020603050405020304" pitchFamily="18" charset="0"/>
                <a:ea typeface="Liter"/>
                <a:cs typeface="Times New Roman" panose="02020603050405020304" pitchFamily="18" charset="0"/>
              </a:rPr>
              <a:t>фітнес-застосунків</a:t>
            </a:r>
            <a:endParaRPr lang="en-US" sz="3600" b="1" dirty="0">
              <a:solidFill>
                <a:srgbClr val="3C4A5A"/>
              </a:solidFill>
              <a:latin typeface="Times New Roman" panose="02020603050405020304" pitchFamily="18" charset="0"/>
              <a:ea typeface="Liter"/>
              <a:cs typeface="Times New Roman" panose="02020603050405020304" pitchFamily="18" charset="0"/>
            </a:endParaRPr>
          </a:p>
        </p:txBody>
      </p:sp>
      <p:sp>
        <p:nvSpPr>
          <p:cNvPr id="3" name="Shape 1"/>
          <p:cNvSpPr/>
          <p:nvPr/>
        </p:nvSpPr>
        <p:spPr>
          <a:xfrm>
            <a:off x="1016000" y="1651000"/>
            <a:ext cx="6858000" cy="3048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4" name="Shape 2"/>
          <p:cNvSpPr/>
          <p:nvPr/>
        </p:nvSpPr>
        <p:spPr>
          <a:xfrm>
            <a:off x="1524000" y="2095500"/>
            <a:ext cx="508000" cy="508000"/>
          </a:xfrm>
          <a:custGeom>
            <a:avLst/>
            <a:gdLst/>
            <a:ahLst/>
            <a:cxnLst/>
            <a:rect l="l" t="t" r="r" b="b"/>
            <a:pathLst>
              <a:path w="508000" h="508000">
                <a:moveTo>
                  <a:pt x="254000" y="0"/>
                </a:moveTo>
                <a:cubicBezTo>
                  <a:pt x="268585" y="0"/>
                  <a:pt x="281980" y="8037"/>
                  <a:pt x="288925" y="20836"/>
                </a:cubicBezTo>
                <a:lnTo>
                  <a:pt x="503238" y="417711"/>
                </a:lnTo>
                <a:cubicBezTo>
                  <a:pt x="509885" y="430014"/>
                  <a:pt x="509588" y="444897"/>
                  <a:pt x="502444" y="456902"/>
                </a:cubicBezTo>
                <a:cubicBezTo>
                  <a:pt x="495300" y="468908"/>
                  <a:pt x="482302" y="476250"/>
                  <a:pt x="468313" y="476250"/>
                </a:cubicBezTo>
                <a:lnTo>
                  <a:pt x="39688" y="476250"/>
                </a:lnTo>
                <a:cubicBezTo>
                  <a:pt x="25698" y="476250"/>
                  <a:pt x="12799" y="468908"/>
                  <a:pt x="5556" y="456902"/>
                </a:cubicBezTo>
                <a:cubicBezTo>
                  <a:pt x="-1687" y="444897"/>
                  <a:pt x="-1885" y="430014"/>
                  <a:pt x="4763" y="417711"/>
                </a:cubicBezTo>
                <a:lnTo>
                  <a:pt x="219075" y="20836"/>
                </a:lnTo>
                <a:cubicBezTo>
                  <a:pt x="226020" y="8037"/>
                  <a:pt x="239415" y="0"/>
                  <a:pt x="254000" y="0"/>
                </a:cubicBezTo>
                <a:close/>
                <a:moveTo>
                  <a:pt x="254000" y="166688"/>
                </a:moveTo>
                <a:cubicBezTo>
                  <a:pt x="240804" y="166688"/>
                  <a:pt x="230188" y="177304"/>
                  <a:pt x="230188" y="190500"/>
                </a:cubicBezTo>
                <a:lnTo>
                  <a:pt x="230188" y="301625"/>
                </a:lnTo>
                <a:cubicBezTo>
                  <a:pt x="230188" y="314821"/>
                  <a:pt x="240804" y="325438"/>
                  <a:pt x="254000" y="325438"/>
                </a:cubicBezTo>
                <a:cubicBezTo>
                  <a:pt x="267196" y="325438"/>
                  <a:pt x="277813" y="314821"/>
                  <a:pt x="277813" y="301625"/>
                </a:cubicBezTo>
                <a:lnTo>
                  <a:pt x="277813" y="190500"/>
                </a:lnTo>
                <a:cubicBezTo>
                  <a:pt x="277813" y="177304"/>
                  <a:pt x="267196" y="166688"/>
                  <a:pt x="254000" y="166688"/>
                </a:cubicBezTo>
                <a:close/>
                <a:moveTo>
                  <a:pt x="280491" y="381000"/>
                </a:moveTo>
                <a:cubicBezTo>
                  <a:pt x="281094" y="371167"/>
                  <a:pt x="276190" y="361811"/>
                  <a:pt x="267761" y="356712"/>
                </a:cubicBezTo>
                <a:cubicBezTo>
                  <a:pt x="259331" y="351613"/>
                  <a:pt x="248768" y="351613"/>
                  <a:pt x="240339" y="356712"/>
                </a:cubicBezTo>
                <a:cubicBezTo>
                  <a:pt x="231909" y="361811"/>
                  <a:pt x="227005" y="371167"/>
                  <a:pt x="227608" y="381000"/>
                </a:cubicBezTo>
                <a:cubicBezTo>
                  <a:pt x="227005" y="390833"/>
                  <a:pt x="231909" y="400189"/>
                  <a:pt x="240339" y="405288"/>
                </a:cubicBezTo>
                <a:cubicBezTo>
                  <a:pt x="248768" y="410387"/>
                  <a:pt x="259331" y="410387"/>
                  <a:pt x="267761" y="405288"/>
                </a:cubicBezTo>
                <a:cubicBezTo>
                  <a:pt x="276190" y="400189"/>
                  <a:pt x="281094" y="390833"/>
                  <a:pt x="280491" y="381000"/>
                </a:cubicBezTo>
                <a:close/>
              </a:path>
            </a:pathLst>
          </a:custGeom>
          <a:solidFill>
            <a:srgbClr val="E74C3C"/>
          </a:solidFill>
          <a:ln/>
        </p:spPr>
      </p:sp>
      <p:sp>
        <p:nvSpPr>
          <p:cNvPr id="5" name="Text 3"/>
          <p:cNvSpPr/>
          <p:nvPr/>
        </p:nvSpPr>
        <p:spPr>
          <a:xfrm>
            <a:off x="2286000" y="2095500"/>
            <a:ext cx="5080000" cy="508000"/>
          </a:xfrm>
          <a:prstGeom prst="rect">
            <a:avLst/>
          </a:prstGeom>
          <a:noFill/>
          <a:ln/>
        </p:spPr>
        <p:txBody>
          <a:bodyPr wrap="square" lIns="0" tIns="0" rIns="0" bIns="0" rtlCol="0" anchor="ctr"/>
          <a:lstStyle/>
          <a:p>
            <a:pPr algn="l">
              <a:lnSpc>
                <a:spcPct val="120000"/>
              </a:lnSpc>
            </a:pPr>
            <a:r>
              <a:rPr lang="en-US" sz="2400" dirty="0">
                <a:solidFill>
                  <a:srgbClr val="E74C3C"/>
                </a:solidFill>
                <a:latin typeface="Times New Roman" panose="02020603050405020304" pitchFamily="18" charset="0"/>
                <a:ea typeface="Liter" pitchFamily="34" charset="-122"/>
                <a:cs typeface="Times New Roman" panose="02020603050405020304" pitchFamily="18" charset="0"/>
              </a:rPr>
              <a:t>Високий поріг входження</a:t>
            </a:r>
            <a:endParaRPr lang="en-US" sz="2400" dirty="0"/>
          </a:p>
        </p:txBody>
      </p:sp>
      <p:sp>
        <p:nvSpPr>
          <p:cNvPr id="6" name="Text 4"/>
          <p:cNvSpPr/>
          <p:nvPr/>
        </p:nvSpPr>
        <p:spPr>
          <a:xfrm>
            <a:off x="1524000" y="2794000"/>
            <a:ext cx="5969000" cy="1651000"/>
          </a:xfrm>
          <a:prstGeom prst="rect">
            <a:avLst/>
          </a:prstGeom>
          <a:noFill/>
          <a:ln/>
        </p:spPr>
        <p:txBody>
          <a:bodyPr wrap="square" lIns="0" tIns="0" rIns="0" bIns="0" rtlCol="0" anchor="t"/>
          <a:lstStyle/>
          <a:p>
            <a:pPr algn="l">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Новачкам важко орієнтуватися у складних текстових таблицях та списках вправ. Інтерфейс не є дружнім до початківців.</a:t>
            </a:r>
            <a:endParaRPr lang="en-US" sz="1800" dirty="0"/>
          </a:p>
        </p:txBody>
      </p:sp>
      <p:sp>
        <p:nvSpPr>
          <p:cNvPr id="7" name="Shape 5"/>
          <p:cNvSpPr/>
          <p:nvPr/>
        </p:nvSpPr>
        <p:spPr>
          <a:xfrm>
            <a:off x="8382000" y="1651000"/>
            <a:ext cx="6858000" cy="3048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8" name="Shape 6"/>
          <p:cNvSpPr/>
          <p:nvPr/>
        </p:nvSpPr>
        <p:spPr>
          <a:xfrm>
            <a:off x="8890000" y="2095500"/>
            <a:ext cx="508000" cy="508000"/>
          </a:xfrm>
          <a:custGeom>
            <a:avLst/>
            <a:gdLst/>
            <a:ahLst/>
            <a:cxnLst/>
            <a:rect l="l" t="t" r="r" b="b"/>
            <a:pathLst>
              <a:path w="508000" h="508000">
                <a:moveTo>
                  <a:pt x="36160" y="-24805"/>
                </a:moveTo>
                <a:cubicBezTo>
                  <a:pt x="27869" y="-34032"/>
                  <a:pt x="14464" y="-34032"/>
                  <a:pt x="6174" y="-24805"/>
                </a:cubicBezTo>
                <a:cubicBezTo>
                  <a:pt x="-2117" y="-15577"/>
                  <a:pt x="-2028" y="-397"/>
                  <a:pt x="6174" y="8930"/>
                </a:cubicBezTo>
                <a:lnTo>
                  <a:pt x="471840" y="532805"/>
                </a:lnTo>
                <a:cubicBezTo>
                  <a:pt x="480131" y="542131"/>
                  <a:pt x="493536" y="542131"/>
                  <a:pt x="501738" y="532805"/>
                </a:cubicBezTo>
                <a:cubicBezTo>
                  <a:pt x="509940" y="523478"/>
                  <a:pt x="510028" y="508397"/>
                  <a:pt x="501738" y="499170"/>
                </a:cubicBezTo>
                <a:lnTo>
                  <a:pt x="416542" y="403324"/>
                </a:lnTo>
                <a:cubicBezTo>
                  <a:pt x="455701" y="360462"/>
                  <a:pt x="479690" y="302320"/>
                  <a:pt x="479690" y="238125"/>
                </a:cubicBezTo>
                <a:cubicBezTo>
                  <a:pt x="479690" y="106660"/>
                  <a:pt x="378619" y="0"/>
                  <a:pt x="253912" y="0"/>
                </a:cubicBezTo>
                <a:cubicBezTo>
                  <a:pt x="198349" y="0"/>
                  <a:pt x="147373" y="21233"/>
                  <a:pt x="108038" y="56356"/>
                </a:cubicBezTo>
                <a:lnTo>
                  <a:pt x="36160" y="-24805"/>
                </a:lnTo>
                <a:close/>
                <a:moveTo>
                  <a:pt x="53269" y="128984"/>
                </a:moveTo>
                <a:cubicBezTo>
                  <a:pt x="37218" y="161727"/>
                  <a:pt x="28222" y="198735"/>
                  <a:pt x="28222" y="238026"/>
                </a:cubicBezTo>
                <a:cubicBezTo>
                  <a:pt x="28222" y="291902"/>
                  <a:pt x="45156" y="341511"/>
                  <a:pt x="73731" y="381397"/>
                </a:cubicBezTo>
                <a:lnTo>
                  <a:pt x="30692" y="472976"/>
                </a:lnTo>
                <a:cubicBezTo>
                  <a:pt x="26458" y="481905"/>
                  <a:pt x="27781" y="492820"/>
                  <a:pt x="33867" y="500261"/>
                </a:cubicBezTo>
                <a:cubicBezTo>
                  <a:pt x="39952" y="507702"/>
                  <a:pt x="49477" y="509984"/>
                  <a:pt x="57767" y="506016"/>
                </a:cubicBezTo>
                <a:lnTo>
                  <a:pt x="162190" y="455712"/>
                </a:lnTo>
                <a:cubicBezTo>
                  <a:pt x="190235" y="468908"/>
                  <a:pt x="221368" y="476250"/>
                  <a:pt x="254000" y="476250"/>
                </a:cubicBezTo>
                <a:cubicBezTo>
                  <a:pt x="286103" y="476250"/>
                  <a:pt x="316530" y="469205"/>
                  <a:pt x="344223" y="456505"/>
                </a:cubicBezTo>
                <a:lnTo>
                  <a:pt x="53181" y="129084"/>
                </a:lnTo>
                <a:close/>
              </a:path>
            </a:pathLst>
          </a:custGeom>
          <a:solidFill>
            <a:srgbClr val="FFC107"/>
          </a:solidFill>
          <a:ln/>
        </p:spPr>
      </p:sp>
      <p:sp>
        <p:nvSpPr>
          <p:cNvPr id="9" name="Text 7"/>
          <p:cNvSpPr/>
          <p:nvPr/>
        </p:nvSpPr>
        <p:spPr>
          <a:xfrm>
            <a:off x="9652000" y="2095500"/>
            <a:ext cx="5080000" cy="508000"/>
          </a:xfrm>
          <a:prstGeom prst="rect">
            <a:avLst/>
          </a:prstGeom>
          <a:noFill/>
          <a:ln/>
        </p:spPr>
        <p:txBody>
          <a:bodyPr wrap="square" lIns="0" tIns="0" rIns="0" bIns="0" rtlCol="0" anchor="ctr"/>
          <a:lstStyle/>
          <a:p>
            <a:pPr algn="l">
              <a:lnSpc>
                <a:spcPct val="120000"/>
              </a:lnSpc>
            </a:pPr>
            <a:r>
              <a:rPr lang="en-US" sz="2400" dirty="0">
                <a:solidFill>
                  <a:srgbClr val="FFC107"/>
                </a:solidFill>
                <a:latin typeface="Times New Roman" panose="02020603050405020304" pitchFamily="18" charset="0"/>
                <a:ea typeface="Liter" pitchFamily="34" charset="-122"/>
                <a:cs typeface="Times New Roman" panose="02020603050405020304" pitchFamily="18" charset="0"/>
              </a:rPr>
              <a:t>Брак зворотного зв'язку</a:t>
            </a:r>
            <a:endParaRPr lang="en-US" sz="2400" dirty="0"/>
          </a:p>
        </p:txBody>
      </p:sp>
      <p:sp>
        <p:nvSpPr>
          <p:cNvPr id="10" name="Text 8"/>
          <p:cNvSpPr/>
          <p:nvPr/>
        </p:nvSpPr>
        <p:spPr>
          <a:xfrm>
            <a:off x="8890000" y="2794000"/>
            <a:ext cx="5969000" cy="1651000"/>
          </a:xfrm>
          <a:prstGeom prst="rect">
            <a:avLst/>
          </a:prstGeom>
          <a:noFill/>
          <a:ln/>
        </p:spPr>
        <p:txBody>
          <a:bodyPr wrap="square" lIns="0" tIns="0" rIns="0" bIns="0" rtlCol="0" anchor="t"/>
          <a:lstStyle/>
          <a:p>
            <a:pPr algn="l">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Більшість додатків є просто довідниками, які не попереджають про ризики травмування при певних хворобах.</a:t>
            </a:r>
            <a:endParaRPr lang="en-US" sz="1800" dirty="0"/>
          </a:p>
        </p:txBody>
      </p:sp>
      <p:sp>
        <p:nvSpPr>
          <p:cNvPr id="11" name="Shape 9"/>
          <p:cNvSpPr/>
          <p:nvPr/>
        </p:nvSpPr>
        <p:spPr>
          <a:xfrm>
            <a:off x="1016000" y="5080000"/>
            <a:ext cx="14224000" cy="3556000"/>
          </a:xfrm>
          <a:prstGeom prst="roundRect">
            <a:avLst>
              <a:gd name="adj" fmla="val 12000"/>
            </a:avLst>
          </a:prstGeom>
          <a:gradFill flip="none" rotWithShape="1">
            <a:gsLst>
              <a:gs pos="0">
                <a:srgbClr val="0A6B70"/>
              </a:gs>
              <a:gs pos="100000">
                <a:srgbClr val="0A8B91"/>
              </a:gs>
            </a:gsLst>
            <a:lin ang="8100000" scaled="1"/>
          </a:gradFill>
          <a:ln/>
          <a:effectLst>
            <a:outerShdw blurRad="152400" dist="50800" dir="5400000" algn="bl" rotWithShape="0">
              <a:srgbClr val="0A6B70">
                <a:alpha val="12549"/>
              </a:srgbClr>
            </a:outerShdw>
          </a:effectLst>
        </p:spPr>
      </p:sp>
      <p:sp>
        <p:nvSpPr>
          <p:cNvPr id="12" name="Shape 10"/>
          <p:cNvSpPr/>
          <p:nvPr/>
        </p:nvSpPr>
        <p:spPr>
          <a:xfrm>
            <a:off x="1524000" y="5461000"/>
            <a:ext cx="508000" cy="508000"/>
          </a:xfrm>
          <a:custGeom>
            <a:avLst/>
            <a:gdLst/>
            <a:ahLst/>
            <a:cxnLst/>
            <a:rect l="l" t="t" r="r" b="b"/>
            <a:pathLst>
              <a:path w="508000" h="508000">
                <a:moveTo>
                  <a:pt x="387482" y="381000"/>
                </a:moveTo>
                <a:cubicBezTo>
                  <a:pt x="397140" y="358874"/>
                  <a:pt x="416454" y="338832"/>
                  <a:pt x="438282" y="321568"/>
                </a:cubicBezTo>
                <a:cubicBezTo>
                  <a:pt x="481542" y="287437"/>
                  <a:pt x="508000" y="241300"/>
                  <a:pt x="508000" y="190500"/>
                </a:cubicBezTo>
                <a:cubicBezTo>
                  <a:pt x="508000" y="85328"/>
                  <a:pt x="394229" y="0"/>
                  <a:pt x="254000" y="0"/>
                </a:cubicBezTo>
                <a:cubicBezTo>
                  <a:pt x="113771" y="0"/>
                  <a:pt x="0" y="85328"/>
                  <a:pt x="0" y="190500"/>
                </a:cubicBezTo>
                <a:cubicBezTo>
                  <a:pt x="0" y="241300"/>
                  <a:pt x="26458" y="287437"/>
                  <a:pt x="69718" y="321568"/>
                </a:cubicBezTo>
                <a:cubicBezTo>
                  <a:pt x="91546" y="338832"/>
                  <a:pt x="110993" y="358874"/>
                  <a:pt x="120518" y="381000"/>
                </a:cubicBezTo>
                <a:lnTo>
                  <a:pt x="387350" y="381000"/>
                </a:lnTo>
                <a:close/>
                <a:moveTo>
                  <a:pt x="381000" y="428625"/>
                </a:moveTo>
                <a:lnTo>
                  <a:pt x="127000" y="428625"/>
                </a:lnTo>
                <a:lnTo>
                  <a:pt x="127000" y="444500"/>
                </a:lnTo>
                <a:cubicBezTo>
                  <a:pt x="127000" y="488355"/>
                  <a:pt x="174360" y="523875"/>
                  <a:pt x="232833" y="523875"/>
                </a:cubicBezTo>
                <a:lnTo>
                  <a:pt x="275167" y="523875"/>
                </a:lnTo>
                <a:cubicBezTo>
                  <a:pt x="333640" y="523875"/>
                  <a:pt x="381000" y="488355"/>
                  <a:pt x="381000" y="444500"/>
                </a:cubicBezTo>
                <a:lnTo>
                  <a:pt x="381000" y="428625"/>
                </a:lnTo>
                <a:close/>
                <a:moveTo>
                  <a:pt x="243417" y="111125"/>
                </a:moveTo>
                <a:cubicBezTo>
                  <a:pt x="190765" y="111125"/>
                  <a:pt x="148167" y="143073"/>
                  <a:pt x="148167" y="182563"/>
                </a:cubicBezTo>
                <a:cubicBezTo>
                  <a:pt x="148167" y="195759"/>
                  <a:pt x="134011" y="206375"/>
                  <a:pt x="116417" y="206375"/>
                </a:cubicBezTo>
                <a:cubicBezTo>
                  <a:pt x="98822" y="206375"/>
                  <a:pt x="84667" y="195759"/>
                  <a:pt x="84667" y="182563"/>
                </a:cubicBezTo>
                <a:cubicBezTo>
                  <a:pt x="84667" y="116780"/>
                  <a:pt x="155707" y="63500"/>
                  <a:pt x="243417" y="63500"/>
                </a:cubicBezTo>
                <a:cubicBezTo>
                  <a:pt x="261011" y="63500"/>
                  <a:pt x="275167" y="74116"/>
                  <a:pt x="275167" y="87313"/>
                </a:cubicBezTo>
                <a:cubicBezTo>
                  <a:pt x="275167" y="100509"/>
                  <a:pt x="261011" y="111125"/>
                  <a:pt x="243417" y="111125"/>
                </a:cubicBezTo>
                <a:close/>
              </a:path>
            </a:pathLst>
          </a:custGeom>
          <a:solidFill>
            <a:srgbClr val="FFC107"/>
          </a:solidFill>
          <a:ln/>
        </p:spPr>
      </p:sp>
      <p:sp>
        <p:nvSpPr>
          <p:cNvPr id="13" name="Text 11"/>
          <p:cNvSpPr/>
          <p:nvPr/>
        </p:nvSpPr>
        <p:spPr>
          <a:xfrm>
            <a:off x="2286000" y="5461000"/>
            <a:ext cx="5080000" cy="508000"/>
          </a:xfrm>
          <a:prstGeom prst="rect">
            <a:avLst/>
          </a:prstGeom>
          <a:noFill/>
          <a:ln/>
        </p:spPr>
        <p:txBody>
          <a:bodyPr wrap="square" lIns="0" tIns="0" rIns="0" bIns="0" rtlCol="0" anchor="ctr"/>
          <a:lstStyle/>
          <a:p>
            <a:pPr algn="l">
              <a:lnSpc>
                <a:spcPct val="120000"/>
              </a:lnSpc>
            </a:pPr>
            <a:r>
              <a:rPr lang="en-US" sz="2400" b="1" dirty="0">
                <a:solidFill>
                  <a:srgbClr val="FFFFFF"/>
                </a:solidFill>
                <a:latin typeface="Times New Roman" panose="02020603050405020304" pitchFamily="18" charset="0"/>
                <a:ea typeface="Liter" pitchFamily="34" charset="-122"/>
                <a:cs typeface="Times New Roman" panose="02020603050405020304" pitchFamily="18" charset="0"/>
              </a:rPr>
              <a:t>Рішення: GymAnalysis</a:t>
            </a:r>
            <a:endParaRPr lang="en-US" sz="2400" dirty="0"/>
          </a:p>
        </p:txBody>
      </p:sp>
      <p:sp>
        <p:nvSpPr>
          <p:cNvPr id="14" name="Text 12"/>
          <p:cNvSpPr/>
          <p:nvPr/>
        </p:nvSpPr>
        <p:spPr>
          <a:xfrm>
            <a:off x="1524000" y="6223000"/>
            <a:ext cx="13208000" cy="2159000"/>
          </a:xfrm>
          <a:prstGeom prst="rect">
            <a:avLst/>
          </a:prstGeom>
          <a:noFill/>
          <a:ln/>
        </p:spPr>
        <p:txBody>
          <a:bodyPr wrap="square" lIns="0" tIns="0" rIns="0" bIns="0" rtlCol="0" anchor="t"/>
          <a:lstStyle/>
          <a:p>
            <a:pPr algn="l">
              <a:lnSpc>
                <a:spcPct val="160000"/>
              </a:lnSpc>
            </a:pPr>
            <a:r>
              <a:rPr lang="en-US" sz="2000" dirty="0">
                <a:solidFill>
                  <a:srgbClr val="E0F7FA"/>
                </a:solidFill>
                <a:latin typeface="Times New Roman" panose="02020603050405020304" pitchFamily="18" charset="0"/>
                <a:ea typeface="Liter" pitchFamily="34" charset="-122"/>
                <a:cs typeface="Times New Roman" panose="02020603050405020304" pitchFamily="18" charset="0"/>
              </a:rPr>
              <a:t>Розробка інноваційної платформи з </a:t>
            </a:r>
            <a:r>
              <a:rPr lang="en-US" sz="2000" b="1" dirty="0">
                <a:solidFill>
                  <a:srgbClr val="E0F7FA"/>
                </a:solidFill>
                <a:latin typeface="Times New Roman" panose="02020603050405020304" pitchFamily="18" charset="0"/>
                <a:ea typeface="Liter" pitchFamily="34" charset="-122"/>
                <a:cs typeface="Times New Roman" panose="02020603050405020304" pitchFamily="18" charset="0"/>
              </a:rPr>
              <a:t>візуальною навігацією</a:t>
            </a:r>
            <a:r>
              <a:rPr lang="en-US" sz="2000" dirty="0">
                <a:solidFill>
                  <a:srgbClr val="E0F7FA"/>
                </a:solidFill>
                <a:latin typeface="Times New Roman" panose="02020603050405020304" pitchFamily="18" charset="0"/>
                <a:ea typeface="Liter" pitchFamily="34" charset="-122"/>
                <a:cs typeface="Times New Roman" panose="02020603050405020304" pitchFamily="18" charset="0"/>
              </a:rPr>
              <a:t> (Muscle Map) та залученням ШІ (</a:t>
            </a:r>
            <a:r>
              <a:rPr lang="en-US" sz="2000" b="1" dirty="0">
                <a:solidFill>
                  <a:srgbClr val="E0F7FA"/>
                </a:solidFill>
                <a:latin typeface="Times New Roman" panose="02020603050405020304" pitchFamily="18" charset="0"/>
                <a:ea typeface="Liter" pitchFamily="34" charset="-122"/>
                <a:cs typeface="Times New Roman" panose="02020603050405020304" pitchFamily="18" charset="0"/>
              </a:rPr>
              <a:t>Gemini/Claude</a:t>
            </a:r>
            <a:r>
              <a:rPr lang="en-US" sz="2000" dirty="0">
                <a:solidFill>
                  <a:srgbClr val="E0F7FA"/>
                </a:solidFill>
                <a:latin typeface="Times New Roman" panose="02020603050405020304" pitchFamily="18" charset="0"/>
                <a:ea typeface="Liter" pitchFamily="34" charset="-122"/>
                <a:cs typeface="Times New Roman" panose="02020603050405020304" pitchFamily="18" charset="0"/>
              </a:rPr>
              <a:t>) у якості віртуального тренера для аналізу безпеки навантажень.</a:t>
            </a:r>
            <a:endParaRPr lang="en-US" sz="2000" dirty="0"/>
          </a:p>
          <a:p>
            <a:pPr algn="l">
              <a:lnSpc>
                <a:spcPct val="160000"/>
              </a:lnSpc>
              <a:spcBef>
                <a:spcPts val="800"/>
              </a:spcBef>
            </a:pPr>
            <a:r>
              <a:rPr lang="en-US" sz="2000" dirty="0">
                <a:solidFill>
                  <a:srgbClr val="E0F7FA"/>
                </a:solidFill>
                <a:latin typeface="Times New Roman" panose="02020603050405020304" pitchFamily="18" charset="0"/>
                <a:ea typeface="Liter" pitchFamily="34" charset="-122"/>
                <a:cs typeface="Times New Roman" panose="02020603050405020304" pitchFamily="18" charset="0"/>
              </a:rPr>
              <a:t>Поєднання інтерактивного інтерфейсу з розумним аналізом ризиків створює безпечне середовище для самостійних тренувань.</a:t>
            </a:r>
            <a:endParaRPr lang="en-US" sz="20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1016000" y="635000"/>
            <a:ext cx="10160000" cy="635000"/>
          </a:xfrm>
          <a:prstGeom prst="rect">
            <a:avLst/>
          </a:prstGeom>
          <a:noFill/>
          <a:ln/>
        </p:spPr>
        <p:txBody>
          <a:bodyPr wrap="square" lIns="0" tIns="0" rIns="0" bIns="0" rtlCol="0" anchor="t"/>
          <a:lstStyle/>
          <a:p>
            <a:pPr>
              <a:lnSpc>
                <a:spcPct val="120000"/>
              </a:lnSpc>
            </a:pPr>
            <a:r>
              <a:rPr lang="en-US" sz="3600" b="1" dirty="0" err="1">
                <a:solidFill>
                  <a:srgbClr val="3C4A5A"/>
                </a:solidFill>
                <a:latin typeface="Times New Roman" panose="02020603050405020304" pitchFamily="18" charset="0"/>
                <a:ea typeface="Liter"/>
                <a:cs typeface="Times New Roman" panose="02020603050405020304" pitchFamily="18" charset="0"/>
              </a:rPr>
              <a:t>Постановка</a:t>
            </a:r>
            <a:r>
              <a:rPr lang="en-US" sz="3600" b="1" dirty="0">
                <a:solidFill>
                  <a:srgbClr val="3C4A5A"/>
                </a:solidFill>
                <a:latin typeface="Times New Roman" panose="02020603050405020304" pitchFamily="18" charset="0"/>
                <a:ea typeface="Liter"/>
                <a:cs typeface="Times New Roman" panose="02020603050405020304" pitchFamily="18" charset="0"/>
              </a:rPr>
              <a:t> </a:t>
            </a:r>
            <a:r>
              <a:rPr lang="en-US" sz="3600" b="1" dirty="0" err="1">
                <a:solidFill>
                  <a:srgbClr val="3C4A5A"/>
                </a:solidFill>
                <a:latin typeface="Times New Roman" panose="02020603050405020304" pitchFamily="18" charset="0"/>
                <a:ea typeface="Liter"/>
                <a:cs typeface="Times New Roman" panose="02020603050405020304" pitchFamily="18" charset="0"/>
              </a:rPr>
              <a:t>задачі</a:t>
            </a:r>
            <a:endParaRPr lang="en-US" sz="3600" dirty="0">
              <a:latin typeface="Times New Roman" panose="02020603050405020304" pitchFamily="18" charset="0"/>
              <a:ea typeface="Liter"/>
            </a:endParaRPr>
          </a:p>
        </p:txBody>
      </p:sp>
      <p:sp>
        <p:nvSpPr>
          <p:cNvPr id="3" name="Shape 1"/>
          <p:cNvSpPr/>
          <p:nvPr/>
        </p:nvSpPr>
        <p:spPr>
          <a:xfrm>
            <a:off x="1016000" y="1967523"/>
            <a:ext cx="14224000" cy="1342292"/>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4" name="Shape 2"/>
          <p:cNvSpPr/>
          <p:nvPr/>
        </p:nvSpPr>
        <p:spPr>
          <a:xfrm>
            <a:off x="1397000" y="2285023"/>
            <a:ext cx="762000" cy="762000"/>
          </a:xfrm>
          <a:prstGeom prst="ellipse">
            <a:avLst/>
          </a:prstGeom>
          <a:solidFill>
            <a:srgbClr val="0A6B70"/>
          </a:solidFill>
          <a:ln/>
        </p:spPr>
      </p:sp>
      <p:sp>
        <p:nvSpPr>
          <p:cNvPr id="5" name="Text 3"/>
          <p:cNvSpPr/>
          <p:nvPr/>
        </p:nvSpPr>
        <p:spPr>
          <a:xfrm>
            <a:off x="1397000" y="2285023"/>
            <a:ext cx="762000" cy="762000"/>
          </a:xfrm>
          <a:prstGeom prst="rect">
            <a:avLst/>
          </a:prstGeom>
          <a:noFill/>
          <a:ln/>
        </p:spPr>
        <p:txBody>
          <a:bodyPr wrap="square" lIns="0" tIns="0" rIns="0" bIns="0" rtlCol="0" anchor="ctr"/>
          <a:lstStyle/>
          <a:p>
            <a:pPr algn="ctr">
              <a:lnSpc>
                <a:spcPct val="120000"/>
              </a:lnSpc>
            </a:pPr>
            <a:r>
              <a:rPr lang="en-US" sz="2800" dirty="0">
                <a:solidFill>
                  <a:srgbClr val="FFFFFF"/>
                </a:solidFill>
                <a:latin typeface="Times New Roman" panose="02020603050405020304" pitchFamily="18" charset="0"/>
                <a:ea typeface="Liter" pitchFamily="34" charset="-122"/>
                <a:cs typeface="Times New Roman" panose="02020603050405020304" pitchFamily="18" charset="0"/>
              </a:rPr>
              <a:t>1</a:t>
            </a:r>
            <a:endParaRPr lang="en-US" sz="2800" dirty="0"/>
          </a:p>
        </p:txBody>
      </p:sp>
      <p:sp>
        <p:nvSpPr>
          <p:cNvPr id="7" name="Text 5"/>
          <p:cNvSpPr/>
          <p:nvPr/>
        </p:nvSpPr>
        <p:spPr>
          <a:xfrm>
            <a:off x="2540000" y="2428631"/>
            <a:ext cx="12192000" cy="618392"/>
          </a:xfrm>
          <a:prstGeom prst="rect">
            <a:avLst/>
          </a:prstGeom>
          <a:noFill/>
          <a:ln/>
        </p:spPr>
        <p:txBody>
          <a:bodyPr wrap="square" lIns="0" tIns="0" rIns="0" bIns="0" rtlCol="0" anchor="t"/>
          <a:lstStyle/>
          <a:p>
            <a:pPr>
              <a:lnSpc>
                <a:spcPct val="150000"/>
              </a:lnSpc>
            </a:pP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Розробити</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особистий</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кабінету</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де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користувач</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може</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зберігати</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свої</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дані</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налаштовувати</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тренування</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та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бачити</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історію</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занять</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a:t>
            </a:r>
            <a:endParaRPr lang="en-US" sz="1800" dirty="0"/>
          </a:p>
        </p:txBody>
      </p:sp>
      <p:sp>
        <p:nvSpPr>
          <p:cNvPr id="8" name="Shape 6"/>
          <p:cNvSpPr/>
          <p:nvPr/>
        </p:nvSpPr>
        <p:spPr>
          <a:xfrm>
            <a:off x="1016000" y="3927231"/>
            <a:ext cx="14224000" cy="1469292"/>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9" name="Shape 7"/>
          <p:cNvSpPr/>
          <p:nvPr/>
        </p:nvSpPr>
        <p:spPr>
          <a:xfrm>
            <a:off x="1397000" y="4244731"/>
            <a:ext cx="762000" cy="762000"/>
          </a:xfrm>
          <a:prstGeom prst="ellipse">
            <a:avLst/>
          </a:prstGeom>
          <a:solidFill>
            <a:srgbClr val="FFC107"/>
          </a:solidFill>
          <a:ln/>
        </p:spPr>
      </p:sp>
      <p:sp>
        <p:nvSpPr>
          <p:cNvPr id="10" name="Text 8"/>
          <p:cNvSpPr/>
          <p:nvPr/>
        </p:nvSpPr>
        <p:spPr>
          <a:xfrm>
            <a:off x="1397000" y="4244731"/>
            <a:ext cx="762000" cy="762000"/>
          </a:xfrm>
          <a:prstGeom prst="rect">
            <a:avLst/>
          </a:prstGeom>
          <a:noFill/>
          <a:ln/>
        </p:spPr>
        <p:txBody>
          <a:bodyPr wrap="square" lIns="0" tIns="0" rIns="0" bIns="0" rtlCol="0" anchor="ctr"/>
          <a:lstStyle/>
          <a:p>
            <a:pPr algn="ctr">
              <a:lnSpc>
                <a:spcPct val="120000"/>
              </a:lnSpc>
            </a:pPr>
            <a:r>
              <a:rPr lang="en-US" sz="2800" dirty="0">
                <a:solidFill>
                  <a:srgbClr val="FFFFFF"/>
                </a:solidFill>
                <a:latin typeface="Times New Roman" panose="02020603050405020304" pitchFamily="18" charset="0"/>
                <a:ea typeface="Liter" pitchFamily="34" charset="-122"/>
                <a:cs typeface="Times New Roman" panose="02020603050405020304" pitchFamily="18" charset="0"/>
              </a:rPr>
              <a:t>2</a:t>
            </a:r>
            <a:endParaRPr lang="en-US" sz="2800" dirty="0"/>
          </a:p>
        </p:txBody>
      </p:sp>
      <p:sp>
        <p:nvSpPr>
          <p:cNvPr id="12" name="Text 10"/>
          <p:cNvSpPr/>
          <p:nvPr/>
        </p:nvSpPr>
        <p:spPr>
          <a:xfrm>
            <a:off x="2540000" y="4435231"/>
            <a:ext cx="12192000" cy="571500"/>
          </a:xfrm>
          <a:prstGeom prst="rect">
            <a:avLst/>
          </a:prstGeom>
          <a:noFill/>
          <a:ln/>
        </p:spPr>
        <p:txBody>
          <a:bodyPr wrap="square" lIns="0" tIns="0" rIns="0" bIns="0" rtlCol="0" anchor="t"/>
          <a:lstStyle/>
          <a:p>
            <a:pPr>
              <a:lnSpc>
                <a:spcPct val="150000"/>
              </a:lnSpc>
            </a:pP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Створити</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зручний</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сайт з картою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м'язів</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та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інтуїтивно</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зрозумілою</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навігацією</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щоб</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людина</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могла легко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почати</a:t>
            </a:r>
            <a:r>
              <a:rPr lang="ru-RU" dirty="0">
                <a:solidFill>
                  <a:srgbClr val="333333"/>
                </a:solidFill>
                <a:latin typeface="Times New Roman" panose="02020603050405020304" pitchFamily="18" charset="0"/>
                <a:ea typeface="Liter" pitchFamily="34" charset="-122"/>
                <a:cs typeface="Times New Roman" panose="02020603050405020304" pitchFamily="18" charset="0"/>
              </a:rPr>
              <a:t> </a:t>
            </a:r>
            <a:r>
              <a:rPr lang="ru-RU" dirty="0" err="1">
                <a:solidFill>
                  <a:srgbClr val="333333"/>
                </a:solidFill>
                <a:latin typeface="Times New Roman" panose="02020603050405020304" pitchFamily="18" charset="0"/>
                <a:ea typeface="Liter" pitchFamily="34" charset="-122"/>
                <a:cs typeface="Times New Roman" panose="02020603050405020304" pitchFamily="18" charset="0"/>
              </a:rPr>
              <a:t>тренування</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a:t>
            </a:r>
            <a:endParaRPr lang="en-US" sz="1800" dirty="0"/>
          </a:p>
        </p:txBody>
      </p:sp>
      <p:sp>
        <p:nvSpPr>
          <p:cNvPr id="13" name="Shape 11"/>
          <p:cNvSpPr/>
          <p:nvPr/>
        </p:nvSpPr>
        <p:spPr>
          <a:xfrm>
            <a:off x="1016000" y="6013939"/>
            <a:ext cx="14224000" cy="1596292"/>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14" name="Shape 12"/>
          <p:cNvSpPr/>
          <p:nvPr/>
        </p:nvSpPr>
        <p:spPr>
          <a:xfrm>
            <a:off x="1397000" y="6458439"/>
            <a:ext cx="762000" cy="762000"/>
          </a:xfrm>
          <a:prstGeom prst="ellipse">
            <a:avLst/>
          </a:prstGeom>
          <a:solidFill>
            <a:srgbClr val="6C7A89"/>
          </a:solidFill>
          <a:ln/>
        </p:spPr>
      </p:sp>
      <p:sp>
        <p:nvSpPr>
          <p:cNvPr id="15" name="Text 13"/>
          <p:cNvSpPr/>
          <p:nvPr/>
        </p:nvSpPr>
        <p:spPr>
          <a:xfrm>
            <a:off x="1397000" y="6458439"/>
            <a:ext cx="762000" cy="762000"/>
          </a:xfrm>
          <a:prstGeom prst="rect">
            <a:avLst/>
          </a:prstGeom>
          <a:noFill/>
          <a:ln/>
        </p:spPr>
        <p:txBody>
          <a:bodyPr wrap="square" lIns="0" tIns="0" rIns="0" bIns="0" rtlCol="0" anchor="ctr"/>
          <a:lstStyle/>
          <a:p>
            <a:pPr algn="ctr">
              <a:lnSpc>
                <a:spcPct val="120000"/>
              </a:lnSpc>
            </a:pPr>
            <a:r>
              <a:rPr lang="en-US" sz="2800" dirty="0">
                <a:solidFill>
                  <a:srgbClr val="FFFFFF"/>
                </a:solidFill>
                <a:latin typeface="Times New Roman" panose="02020603050405020304" pitchFamily="18" charset="0"/>
                <a:ea typeface="Liter" pitchFamily="34" charset="-122"/>
                <a:cs typeface="Times New Roman" panose="02020603050405020304" pitchFamily="18" charset="0"/>
              </a:rPr>
              <a:t>3</a:t>
            </a:r>
            <a:endParaRPr lang="en-US" sz="2800" dirty="0"/>
          </a:p>
        </p:txBody>
      </p:sp>
      <p:sp>
        <p:nvSpPr>
          <p:cNvPr id="17" name="Text 15"/>
          <p:cNvSpPr/>
          <p:nvPr/>
        </p:nvSpPr>
        <p:spPr>
          <a:xfrm>
            <a:off x="2540000" y="6449647"/>
            <a:ext cx="12192000" cy="1016000"/>
          </a:xfrm>
          <a:prstGeom prst="rect">
            <a:avLst/>
          </a:prstGeom>
          <a:noFill/>
          <a:ln/>
        </p:spPr>
        <p:txBody>
          <a:bodyPr wrap="square" lIns="0" tIns="0" rIns="0" bIns="0" rtlCol="0" anchor="t"/>
          <a:lstStyle/>
          <a:p>
            <a:pPr>
              <a:lnSpc>
                <a:spcPct val="150000"/>
              </a:lnSpc>
            </a:pPr>
            <a:r>
              <a:rPr lang="uk-UA" dirty="0">
                <a:solidFill>
                  <a:srgbClr val="333333"/>
                </a:solidFill>
                <a:latin typeface="Times New Roman" panose="02020603050405020304" pitchFamily="18" charset="0"/>
                <a:ea typeface="Liter" pitchFamily="34" charset="-122"/>
                <a:cs typeface="Times New Roman" panose="02020603050405020304" pitchFamily="18" charset="0"/>
              </a:rPr>
              <a:t>Розробити інтелектуальний </a:t>
            </a:r>
            <a:r>
              <a:rPr lang="en-US" dirty="0">
                <a:solidFill>
                  <a:srgbClr val="333333"/>
                </a:solidFill>
                <a:latin typeface="Times New Roman" panose="02020603050405020304" pitchFamily="18" charset="0"/>
                <a:ea typeface="Liter" pitchFamily="34" charset="-122"/>
                <a:cs typeface="Times New Roman" panose="02020603050405020304" pitchFamily="18" charset="0"/>
              </a:rPr>
              <a:t>AI-</a:t>
            </a:r>
            <a:r>
              <a:rPr lang="uk-UA" dirty="0">
                <a:solidFill>
                  <a:srgbClr val="333333"/>
                </a:solidFill>
                <a:latin typeface="Times New Roman" panose="02020603050405020304" pitchFamily="18" charset="0"/>
                <a:ea typeface="Liter" pitchFamily="34" charset="-122"/>
                <a:cs typeface="Times New Roman" panose="02020603050405020304" pitchFamily="18" charset="0"/>
              </a:rPr>
              <a:t>сервіс для миттєвого аналізу тренувальних планів, який здатен виявляти потенційні ризики травмування та адаптувати навантаження під індивідуальні особливості здоров'я користувача</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a:t>
            </a:r>
            <a:endParaRPr lang="en-US" sz="18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1016000" y="635000"/>
            <a:ext cx="10160000" cy="635000"/>
          </a:xfrm>
          <a:prstGeom prst="rect">
            <a:avLst/>
          </a:prstGeom>
          <a:noFill/>
          <a:ln/>
        </p:spPr>
        <p:txBody>
          <a:bodyPr wrap="square" lIns="0" tIns="0" rIns="0" bIns="0" rtlCol="0" anchor="t"/>
          <a:lstStyle/>
          <a:p>
            <a:pPr>
              <a:lnSpc>
                <a:spcPct val="120000"/>
              </a:lnSpc>
            </a:pPr>
            <a:r>
              <a:rPr lang="en-US" sz="3600" b="1" dirty="0" err="1">
                <a:solidFill>
                  <a:srgbClr val="3C4A5A"/>
                </a:solidFill>
                <a:latin typeface="Times New Roman" panose="02020603050405020304" pitchFamily="18" charset="0"/>
                <a:ea typeface="Liter"/>
                <a:cs typeface="Times New Roman" panose="02020603050405020304" pitchFamily="18" charset="0"/>
              </a:rPr>
              <a:t>Архітектура</a:t>
            </a:r>
            <a:r>
              <a:rPr lang="en-US" sz="3600" b="1" dirty="0">
                <a:solidFill>
                  <a:srgbClr val="3C4A5A"/>
                </a:solidFill>
                <a:latin typeface="Times New Roman" panose="02020603050405020304" pitchFamily="18" charset="0"/>
                <a:ea typeface="Liter"/>
                <a:cs typeface="Times New Roman" panose="02020603050405020304" pitchFamily="18" charset="0"/>
              </a:rPr>
              <a:t> Front-End</a:t>
            </a:r>
          </a:p>
        </p:txBody>
      </p:sp>
      <p:sp>
        <p:nvSpPr>
          <p:cNvPr id="3" name="Shape 1"/>
          <p:cNvSpPr/>
          <p:nvPr/>
        </p:nvSpPr>
        <p:spPr>
          <a:xfrm>
            <a:off x="1016000" y="1524000"/>
            <a:ext cx="14224000" cy="1143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4" name="Text 2"/>
          <p:cNvSpPr/>
          <p:nvPr/>
        </p:nvSpPr>
        <p:spPr>
          <a:xfrm>
            <a:off x="1524000" y="1651000"/>
            <a:ext cx="13208000" cy="889000"/>
          </a:xfrm>
          <a:prstGeom prst="rect">
            <a:avLst/>
          </a:prstGeom>
          <a:noFill/>
          <a:ln/>
        </p:spPr>
        <p:txBody>
          <a:bodyPr wrap="square" lIns="0" tIns="0" rIns="0" bIns="0" rtlCol="0" anchor="ctr"/>
          <a:lstStyle/>
          <a:p>
            <a:pPr algn="l">
              <a:lnSpc>
                <a:spcPct val="140000"/>
              </a:lnSpc>
            </a:pPr>
            <a:r>
              <a:rPr lang="en-US" sz="2000" dirty="0">
                <a:solidFill>
                  <a:srgbClr val="333333"/>
                </a:solidFill>
                <a:latin typeface="Times New Roman" panose="02020603050405020304" pitchFamily="18" charset="0"/>
                <a:ea typeface="Liter" pitchFamily="34" charset="-122"/>
                <a:cs typeface="Times New Roman" panose="02020603050405020304" pitchFamily="18" charset="0"/>
              </a:rPr>
              <a:t>Клієнтська частина реалізована як </a:t>
            </a:r>
            <a:r>
              <a:rPr lang="en-US" sz="2000" b="1" dirty="0">
                <a:solidFill>
                  <a:srgbClr val="333333"/>
                </a:solidFill>
                <a:latin typeface="Times New Roman" panose="02020603050405020304" pitchFamily="18" charset="0"/>
                <a:ea typeface="Liter" pitchFamily="34" charset="-122"/>
                <a:cs typeface="Times New Roman" panose="02020603050405020304" pitchFamily="18" charset="0"/>
              </a:rPr>
              <a:t>Single Page Application (SPA)</a:t>
            </a:r>
            <a:r>
              <a:rPr lang="en-US" sz="2000" dirty="0">
                <a:solidFill>
                  <a:srgbClr val="333333"/>
                </a:solidFill>
                <a:latin typeface="Times New Roman" panose="02020603050405020304" pitchFamily="18" charset="0"/>
                <a:ea typeface="Liter" pitchFamily="34" charset="-122"/>
                <a:cs typeface="Times New Roman" panose="02020603050405020304" pitchFamily="18" charset="0"/>
              </a:rPr>
              <a:t> на базі </a:t>
            </a:r>
            <a:r>
              <a:rPr lang="en-US" sz="2000" b="1" dirty="0">
                <a:solidFill>
                  <a:srgbClr val="0A6B70"/>
                </a:solidFill>
                <a:latin typeface="Times New Roman" panose="02020603050405020304" pitchFamily="18" charset="0"/>
                <a:ea typeface="Liter" pitchFamily="34" charset="-122"/>
                <a:cs typeface="Times New Roman" panose="02020603050405020304" pitchFamily="18" charset="0"/>
              </a:rPr>
              <a:t>React</a:t>
            </a:r>
            <a:r>
              <a:rPr lang="en-US" sz="2000" dirty="0">
                <a:solidFill>
                  <a:srgbClr val="333333"/>
                </a:solidFill>
                <a:latin typeface="Times New Roman" panose="02020603050405020304" pitchFamily="18" charset="0"/>
                <a:ea typeface="Liter" pitchFamily="34" charset="-122"/>
                <a:cs typeface="Times New Roman" panose="02020603050405020304" pitchFamily="18" charset="0"/>
              </a:rPr>
              <a:t> та інструмента збірки </a:t>
            </a:r>
            <a:r>
              <a:rPr lang="en-US" sz="2000" b="1" dirty="0">
                <a:solidFill>
                  <a:srgbClr val="0A6B70"/>
                </a:solidFill>
                <a:latin typeface="Times New Roman" panose="02020603050405020304" pitchFamily="18" charset="0"/>
                <a:ea typeface="Liter" pitchFamily="34" charset="-122"/>
                <a:cs typeface="Times New Roman" panose="02020603050405020304" pitchFamily="18" charset="0"/>
              </a:rPr>
              <a:t>Vite</a:t>
            </a:r>
            <a:r>
              <a:rPr lang="en-US" sz="2000" dirty="0">
                <a:solidFill>
                  <a:srgbClr val="333333"/>
                </a:solidFill>
                <a:latin typeface="Times New Roman" panose="02020603050405020304" pitchFamily="18" charset="0"/>
                <a:ea typeface="Liter" pitchFamily="34" charset="-122"/>
                <a:cs typeface="Times New Roman" panose="02020603050405020304" pitchFamily="18" charset="0"/>
              </a:rPr>
              <a:t>.</a:t>
            </a:r>
            <a:endParaRPr lang="en-US" sz="2000" dirty="0"/>
          </a:p>
        </p:txBody>
      </p:sp>
      <p:sp>
        <p:nvSpPr>
          <p:cNvPr id="5" name="Shape 3"/>
          <p:cNvSpPr/>
          <p:nvPr/>
        </p:nvSpPr>
        <p:spPr>
          <a:xfrm>
            <a:off x="1016000" y="3048000"/>
            <a:ext cx="4445000" cy="5334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6" name="Shape 4"/>
          <p:cNvSpPr/>
          <p:nvPr/>
        </p:nvSpPr>
        <p:spPr>
          <a:xfrm>
            <a:off x="2667000" y="3429000"/>
            <a:ext cx="635000" cy="635000"/>
          </a:xfrm>
          <a:custGeom>
            <a:avLst/>
            <a:gdLst/>
            <a:ahLst/>
            <a:cxnLst/>
            <a:rect l="l" t="t" r="r" b="b"/>
            <a:pathLst>
              <a:path w="635000" h="635000">
                <a:moveTo>
                  <a:pt x="288354" y="6449"/>
                </a:moveTo>
                <a:cubicBezTo>
                  <a:pt x="306834" y="-2108"/>
                  <a:pt x="328166" y="-2108"/>
                  <a:pt x="346646" y="6449"/>
                </a:cubicBezTo>
                <a:lnTo>
                  <a:pt x="617761" y="131713"/>
                </a:lnTo>
                <a:cubicBezTo>
                  <a:pt x="628303" y="136550"/>
                  <a:pt x="635000" y="147092"/>
                  <a:pt x="635000" y="158750"/>
                </a:cubicBezTo>
                <a:cubicBezTo>
                  <a:pt x="635000" y="170408"/>
                  <a:pt x="628303" y="180950"/>
                  <a:pt x="617761" y="185787"/>
                </a:cubicBezTo>
                <a:lnTo>
                  <a:pt x="346646" y="311051"/>
                </a:lnTo>
                <a:cubicBezTo>
                  <a:pt x="328166" y="319608"/>
                  <a:pt x="306834" y="319608"/>
                  <a:pt x="288354" y="311051"/>
                </a:cubicBezTo>
                <a:lnTo>
                  <a:pt x="17239" y="185787"/>
                </a:lnTo>
                <a:cubicBezTo>
                  <a:pt x="6697" y="180826"/>
                  <a:pt x="0" y="170284"/>
                  <a:pt x="0" y="158750"/>
                </a:cubicBezTo>
                <a:cubicBezTo>
                  <a:pt x="0" y="147216"/>
                  <a:pt x="6697" y="136550"/>
                  <a:pt x="17239" y="131713"/>
                </a:cubicBezTo>
                <a:lnTo>
                  <a:pt x="288354" y="6449"/>
                </a:lnTo>
                <a:close/>
                <a:moveTo>
                  <a:pt x="59655" y="270867"/>
                </a:moveTo>
                <a:lnTo>
                  <a:pt x="263426" y="365001"/>
                </a:lnTo>
                <a:cubicBezTo>
                  <a:pt x="297780" y="380876"/>
                  <a:pt x="337344" y="380876"/>
                  <a:pt x="371698" y="365001"/>
                </a:cubicBezTo>
                <a:lnTo>
                  <a:pt x="575469" y="270867"/>
                </a:lnTo>
                <a:lnTo>
                  <a:pt x="617761" y="290463"/>
                </a:lnTo>
                <a:cubicBezTo>
                  <a:pt x="628303" y="295300"/>
                  <a:pt x="635000" y="305842"/>
                  <a:pt x="635000" y="317500"/>
                </a:cubicBezTo>
                <a:cubicBezTo>
                  <a:pt x="635000" y="329158"/>
                  <a:pt x="628303" y="339700"/>
                  <a:pt x="617761" y="344537"/>
                </a:cubicBezTo>
                <a:lnTo>
                  <a:pt x="346646" y="469801"/>
                </a:lnTo>
                <a:cubicBezTo>
                  <a:pt x="328166" y="478358"/>
                  <a:pt x="306834" y="478358"/>
                  <a:pt x="288354" y="469801"/>
                </a:cubicBezTo>
                <a:lnTo>
                  <a:pt x="17239" y="344537"/>
                </a:lnTo>
                <a:cubicBezTo>
                  <a:pt x="6697" y="339576"/>
                  <a:pt x="0" y="329034"/>
                  <a:pt x="0" y="317500"/>
                </a:cubicBezTo>
                <a:cubicBezTo>
                  <a:pt x="0" y="305966"/>
                  <a:pt x="6697" y="295300"/>
                  <a:pt x="17239" y="290463"/>
                </a:cubicBezTo>
                <a:lnTo>
                  <a:pt x="59531" y="270867"/>
                </a:lnTo>
                <a:close/>
                <a:moveTo>
                  <a:pt x="17239" y="449213"/>
                </a:moveTo>
                <a:lnTo>
                  <a:pt x="59531" y="429617"/>
                </a:lnTo>
                <a:lnTo>
                  <a:pt x="263302" y="523751"/>
                </a:lnTo>
                <a:cubicBezTo>
                  <a:pt x="297656" y="539626"/>
                  <a:pt x="337220" y="539626"/>
                  <a:pt x="371574" y="523751"/>
                </a:cubicBezTo>
                <a:lnTo>
                  <a:pt x="575345" y="429617"/>
                </a:lnTo>
                <a:lnTo>
                  <a:pt x="617637" y="449213"/>
                </a:lnTo>
                <a:cubicBezTo>
                  <a:pt x="628179" y="454050"/>
                  <a:pt x="634876" y="464592"/>
                  <a:pt x="634876" y="476250"/>
                </a:cubicBezTo>
                <a:cubicBezTo>
                  <a:pt x="634876" y="487908"/>
                  <a:pt x="628179" y="498450"/>
                  <a:pt x="617637" y="503287"/>
                </a:cubicBezTo>
                <a:lnTo>
                  <a:pt x="346521" y="628551"/>
                </a:lnTo>
                <a:cubicBezTo>
                  <a:pt x="328042" y="637108"/>
                  <a:pt x="306710" y="637108"/>
                  <a:pt x="288230" y="628551"/>
                </a:cubicBezTo>
                <a:lnTo>
                  <a:pt x="17239" y="503287"/>
                </a:lnTo>
                <a:cubicBezTo>
                  <a:pt x="6697" y="498326"/>
                  <a:pt x="0" y="487784"/>
                  <a:pt x="0" y="476250"/>
                </a:cubicBezTo>
                <a:cubicBezTo>
                  <a:pt x="0" y="464716"/>
                  <a:pt x="6697" y="454050"/>
                  <a:pt x="17239" y="449213"/>
                </a:cubicBezTo>
                <a:close/>
              </a:path>
            </a:pathLst>
          </a:custGeom>
          <a:solidFill>
            <a:srgbClr val="0A6B70"/>
          </a:solidFill>
          <a:ln/>
        </p:spPr>
      </p:sp>
      <p:sp>
        <p:nvSpPr>
          <p:cNvPr id="7" name="Text 5"/>
          <p:cNvSpPr/>
          <p:nvPr/>
        </p:nvSpPr>
        <p:spPr>
          <a:xfrm>
            <a:off x="1397000" y="4318000"/>
            <a:ext cx="3683000" cy="457200"/>
          </a:xfrm>
          <a:prstGeom prst="rect">
            <a:avLst/>
          </a:prstGeom>
          <a:noFill/>
          <a:ln/>
        </p:spPr>
        <p:txBody>
          <a:bodyPr wrap="square" lIns="0" tIns="0" rIns="0" bIns="0" rtlCol="0" anchor="ctr"/>
          <a:lstStyle/>
          <a:p>
            <a:pPr algn="ctr">
              <a:lnSpc>
                <a:spcPct val="120000"/>
              </a:lnSpc>
            </a:pPr>
            <a:r>
              <a:rPr lang="en-US" sz="2400" dirty="0">
                <a:solidFill>
                  <a:srgbClr val="0A6B70"/>
                </a:solidFill>
                <a:latin typeface="Times New Roman" panose="02020603050405020304" pitchFamily="18" charset="0"/>
                <a:ea typeface="Liter" pitchFamily="34" charset="-122"/>
                <a:cs typeface="Times New Roman" panose="02020603050405020304" pitchFamily="18" charset="0"/>
              </a:rPr>
              <a:t>State Management</a:t>
            </a:r>
            <a:endParaRPr lang="en-US" sz="2400" dirty="0"/>
          </a:p>
        </p:txBody>
      </p:sp>
      <p:sp>
        <p:nvSpPr>
          <p:cNvPr id="8" name="Shape 6"/>
          <p:cNvSpPr/>
          <p:nvPr/>
        </p:nvSpPr>
        <p:spPr>
          <a:xfrm>
            <a:off x="2032000" y="4889500"/>
            <a:ext cx="2413000" cy="25400"/>
          </a:xfrm>
          <a:prstGeom prst="rect">
            <a:avLst/>
          </a:prstGeom>
          <a:solidFill>
            <a:srgbClr val="0A6B70"/>
          </a:solidFill>
          <a:ln/>
        </p:spPr>
      </p:sp>
      <p:sp>
        <p:nvSpPr>
          <p:cNvPr id="9" name="Text 7"/>
          <p:cNvSpPr/>
          <p:nvPr/>
        </p:nvSpPr>
        <p:spPr>
          <a:xfrm>
            <a:off x="1397000" y="5080000"/>
            <a:ext cx="3683000" cy="1841500"/>
          </a:xfrm>
          <a:prstGeom prst="rect">
            <a:avLst/>
          </a:prstGeom>
          <a:noFill/>
          <a:ln/>
        </p:spPr>
        <p:txBody>
          <a:bodyPr wrap="square" lIns="0" tIns="0" rIns="0" bIns="0" rtlCol="0" anchor="t"/>
          <a:lstStyle/>
          <a:p>
            <a:pPr algn="ctr">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Глобальне сховище для відстеження активної сесії тренування та управління станом додатку.</a:t>
            </a:r>
            <a:endParaRPr lang="en-US" sz="1800" dirty="0"/>
          </a:p>
        </p:txBody>
      </p:sp>
      <p:sp>
        <p:nvSpPr>
          <p:cNvPr id="10" name="Shape 8"/>
          <p:cNvSpPr/>
          <p:nvPr/>
        </p:nvSpPr>
        <p:spPr>
          <a:xfrm>
            <a:off x="5905500" y="3048000"/>
            <a:ext cx="4445000" cy="5334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11" name="Shape 9"/>
          <p:cNvSpPr/>
          <p:nvPr/>
        </p:nvSpPr>
        <p:spPr>
          <a:xfrm>
            <a:off x="7556500" y="3429000"/>
            <a:ext cx="635000" cy="635000"/>
          </a:xfrm>
          <a:custGeom>
            <a:avLst/>
            <a:gdLst/>
            <a:ahLst/>
            <a:cxnLst/>
            <a:rect l="l" t="t" r="r" b="b"/>
            <a:pathLst>
              <a:path w="635000" h="635000">
                <a:moveTo>
                  <a:pt x="635000" y="119062"/>
                </a:moveTo>
                <a:cubicBezTo>
                  <a:pt x="635000" y="181322"/>
                  <a:pt x="561702" y="274216"/>
                  <a:pt x="530076" y="311299"/>
                </a:cubicBezTo>
                <a:cubicBezTo>
                  <a:pt x="525363" y="316756"/>
                  <a:pt x="518418" y="318864"/>
                  <a:pt x="512093" y="317500"/>
                </a:cubicBezTo>
                <a:lnTo>
                  <a:pt x="396875" y="317500"/>
                </a:lnTo>
                <a:cubicBezTo>
                  <a:pt x="374923" y="317500"/>
                  <a:pt x="357188" y="335235"/>
                  <a:pt x="357188" y="357188"/>
                </a:cubicBezTo>
                <a:cubicBezTo>
                  <a:pt x="357188" y="379140"/>
                  <a:pt x="374923" y="396875"/>
                  <a:pt x="396875" y="396875"/>
                </a:cubicBezTo>
                <a:lnTo>
                  <a:pt x="515937" y="396875"/>
                </a:lnTo>
                <a:cubicBezTo>
                  <a:pt x="581670" y="396875"/>
                  <a:pt x="635000" y="450205"/>
                  <a:pt x="635000" y="515937"/>
                </a:cubicBezTo>
                <a:cubicBezTo>
                  <a:pt x="635000" y="581670"/>
                  <a:pt x="581670" y="635000"/>
                  <a:pt x="515937" y="635000"/>
                </a:cubicBezTo>
                <a:lnTo>
                  <a:pt x="173137" y="635000"/>
                </a:lnTo>
                <a:cubicBezTo>
                  <a:pt x="183927" y="622722"/>
                  <a:pt x="197073" y="606971"/>
                  <a:pt x="210344" y="589359"/>
                </a:cubicBezTo>
                <a:cubicBezTo>
                  <a:pt x="218157" y="578941"/>
                  <a:pt x="226219" y="567531"/>
                  <a:pt x="233908" y="555625"/>
                </a:cubicBezTo>
                <a:lnTo>
                  <a:pt x="515937" y="555625"/>
                </a:lnTo>
                <a:cubicBezTo>
                  <a:pt x="537890" y="555625"/>
                  <a:pt x="555625" y="537890"/>
                  <a:pt x="555625" y="515937"/>
                </a:cubicBezTo>
                <a:cubicBezTo>
                  <a:pt x="555625" y="493985"/>
                  <a:pt x="537890" y="476250"/>
                  <a:pt x="515937" y="476250"/>
                </a:cubicBezTo>
                <a:lnTo>
                  <a:pt x="396875" y="476250"/>
                </a:lnTo>
                <a:cubicBezTo>
                  <a:pt x="331143" y="476250"/>
                  <a:pt x="277813" y="422920"/>
                  <a:pt x="277813" y="357188"/>
                </a:cubicBezTo>
                <a:cubicBezTo>
                  <a:pt x="277813" y="291455"/>
                  <a:pt x="331143" y="238125"/>
                  <a:pt x="396875" y="238125"/>
                </a:cubicBezTo>
                <a:lnTo>
                  <a:pt x="446236" y="238125"/>
                </a:lnTo>
                <a:cubicBezTo>
                  <a:pt x="420191" y="199058"/>
                  <a:pt x="396875" y="154161"/>
                  <a:pt x="396875" y="119062"/>
                </a:cubicBezTo>
                <a:cubicBezTo>
                  <a:pt x="396875" y="53330"/>
                  <a:pt x="450205" y="0"/>
                  <a:pt x="515937" y="0"/>
                </a:cubicBezTo>
                <a:cubicBezTo>
                  <a:pt x="581670" y="0"/>
                  <a:pt x="635000" y="53330"/>
                  <a:pt x="635000" y="119062"/>
                </a:cubicBezTo>
                <a:close/>
                <a:moveTo>
                  <a:pt x="145231" y="606599"/>
                </a:moveTo>
                <a:cubicBezTo>
                  <a:pt x="140519" y="611932"/>
                  <a:pt x="136302" y="616645"/>
                  <a:pt x="132705" y="620613"/>
                </a:cubicBezTo>
                <a:lnTo>
                  <a:pt x="130473" y="623094"/>
                </a:lnTo>
                <a:lnTo>
                  <a:pt x="130225" y="622846"/>
                </a:lnTo>
                <a:cubicBezTo>
                  <a:pt x="122783" y="628551"/>
                  <a:pt x="112117" y="627807"/>
                  <a:pt x="105420" y="620613"/>
                </a:cubicBezTo>
                <a:cubicBezTo>
                  <a:pt x="74166" y="586631"/>
                  <a:pt x="0" y="499194"/>
                  <a:pt x="0" y="436563"/>
                </a:cubicBezTo>
                <a:cubicBezTo>
                  <a:pt x="0" y="370830"/>
                  <a:pt x="53330" y="317500"/>
                  <a:pt x="119062" y="317500"/>
                </a:cubicBezTo>
                <a:cubicBezTo>
                  <a:pt x="184795" y="317500"/>
                  <a:pt x="238125" y="370830"/>
                  <a:pt x="238125" y="436563"/>
                </a:cubicBezTo>
                <a:cubicBezTo>
                  <a:pt x="238125" y="473770"/>
                  <a:pt x="211956" y="519658"/>
                  <a:pt x="184175" y="557981"/>
                </a:cubicBezTo>
                <a:cubicBezTo>
                  <a:pt x="170904" y="576213"/>
                  <a:pt x="157262" y="592708"/>
                  <a:pt x="145976" y="605730"/>
                </a:cubicBezTo>
                <a:lnTo>
                  <a:pt x="145231" y="606599"/>
                </a:lnTo>
                <a:close/>
                <a:moveTo>
                  <a:pt x="158750" y="436563"/>
                </a:moveTo>
                <a:cubicBezTo>
                  <a:pt x="158750" y="414658"/>
                  <a:pt x="140967" y="396875"/>
                  <a:pt x="119062" y="396875"/>
                </a:cubicBezTo>
                <a:cubicBezTo>
                  <a:pt x="97158" y="396875"/>
                  <a:pt x="79375" y="414658"/>
                  <a:pt x="79375" y="436563"/>
                </a:cubicBezTo>
                <a:cubicBezTo>
                  <a:pt x="79375" y="458467"/>
                  <a:pt x="97158" y="476250"/>
                  <a:pt x="119062" y="476250"/>
                </a:cubicBezTo>
                <a:cubicBezTo>
                  <a:pt x="140967" y="476250"/>
                  <a:pt x="158750" y="458467"/>
                  <a:pt x="158750" y="436563"/>
                </a:cubicBezTo>
                <a:close/>
                <a:moveTo>
                  <a:pt x="515937" y="158750"/>
                </a:moveTo>
                <a:cubicBezTo>
                  <a:pt x="537842" y="158750"/>
                  <a:pt x="555625" y="140967"/>
                  <a:pt x="555625" y="119062"/>
                </a:cubicBezTo>
                <a:cubicBezTo>
                  <a:pt x="555625" y="97158"/>
                  <a:pt x="537842" y="79375"/>
                  <a:pt x="515937" y="79375"/>
                </a:cubicBezTo>
                <a:cubicBezTo>
                  <a:pt x="494033" y="79375"/>
                  <a:pt x="476250" y="97158"/>
                  <a:pt x="476250" y="119062"/>
                </a:cubicBezTo>
                <a:cubicBezTo>
                  <a:pt x="476250" y="140967"/>
                  <a:pt x="494033" y="158750"/>
                  <a:pt x="515937" y="158750"/>
                </a:cubicBezTo>
                <a:close/>
              </a:path>
            </a:pathLst>
          </a:custGeom>
          <a:solidFill>
            <a:srgbClr val="FFC107"/>
          </a:solidFill>
          <a:ln/>
        </p:spPr>
      </p:sp>
      <p:sp>
        <p:nvSpPr>
          <p:cNvPr id="12" name="Text 10"/>
          <p:cNvSpPr/>
          <p:nvPr/>
        </p:nvSpPr>
        <p:spPr>
          <a:xfrm>
            <a:off x="6286500" y="4318000"/>
            <a:ext cx="3683000" cy="457200"/>
          </a:xfrm>
          <a:prstGeom prst="rect">
            <a:avLst/>
          </a:prstGeom>
          <a:noFill/>
          <a:ln/>
        </p:spPr>
        <p:txBody>
          <a:bodyPr wrap="square" lIns="0" tIns="0" rIns="0" bIns="0" rtlCol="0" anchor="ctr"/>
          <a:lstStyle/>
          <a:p>
            <a:pPr algn="ctr">
              <a:lnSpc>
                <a:spcPct val="120000"/>
              </a:lnSpc>
            </a:pPr>
            <a:r>
              <a:rPr lang="en-US" sz="2400" dirty="0">
                <a:solidFill>
                  <a:srgbClr val="FFC107"/>
                </a:solidFill>
                <a:latin typeface="Times New Roman" panose="02020603050405020304" pitchFamily="18" charset="0"/>
                <a:ea typeface="Liter" pitchFamily="34" charset="-122"/>
                <a:cs typeface="Times New Roman" panose="02020603050405020304" pitchFamily="18" charset="0"/>
              </a:rPr>
              <a:t>Routing</a:t>
            </a:r>
            <a:endParaRPr lang="en-US" sz="2400" dirty="0"/>
          </a:p>
        </p:txBody>
      </p:sp>
      <p:sp>
        <p:nvSpPr>
          <p:cNvPr id="13" name="Shape 11"/>
          <p:cNvSpPr/>
          <p:nvPr/>
        </p:nvSpPr>
        <p:spPr>
          <a:xfrm>
            <a:off x="6921500" y="4889500"/>
            <a:ext cx="2413000" cy="25400"/>
          </a:xfrm>
          <a:prstGeom prst="rect">
            <a:avLst/>
          </a:prstGeom>
          <a:solidFill>
            <a:srgbClr val="FFC107"/>
          </a:solidFill>
          <a:ln/>
        </p:spPr>
      </p:sp>
      <p:sp>
        <p:nvSpPr>
          <p:cNvPr id="14" name="Text 12"/>
          <p:cNvSpPr/>
          <p:nvPr/>
        </p:nvSpPr>
        <p:spPr>
          <a:xfrm>
            <a:off x="6286500" y="5080000"/>
            <a:ext cx="3683000" cy="1524000"/>
          </a:xfrm>
          <a:prstGeom prst="rect">
            <a:avLst/>
          </a:prstGeom>
          <a:noFill/>
          <a:ln/>
        </p:spPr>
        <p:txBody>
          <a:bodyPr wrap="square" lIns="0" tIns="0" rIns="0" bIns="0" rtlCol="0" anchor="t"/>
          <a:lstStyle/>
          <a:p>
            <a:pPr algn="ctr">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Маршрутизація через </a:t>
            </a: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React Router</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без перезавантаження сторінок.</a:t>
            </a:r>
            <a:endParaRPr lang="en-US" sz="1800" dirty="0"/>
          </a:p>
        </p:txBody>
      </p:sp>
      <p:sp>
        <p:nvSpPr>
          <p:cNvPr id="15" name="Shape 13"/>
          <p:cNvSpPr/>
          <p:nvPr/>
        </p:nvSpPr>
        <p:spPr>
          <a:xfrm>
            <a:off x="10795000" y="3048000"/>
            <a:ext cx="4445000" cy="5334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16" name="Shape 14"/>
          <p:cNvSpPr/>
          <p:nvPr/>
        </p:nvSpPr>
        <p:spPr>
          <a:xfrm>
            <a:off x="12446000" y="3429000"/>
            <a:ext cx="635000" cy="635000"/>
          </a:xfrm>
          <a:custGeom>
            <a:avLst/>
            <a:gdLst/>
            <a:ahLst/>
            <a:cxnLst/>
            <a:rect l="l" t="t" r="r" b="b"/>
            <a:pathLst>
              <a:path w="635000" h="635000">
                <a:moveTo>
                  <a:pt x="90714" y="39688"/>
                </a:moveTo>
                <a:cubicBezTo>
                  <a:pt x="40680" y="39688"/>
                  <a:pt x="0" y="75282"/>
                  <a:pt x="0" y="119062"/>
                </a:cubicBezTo>
                <a:lnTo>
                  <a:pt x="0" y="198438"/>
                </a:lnTo>
                <a:cubicBezTo>
                  <a:pt x="0" y="242218"/>
                  <a:pt x="40680" y="277813"/>
                  <a:pt x="90714" y="277813"/>
                </a:cubicBezTo>
                <a:lnTo>
                  <a:pt x="544286" y="277813"/>
                </a:lnTo>
                <a:cubicBezTo>
                  <a:pt x="594320" y="277813"/>
                  <a:pt x="635000" y="242218"/>
                  <a:pt x="635000" y="198438"/>
                </a:cubicBezTo>
                <a:lnTo>
                  <a:pt x="635000" y="119062"/>
                </a:lnTo>
                <a:cubicBezTo>
                  <a:pt x="635000" y="75282"/>
                  <a:pt x="594320" y="39688"/>
                  <a:pt x="544286" y="39688"/>
                </a:cubicBezTo>
                <a:lnTo>
                  <a:pt x="90714" y="39688"/>
                </a:lnTo>
                <a:close/>
                <a:moveTo>
                  <a:pt x="396875" y="128984"/>
                </a:moveTo>
                <a:cubicBezTo>
                  <a:pt x="415650" y="128984"/>
                  <a:pt x="430893" y="142322"/>
                  <a:pt x="430893" y="158750"/>
                </a:cubicBezTo>
                <a:cubicBezTo>
                  <a:pt x="430893" y="175178"/>
                  <a:pt x="415650" y="188516"/>
                  <a:pt x="396875" y="188516"/>
                </a:cubicBezTo>
                <a:cubicBezTo>
                  <a:pt x="378100" y="188516"/>
                  <a:pt x="362857" y="175178"/>
                  <a:pt x="362857" y="158750"/>
                </a:cubicBezTo>
                <a:cubicBezTo>
                  <a:pt x="362857" y="142322"/>
                  <a:pt x="378100" y="128984"/>
                  <a:pt x="396875" y="128984"/>
                </a:cubicBezTo>
                <a:close/>
                <a:moveTo>
                  <a:pt x="476250" y="158750"/>
                </a:moveTo>
                <a:cubicBezTo>
                  <a:pt x="476250" y="142322"/>
                  <a:pt x="491493" y="128984"/>
                  <a:pt x="510268" y="128984"/>
                </a:cubicBezTo>
                <a:cubicBezTo>
                  <a:pt x="529043" y="128984"/>
                  <a:pt x="544286" y="142322"/>
                  <a:pt x="544286" y="158750"/>
                </a:cubicBezTo>
                <a:cubicBezTo>
                  <a:pt x="544286" y="175178"/>
                  <a:pt x="529043" y="188516"/>
                  <a:pt x="510268" y="188516"/>
                </a:cubicBezTo>
                <a:cubicBezTo>
                  <a:pt x="491493" y="188516"/>
                  <a:pt x="476250" y="175178"/>
                  <a:pt x="476250" y="158750"/>
                </a:cubicBezTo>
                <a:close/>
                <a:moveTo>
                  <a:pt x="90714" y="357188"/>
                </a:moveTo>
                <a:cubicBezTo>
                  <a:pt x="40680" y="357188"/>
                  <a:pt x="0" y="392782"/>
                  <a:pt x="0" y="436563"/>
                </a:cubicBezTo>
                <a:lnTo>
                  <a:pt x="0" y="515937"/>
                </a:lnTo>
                <a:cubicBezTo>
                  <a:pt x="0" y="559718"/>
                  <a:pt x="40680" y="595313"/>
                  <a:pt x="90714" y="595313"/>
                </a:cubicBezTo>
                <a:lnTo>
                  <a:pt x="544286" y="595313"/>
                </a:lnTo>
                <a:cubicBezTo>
                  <a:pt x="594320" y="595313"/>
                  <a:pt x="635000" y="559718"/>
                  <a:pt x="635000" y="515937"/>
                </a:cubicBezTo>
                <a:lnTo>
                  <a:pt x="635000" y="436563"/>
                </a:lnTo>
                <a:cubicBezTo>
                  <a:pt x="635000" y="392782"/>
                  <a:pt x="594320" y="357188"/>
                  <a:pt x="544286" y="357188"/>
                </a:cubicBezTo>
                <a:lnTo>
                  <a:pt x="90714" y="357188"/>
                </a:lnTo>
                <a:close/>
                <a:moveTo>
                  <a:pt x="396875" y="446484"/>
                </a:moveTo>
                <a:cubicBezTo>
                  <a:pt x="415650" y="446484"/>
                  <a:pt x="430893" y="459822"/>
                  <a:pt x="430893" y="476250"/>
                </a:cubicBezTo>
                <a:cubicBezTo>
                  <a:pt x="430893" y="492678"/>
                  <a:pt x="415650" y="506016"/>
                  <a:pt x="396875" y="506016"/>
                </a:cubicBezTo>
                <a:cubicBezTo>
                  <a:pt x="378100" y="506016"/>
                  <a:pt x="362857" y="492678"/>
                  <a:pt x="362857" y="476250"/>
                </a:cubicBezTo>
                <a:cubicBezTo>
                  <a:pt x="362857" y="459822"/>
                  <a:pt x="378100" y="446484"/>
                  <a:pt x="396875" y="446484"/>
                </a:cubicBezTo>
                <a:close/>
                <a:moveTo>
                  <a:pt x="476250" y="476250"/>
                </a:moveTo>
                <a:cubicBezTo>
                  <a:pt x="476250" y="459822"/>
                  <a:pt x="491493" y="446484"/>
                  <a:pt x="510268" y="446484"/>
                </a:cubicBezTo>
                <a:cubicBezTo>
                  <a:pt x="529043" y="446484"/>
                  <a:pt x="544286" y="459822"/>
                  <a:pt x="544286" y="476250"/>
                </a:cubicBezTo>
                <a:cubicBezTo>
                  <a:pt x="544286" y="492678"/>
                  <a:pt x="529043" y="506016"/>
                  <a:pt x="510268" y="506016"/>
                </a:cubicBezTo>
                <a:cubicBezTo>
                  <a:pt x="491493" y="506016"/>
                  <a:pt x="476250" y="492678"/>
                  <a:pt x="476250" y="476250"/>
                </a:cubicBezTo>
                <a:close/>
              </a:path>
            </a:pathLst>
          </a:custGeom>
          <a:solidFill>
            <a:srgbClr val="6C7A89"/>
          </a:solidFill>
          <a:ln/>
        </p:spPr>
      </p:sp>
      <p:sp>
        <p:nvSpPr>
          <p:cNvPr id="17" name="Text 15"/>
          <p:cNvSpPr/>
          <p:nvPr/>
        </p:nvSpPr>
        <p:spPr>
          <a:xfrm>
            <a:off x="11176000" y="4318000"/>
            <a:ext cx="3683000" cy="457200"/>
          </a:xfrm>
          <a:prstGeom prst="rect">
            <a:avLst/>
          </a:prstGeom>
          <a:noFill/>
          <a:ln/>
        </p:spPr>
        <p:txBody>
          <a:bodyPr wrap="square" lIns="0" tIns="0" rIns="0" bIns="0" rtlCol="0" anchor="ctr"/>
          <a:lstStyle/>
          <a:p>
            <a:pPr algn="ctr">
              <a:lnSpc>
                <a:spcPct val="120000"/>
              </a:lnSpc>
            </a:pPr>
            <a:r>
              <a:rPr lang="en-US" sz="2400" dirty="0">
                <a:solidFill>
                  <a:srgbClr val="6C7A89"/>
                </a:solidFill>
                <a:latin typeface="Times New Roman" panose="02020603050405020304" pitchFamily="18" charset="0"/>
                <a:ea typeface="Liter" pitchFamily="34" charset="-122"/>
                <a:cs typeface="Times New Roman" panose="02020603050405020304" pitchFamily="18" charset="0"/>
              </a:rPr>
              <a:t>API Layer</a:t>
            </a:r>
            <a:endParaRPr lang="en-US" sz="2400" dirty="0"/>
          </a:p>
        </p:txBody>
      </p:sp>
      <p:sp>
        <p:nvSpPr>
          <p:cNvPr id="18" name="Shape 16"/>
          <p:cNvSpPr/>
          <p:nvPr/>
        </p:nvSpPr>
        <p:spPr>
          <a:xfrm>
            <a:off x="11811000" y="4889500"/>
            <a:ext cx="2413000" cy="25400"/>
          </a:xfrm>
          <a:prstGeom prst="rect">
            <a:avLst/>
          </a:prstGeom>
          <a:solidFill>
            <a:srgbClr val="6C7A89"/>
          </a:solidFill>
          <a:ln/>
        </p:spPr>
      </p:sp>
      <p:sp>
        <p:nvSpPr>
          <p:cNvPr id="19" name="Text 17"/>
          <p:cNvSpPr/>
          <p:nvPr/>
        </p:nvSpPr>
        <p:spPr>
          <a:xfrm>
            <a:off x="11176000" y="5080000"/>
            <a:ext cx="3683000" cy="1524000"/>
          </a:xfrm>
          <a:prstGeom prst="rect">
            <a:avLst/>
          </a:prstGeom>
          <a:noFill/>
          <a:ln/>
        </p:spPr>
        <p:txBody>
          <a:bodyPr wrap="square" lIns="0" tIns="0" rIns="0" bIns="0" rtlCol="0" anchor="t"/>
          <a:lstStyle/>
          <a:p>
            <a:pPr algn="ctr">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Модуль зв'язку із сервером </a:t>
            </a: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NestJS</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для обміну даними.</a:t>
            </a:r>
            <a:endParaRPr lang="en-US" sz="18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507218" y="742462"/>
            <a:ext cx="10160000" cy="635000"/>
          </a:xfrm>
          <a:prstGeom prst="rect">
            <a:avLst/>
          </a:prstGeom>
          <a:noFill/>
          <a:ln/>
        </p:spPr>
        <p:txBody>
          <a:bodyPr wrap="square" lIns="0" tIns="0" rIns="0" bIns="0" rtlCol="0" anchor="t"/>
          <a:lstStyle/>
          <a:p>
            <a:pPr>
              <a:lnSpc>
                <a:spcPct val="120000"/>
              </a:lnSpc>
            </a:pPr>
            <a:r>
              <a:rPr lang="uk-UA" sz="3600" b="1" dirty="0">
                <a:solidFill>
                  <a:srgbClr val="3C4A5A"/>
                </a:solidFill>
                <a:latin typeface="Times New Roman" panose="02020603050405020304" pitchFamily="18" charset="0"/>
                <a:ea typeface="Liter"/>
                <a:cs typeface="Times New Roman" panose="02020603050405020304" pitchFamily="18" charset="0"/>
              </a:rPr>
              <a:t>Діаграми потоків даних (</a:t>
            </a:r>
            <a:r>
              <a:rPr lang="en-US" sz="3600" b="1" dirty="0">
                <a:solidFill>
                  <a:srgbClr val="3C4A5A"/>
                </a:solidFill>
                <a:latin typeface="Times New Roman" panose="02020603050405020304" pitchFamily="18" charset="0"/>
                <a:ea typeface="Liter"/>
                <a:cs typeface="Times New Roman" panose="02020603050405020304" pitchFamily="18" charset="0"/>
              </a:rPr>
              <a:t>DFD) </a:t>
            </a:r>
          </a:p>
        </p:txBody>
      </p:sp>
      <p:pic>
        <p:nvPicPr>
          <p:cNvPr id="23" name="Picture 22">
            <a:extLst>
              <a:ext uri="{FF2B5EF4-FFF2-40B4-BE49-F238E27FC236}">
                <a16:creationId xmlns:a16="http://schemas.microsoft.com/office/drawing/2014/main" id="{45A43053-C879-4574-9ADE-0F3EEDD6D0EF}"/>
              </a:ext>
            </a:extLst>
          </p:cNvPr>
          <p:cNvPicPr/>
          <p:nvPr/>
        </p:nvPicPr>
        <p:blipFill rotWithShape="1">
          <a:blip r:embed="rId3"/>
          <a:srcRect l="3940"/>
          <a:stretch/>
        </p:blipFill>
        <p:spPr>
          <a:xfrm>
            <a:off x="7573108" y="337622"/>
            <a:ext cx="7545754" cy="8637565"/>
          </a:xfrm>
          <a:prstGeom prst="rect">
            <a:avLst/>
          </a:prstGeom>
        </p:spPr>
      </p:pic>
      <p:sp>
        <p:nvSpPr>
          <p:cNvPr id="24" name="Rectangle 23">
            <a:extLst>
              <a:ext uri="{FF2B5EF4-FFF2-40B4-BE49-F238E27FC236}">
                <a16:creationId xmlns:a16="http://schemas.microsoft.com/office/drawing/2014/main" id="{CD7A0543-FF35-4008-A4E4-33EC8850A084}"/>
              </a:ext>
            </a:extLst>
          </p:cNvPr>
          <p:cNvSpPr/>
          <p:nvPr/>
        </p:nvSpPr>
        <p:spPr>
          <a:xfrm>
            <a:off x="507218" y="2263676"/>
            <a:ext cx="6690752" cy="2308324"/>
          </a:xfrm>
          <a:prstGeom prst="rect">
            <a:avLst/>
          </a:prstGeom>
        </p:spPr>
        <p:txBody>
          <a:bodyPr wrap="square">
            <a:spAutoFit/>
          </a:bodyPr>
          <a:lstStyle/>
          <a:p>
            <a:r>
              <a:rPr lang="uk-UA" dirty="0">
                <a:latin typeface="Times New Roman" panose="02020603050405020304" pitchFamily="18" charset="0"/>
                <a:cs typeface="Times New Roman" panose="02020603050405020304" pitchFamily="18" charset="0"/>
              </a:rPr>
              <a:t>Діаграма потоків даних відображає архітектуру фітнес-застосунку, який аналізує </a:t>
            </a:r>
            <a:r>
              <a:rPr lang="uk-UA" dirty="0" err="1">
                <a:latin typeface="Times New Roman" panose="02020603050405020304" pitchFamily="18" charset="0"/>
                <a:cs typeface="Times New Roman" panose="02020603050405020304" pitchFamily="18" charset="0"/>
              </a:rPr>
              <a:t>відеопотік</a:t>
            </a:r>
            <a:r>
              <a:rPr lang="uk-UA" dirty="0">
                <a:latin typeface="Times New Roman" panose="02020603050405020304" pitchFamily="18" charset="0"/>
                <a:cs typeface="Times New Roman" panose="02020603050405020304" pitchFamily="18" charset="0"/>
              </a:rPr>
              <a:t> з камери користувача, порівнюючи його з еталонними моделями рухів для підрахунку повторень та оцінки точності в реальному часі. Окрім відстеження прогресу та збереження історії тренувань у базі даних (</a:t>
            </a:r>
            <a:r>
              <a:rPr lang="en-US" dirty="0">
                <a:latin typeface="Times New Roman" panose="02020603050405020304" pitchFamily="18" charset="0"/>
                <a:cs typeface="Times New Roman" panose="02020603050405020304" pitchFamily="18" charset="0"/>
              </a:rPr>
              <a:t>MongoDB), </a:t>
            </a:r>
            <a:r>
              <a:rPr lang="uk-UA" dirty="0">
                <a:latin typeface="Times New Roman" panose="02020603050405020304" pitchFamily="18" charset="0"/>
                <a:cs typeface="Times New Roman" panose="02020603050405020304" pitchFamily="18" charset="0"/>
              </a:rPr>
              <a:t>система використовує </a:t>
            </a:r>
            <a:r>
              <a:rPr lang="en-US" dirty="0">
                <a:latin typeface="Times New Roman" panose="02020603050405020304" pitchFamily="18" charset="0"/>
                <a:cs typeface="Times New Roman" panose="02020603050405020304" pitchFamily="18" charset="0"/>
              </a:rPr>
              <a:t>Google Gemini API </a:t>
            </a:r>
            <a:r>
              <a:rPr lang="uk-UA" dirty="0">
                <a:latin typeface="Times New Roman" panose="02020603050405020304" pitchFamily="18" charset="0"/>
                <a:cs typeface="Times New Roman" panose="02020603050405020304" pitchFamily="18" charset="0"/>
              </a:rPr>
              <a:t>для надання персоналізованих ШІ-консультацій на основі індивідуальної статистики користувача.</a:t>
            </a:r>
            <a:endParaRPr lang="uk-UA" dirty="0">
              <a:effectLst/>
              <a:latin typeface="Times New Roman" panose="02020603050405020304" pitchFamily="18" charset="0"/>
              <a:cs typeface="Times New Roman" panose="02020603050405020304" pitchFamily="18" charset="0"/>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1016000" y="635000"/>
            <a:ext cx="12700000" cy="635000"/>
          </a:xfrm>
          <a:prstGeom prst="rect">
            <a:avLst/>
          </a:prstGeom>
          <a:noFill/>
          <a:ln/>
        </p:spPr>
        <p:txBody>
          <a:bodyPr wrap="square" lIns="0" tIns="0" rIns="0" bIns="0" rtlCol="0" anchor="t"/>
          <a:lstStyle/>
          <a:p>
            <a:pPr>
              <a:lnSpc>
                <a:spcPct val="120000"/>
              </a:lnSpc>
            </a:pPr>
            <a:r>
              <a:rPr lang="en-US" sz="3600" b="1" dirty="0">
                <a:solidFill>
                  <a:srgbClr val="3C4A5A"/>
                </a:solidFill>
                <a:latin typeface="Times New Roman" panose="02020603050405020304" pitchFamily="18" charset="0"/>
                <a:ea typeface="Liter"/>
                <a:cs typeface="Times New Roman" panose="02020603050405020304" pitchFamily="18" charset="0"/>
              </a:rPr>
              <a:t>Реалізація: Візуальна навігація (Muscle Map)</a:t>
            </a:r>
          </a:p>
        </p:txBody>
      </p:sp>
      <p:sp>
        <p:nvSpPr>
          <p:cNvPr id="3" name="Shape 1"/>
          <p:cNvSpPr/>
          <p:nvPr/>
        </p:nvSpPr>
        <p:spPr>
          <a:xfrm>
            <a:off x="1016000" y="1524000"/>
            <a:ext cx="14224000" cy="1016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4" name="Shape 2"/>
          <p:cNvSpPr/>
          <p:nvPr/>
        </p:nvSpPr>
        <p:spPr>
          <a:xfrm>
            <a:off x="1397000" y="1778000"/>
            <a:ext cx="431800" cy="431800"/>
          </a:xfrm>
          <a:custGeom>
            <a:avLst/>
            <a:gdLst/>
            <a:ahLst/>
            <a:cxnLst/>
            <a:rect l="l" t="t" r="r" b="b"/>
            <a:pathLst>
              <a:path w="431800" h="431800">
                <a:moveTo>
                  <a:pt x="123371" y="33734"/>
                </a:moveTo>
                <a:cubicBezTo>
                  <a:pt x="123371" y="15096"/>
                  <a:pt x="140624" y="0"/>
                  <a:pt x="161925" y="0"/>
                </a:cubicBezTo>
                <a:cubicBezTo>
                  <a:pt x="183226" y="0"/>
                  <a:pt x="200479" y="15096"/>
                  <a:pt x="200479" y="33734"/>
                </a:cubicBezTo>
                <a:lnTo>
                  <a:pt x="200479" y="158720"/>
                </a:lnTo>
                <a:cubicBezTo>
                  <a:pt x="208671" y="152311"/>
                  <a:pt x="219466" y="148431"/>
                  <a:pt x="231321" y="148431"/>
                </a:cubicBezTo>
                <a:cubicBezTo>
                  <a:pt x="251177" y="148431"/>
                  <a:pt x="268140" y="159395"/>
                  <a:pt x="274694" y="174744"/>
                </a:cubicBezTo>
                <a:cubicBezTo>
                  <a:pt x="283176" y="166901"/>
                  <a:pt x="295128" y="161925"/>
                  <a:pt x="308429" y="161925"/>
                </a:cubicBezTo>
                <a:cubicBezTo>
                  <a:pt x="332814" y="161925"/>
                  <a:pt x="352765" y="178371"/>
                  <a:pt x="354596" y="199286"/>
                </a:cubicBezTo>
                <a:cubicBezTo>
                  <a:pt x="362789" y="192792"/>
                  <a:pt x="373680" y="188913"/>
                  <a:pt x="385536" y="188913"/>
                </a:cubicBezTo>
                <a:cubicBezTo>
                  <a:pt x="411077" y="188913"/>
                  <a:pt x="431800" y="207045"/>
                  <a:pt x="431800" y="229394"/>
                </a:cubicBezTo>
                <a:lnTo>
                  <a:pt x="431800" y="323850"/>
                </a:lnTo>
                <a:cubicBezTo>
                  <a:pt x="431800" y="383476"/>
                  <a:pt x="376572" y="431800"/>
                  <a:pt x="308429" y="431800"/>
                </a:cubicBezTo>
                <a:lnTo>
                  <a:pt x="226213" y="431800"/>
                </a:lnTo>
                <a:cubicBezTo>
                  <a:pt x="221394" y="431800"/>
                  <a:pt x="216671" y="431547"/>
                  <a:pt x="212045" y="430957"/>
                </a:cubicBezTo>
                <a:cubicBezTo>
                  <a:pt x="158744" y="426234"/>
                  <a:pt x="109685" y="402282"/>
                  <a:pt x="77107" y="364331"/>
                </a:cubicBezTo>
                <a:lnTo>
                  <a:pt x="7711" y="283369"/>
                </a:lnTo>
                <a:cubicBezTo>
                  <a:pt x="-5108" y="268441"/>
                  <a:pt x="-1639" y="247357"/>
                  <a:pt x="15421" y="236141"/>
                </a:cubicBezTo>
                <a:cubicBezTo>
                  <a:pt x="32481" y="224924"/>
                  <a:pt x="56577" y="227960"/>
                  <a:pt x="69396" y="242888"/>
                </a:cubicBezTo>
                <a:lnTo>
                  <a:pt x="123371" y="305886"/>
                </a:lnTo>
                <a:lnTo>
                  <a:pt x="123371" y="33734"/>
                </a:lnTo>
                <a:close/>
                <a:moveTo>
                  <a:pt x="231321" y="256381"/>
                </a:moveTo>
                <a:cubicBezTo>
                  <a:pt x="231321" y="248960"/>
                  <a:pt x="224382" y="242888"/>
                  <a:pt x="215900" y="242888"/>
                </a:cubicBezTo>
                <a:cubicBezTo>
                  <a:pt x="207418" y="242888"/>
                  <a:pt x="200479" y="248960"/>
                  <a:pt x="200479" y="256381"/>
                </a:cubicBezTo>
                <a:lnTo>
                  <a:pt x="200479" y="337344"/>
                </a:lnTo>
                <a:cubicBezTo>
                  <a:pt x="200479" y="344765"/>
                  <a:pt x="207418" y="350838"/>
                  <a:pt x="215900" y="350838"/>
                </a:cubicBezTo>
                <a:cubicBezTo>
                  <a:pt x="224382" y="350838"/>
                  <a:pt x="231321" y="344765"/>
                  <a:pt x="231321" y="337344"/>
                </a:cubicBezTo>
                <a:lnTo>
                  <a:pt x="231321" y="256381"/>
                </a:lnTo>
                <a:close/>
                <a:moveTo>
                  <a:pt x="277586" y="242888"/>
                </a:moveTo>
                <a:cubicBezTo>
                  <a:pt x="269104" y="242888"/>
                  <a:pt x="262164" y="248960"/>
                  <a:pt x="262164" y="256381"/>
                </a:cubicBezTo>
                <a:lnTo>
                  <a:pt x="262164" y="337344"/>
                </a:lnTo>
                <a:cubicBezTo>
                  <a:pt x="262164" y="344765"/>
                  <a:pt x="269104" y="350838"/>
                  <a:pt x="277586" y="350838"/>
                </a:cubicBezTo>
                <a:cubicBezTo>
                  <a:pt x="286068" y="350838"/>
                  <a:pt x="293007" y="344765"/>
                  <a:pt x="293007" y="337344"/>
                </a:cubicBezTo>
                <a:lnTo>
                  <a:pt x="293007" y="256381"/>
                </a:lnTo>
                <a:cubicBezTo>
                  <a:pt x="293007" y="248960"/>
                  <a:pt x="286068" y="242888"/>
                  <a:pt x="277586" y="242888"/>
                </a:cubicBezTo>
                <a:close/>
                <a:moveTo>
                  <a:pt x="354693" y="256381"/>
                </a:moveTo>
                <a:cubicBezTo>
                  <a:pt x="354693" y="248960"/>
                  <a:pt x="347753" y="242888"/>
                  <a:pt x="339271" y="242888"/>
                </a:cubicBezTo>
                <a:cubicBezTo>
                  <a:pt x="330790" y="242888"/>
                  <a:pt x="323850" y="248960"/>
                  <a:pt x="323850" y="256381"/>
                </a:cubicBezTo>
                <a:lnTo>
                  <a:pt x="323850" y="337344"/>
                </a:lnTo>
                <a:cubicBezTo>
                  <a:pt x="323850" y="344765"/>
                  <a:pt x="330790" y="350838"/>
                  <a:pt x="339271" y="350838"/>
                </a:cubicBezTo>
                <a:cubicBezTo>
                  <a:pt x="347753" y="350838"/>
                  <a:pt x="354693" y="344765"/>
                  <a:pt x="354693" y="337344"/>
                </a:cubicBezTo>
                <a:lnTo>
                  <a:pt x="354693" y="256381"/>
                </a:lnTo>
                <a:close/>
              </a:path>
            </a:pathLst>
          </a:custGeom>
          <a:solidFill>
            <a:srgbClr val="FFC107"/>
          </a:solidFill>
          <a:ln/>
        </p:spPr>
      </p:sp>
      <p:sp>
        <p:nvSpPr>
          <p:cNvPr id="5" name="Text 3"/>
          <p:cNvSpPr/>
          <p:nvPr/>
        </p:nvSpPr>
        <p:spPr>
          <a:xfrm>
            <a:off x="2032000" y="1651000"/>
            <a:ext cx="12954000" cy="762000"/>
          </a:xfrm>
          <a:prstGeom prst="rect">
            <a:avLst/>
          </a:prstGeom>
          <a:noFill/>
          <a:ln/>
        </p:spPr>
        <p:txBody>
          <a:bodyPr wrap="square" lIns="0" tIns="0" rIns="0" bIns="0" rtlCol="0" anchor="ctr"/>
          <a:lstStyle/>
          <a:p>
            <a:pPr algn="l">
              <a:lnSpc>
                <a:spcPct val="14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Вибір вправ відбувається через </a:t>
            </a: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клікабельну SVG-модель</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людини. Інтерфейс стилізовано під </a:t>
            </a: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Glassmorphism</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за допомогою Tailwind CSS.</a:t>
            </a:r>
            <a:endParaRPr lang="en-US" sz="1800" dirty="0"/>
          </a:p>
        </p:txBody>
      </p:sp>
      <p:sp>
        <p:nvSpPr>
          <p:cNvPr id="6" name="Shape 4"/>
          <p:cNvSpPr/>
          <p:nvPr/>
        </p:nvSpPr>
        <p:spPr>
          <a:xfrm>
            <a:off x="1016000" y="2794000"/>
            <a:ext cx="8479692" cy="5842000"/>
          </a:xfrm>
          <a:prstGeom prst="roundRect">
            <a:avLst>
              <a:gd name="adj" fmla="val 8000"/>
            </a:avLst>
          </a:prstGeom>
          <a:solidFill>
            <a:srgbClr val="2D2D2D"/>
          </a:solidFill>
          <a:ln/>
          <a:effectLst>
            <a:outerShdw blurRad="101600" dist="25400" dir="5400000" algn="bl" rotWithShape="0">
              <a:srgbClr val="000000">
                <a:alpha val="7059"/>
              </a:srgbClr>
            </a:outerShdw>
          </a:effectLst>
        </p:spPr>
      </p:sp>
      <p:sp>
        <p:nvSpPr>
          <p:cNvPr id="7" name="Shape 5"/>
          <p:cNvSpPr/>
          <p:nvPr/>
        </p:nvSpPr>
        <p:spPr>
          <a:xfrm>
            <a:off x="1016000" y="2794000"/>
            <a:ext cx="8479692" cy="508000"/>
          </a:xfrm>
          <a:prstGeom prst="roundRect">
            <a:avLst>
              <a:gd name="adj" fmla="val 8000"/>
            </a:avLst>
          </a:prstGeom>
          <a:solidFill>
            <a:srgbClr val="3D3D3D"/>
          </a:solidFill>
          <a:ln/>
        </p:spPr>
      </p:sp>
      <p:sp>
        <p:nvSpPr>
          <p:cNvPr id="8" name="Text 6"/>
          <p:cNvSpPr/>
          <p:nvPr/>
        </p:nvSpPr>
        <p:spPr>
          <a:xfrm>
            <a:off x="1270000" y="2794000"/>
            <a:ext cx="1270000" cy="508000"/>
          </a:xfrm>
          <a:prstGeom prst="rect">
            <a:avLst/>
          </a:prstGeom>
          <a:noFill/>
          <a:ln/>
        </p:spPr>
        <p:txBody>
          <a:bodyPr wrap="square" lIns="0" tIns="0" rIns="0" bIns="0" rtlCol="0" anchor="ctr"/>
          <a:lstStyle/>
          <a:p>
            <a:pPr algn="l">
              <a:lnSpc>
                <a:spcPct val="120000"/>
              </a:lnSpc>
            </a:pPr>
            <a:r>
              <a:rPr lang="en-US" sz="1400" dirty="0">
                <a:solidFill>
                  <a:srgbClr val="FF5F56"/>
                </a:solidFill>
                <a:latin typeface="Courier New" pitchFamily="34" charset="0"/>
                <a:ea typeface="Courier New" pitchFamily="34" charset="-122"/>
                <a:cs typeface="Courier New" pitchFamily="34" charset="-120"/>
              </a:rPr>
              <a:t>●</a:t>
            </a:r>
            <a:r>
              <a:rPr lang="en-US" sz="1400" dirty="0">
                <a:solidFill>
                  <a:srgbClr val="8E8E8E"/>
                </a:solidFill>
                <a:latin typeface="Courier New" pitchFamily="34" charset="0"/>
                <a:ea typeface="Courier New" pitchFamily="34" charset="-122"/>
                <a:cs typeface="Courier New" pitchFamily="34" charset="-120"/>
              </a:rPr>
              <a:t> </a:t>
            </a:r>
            <a:r>
              <a:rPr lang="en-US" sz="1400" dirty="0">
                <a:solidFill>
                  <a:srgbClr val="FFBD2E"/>
                </a:solidFill>
                <a:latin typeface="Courier New" pitchFamily="34" charset="0"/>
                <a:ea typeface="Courier New" pitchFamily="34" charset="-122"/>
                <a:cs typeface="Courier New" pitchFamily="34" charset="-120"/>
              </a:rPr>
              <a:t>●</a:t>
            </a:r>
            <a:r>
              <a:rPr lang="en-US" sz="1400" dirty="0">
                <a:solidFill>
                  <a:srgbClr val="8E8E8E"/>
                </a:solidFill>
                <a:latin typeface="Courier New" pitchFamily="34" charset="0"/>
                <a:ea typeface="Courier New" pitchFamily="34" charset="-122"/>
                <a:cs typeface="Courier New" pitchFamily="34" charset="-120"/>
              </a:rPr>
              <a:t> </a:t>
            </a:r>
            <a:r>
              <a:rPr lang="en-US" sz="1400" dirty="0">
                <a:solidFill>
                  <a:srgbClr val="27C93F"/>
                </a:solidFill>
                <a:latin typeface="Courier New" pitchFamily="34" charset="0"/>
                <a:ea typeface="Courier New" pitchFamily="34" charset="-122"/>
                <a:cs typeface="Courier New" pitchFamily="34" charset="-120"/>
              </a:rPr>
              <a:t>●</a:t>
            </a:r>
            <a:endParaRPr lang="en-US" sz="1400" dirty="0"/>
          </a:p>
        </p:txBody>
      </p:sp>
      <p:sp>
        <p:nvSpPr>
          <p:cNvPr id="9" name="Text 7"/>
          <p:cNvSpPr/>
          <p:nvPr/>
        </p:nvSpPr>
        <p:spPr>
          <a:xfrm>
            <a:off x="2207846" y="2762250"/>
            <a:ext cx="6096000" cy="508000"/>
          </a:xfrm>
          <a:prstGeom prst="rect">
            <a:avLst/>
          </a:prstGeom>
          <a:noFill/>
          <a:ln/>
        </p:spPr>
        <p:txBody>
          <a:bodyPr wrap="none" lIns="0" tIns="0" rIns="0" bIns="0" rtlCol="0" anchor="ctr"/>
          <a:lstStyle/>
          <a:p>
            <a:pPr algn="ctr">
              <a:lnSpc>
                <a:spcPct val="120000"/>
              </a:lnSpc>
            </a:pPr>
            <a:r>
              <a:rPr lang="en-US" sz="1400" dirty="0">
                <a:solidFill>
                  <a:srgbClr val="B0B0B0"/>
                </a:solidFill>
                <a:latin typeface="Courier New" pitchFamily="34" charset="0"/>
                <a:ea typeface="Courier New" pitchFamily="34" charset="-122"/>
                <a:cs typeface="Courier New" pitchFamily="34" charset="-120"/>
              </a:rPr>
              <a:t>MuscleMap Component</a:t>
            </a:r>
            <a:endParaRPr lang="en-US" sz="1400" dirty="0"/>
          </a:p>
        </p:txBody>
      </p:sp>
      <p:sp>
        <p:nvSpPr>
          <p:cNvPr id="10" name="Text 8"/>
          <p:cNvSpPr/>
          <p:nvPr/>
        </p:nvSpPr>
        <p:spPr>
          <a:xfrm>
            <a:off x="1397000" y="3492500"/>
            <a:ext cx="13462000" cy="4953000"/>
          </a:xfrm>
          <a:prstGeom prst="rect">
            <a:avLst/>
          </a:prstGeom>
          <a:noFill/>
          <a:ln/>
        </p:spPr>
        <p:txBody>
          <a:bodyPr wrap="square" lIns="0" tIns="0" rIns="0" bIns="0" rtlCol="0" anchor="t"/>
          <a:lstStyle/>
          <a:p>
            <a:pPr algn="l">
              <a:lnSpc>
                <a:spcPct val="150000"/>
              </a:lnSpc>
            </a:pPr>
            <a:r>
              <a:rPr lang="en-US" sz="1400" dirty="0">
                <a:solidFill>
                  <a:srgbClr val="C792EA"/>
                </a:solidFill>
                <a:latin typeface="Courier New" pitchFamily="34" charset="0"/>
                <a:ea typeface="Courier New" pitchFamily="34" charset="-122"/>
                <a:cs typeface="Courier New" pitchFamily="34" charset="-120"/>
              </a:rPr>
              <a:t>const</a:t>
            </a: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82AAFF"/>
                </a:solidFill>
                <a:latin typeface="Courier New" pitchFamily="34" charset="0"/>
                <a:ea typeface="Courier New" pitchFamily="34" charset="-122"/>
                <a:cs typeface="Courier New" pitchFamily="34" charset="-120"/>
              </a:rPr>
              <a:t>handleMuscleClick</a:t>
            </a:r>
            <a:r>
              <a:rPr lang="en-US" sz="1400" dirty="0">
                <a:solidFill>
                  <a:srgbClr val="E0E0E0"/>
                </a:solidFill>
                <a:latin typeface="Courier New" pitchFamily="34" charset="0"/>
                <a:ea typeface="Courier New" pitchFamily="34" charset="-122"/>
                <a:cs typeface="Courier New" pitchFamily="34" charset="-120"/>
              </a:rPr>
              <a:t> = (muscleId) =&gt;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676E95"/>
                </a:solidFill>
                <a:latin typeface="Courier New" pitchFamily="34" charset="0"/>
                <a:ea typeface="Courier New" pitchFamily="34" charset="-122"/>
                <a:cs typeface="Courier New" pitchFamily="34" charset="-120"/>
              </a:rPr>
              <a:t>// Зміна кольору м'яза при виділенні</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82AAFF"/>
                </a:solidFill>
                <a:latin typeface="Courier New" pitchFamily="34" charset="0"/>
                <a:ea typeface="Courier New" pitchFamily="34" charset="-122"/>
                <a:cs typeface="Courier New" pitchFamily="34" charset="-120"/>
              </a:rPr>
              <a:t>setActiveMuscle</a:t>
            </a:r>
            <a:r>
              <a:rPr lang="en-US" sz="1400" dirty="0">
                <a:solidFill>
                  <a:srgbClr val="E0E0E0"/>
                </a:solidFill>
                <a:latin typeface="Courier New" pitchFamily="34" charset="0"/>
                <a:ea typeface="Courier New" pitchFamily="34" charset="-122"/>
                <a:cs typeface="Courier New" pitchFamily="34" charset="-120"/>
              </a:rPr>
              <a:t>(muscleId);</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676E95"/>
                </a:solidFill>
                <a:latin typeface="Courier New" pitchFamily="34" charset="0"/>
                <a:ea typeface="Courier New" pitchFamily="34" charset="-122"/>
                <a:cs typeface="Courier New" pitchFamily="34" charset="-120"/>
              </a:rPr>
              <a:t>// Асинхронний запит до ExerciseDB</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82AAFF"/>
                </a:solidFill>
                <a:latin typeface="Courier New" pitchFamily="34" charset="0"/>
                <a:ea typeface="Courier New" pitchFamily="34" charset="-122"/>
                <a:cs typeface="Courier New" pitchFamily="34" charset="-120"/>
              </a:rPr>
              <a:t>fetchExercisesByTarget</a:t>
            </a:r>
            <a:r>
              <a:rPr lang="en-US" sz="1400" dirty="0">
                <a:solidFill>
                  <a:srgbClr val="E0E0E0"/>
                </a:solidFill>
                <a:latin typeface="Courier New" pitchFamily="34" charset="0"/>
                <a:ea typeface="Courier New" pitchFamily="34" charset="-122"/>
                <a:cs typeface="Courier New" pitchFamily="34" charset="-120"/>
              </a:rPr>
              <a:t>(muscleId)</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82AAFF"/>
                </a:solidFill>
                <a:latin typeface="Courier New" pitchFamily="34" charset="0"/>
                <a:ea typeface="Courier New" pitchFamily="34" charset="-122"/>
                <a:cs typeface="Courier New" pitchFamily="34" charset="-120"/>
              </a:rPr>
              <a:t>then</a:t>
            </a:r>
            <a:r>
              <a:rPr lang="en-US" sz="1400" dirty="0">
                <a:solidFill>
                  <a:srgbClr val="E0E0E0"/>
                </a:solidFill>
                <a:latin typeface="Courier New" pitchFamily="34" charset="0"/>
                <a:ea typeface="Courier New" pitchFamily="34" charset="-122"/>
                <a:cs typeface="Courier New" pitchFamily="34" charset="-120"/>
              </a:rPr>
              <a:t>(data =&gt; </a:t>
            </a:r>
            <a:r>
              <a:rPr lang="en-US" sz="1400" dirty="0">
                <a:solidFill>
                  <a:srgbClr val="82AAFF"/>
                </a:solidFill>
                <a:latin typeface="Courier New" pitchFamily="34" charset="0"/>
                <a:ea typeface="Courier New" pitchFamily="34" charset="-122"/>
                <a:cs typeface="Courier New" pitchFamily="34" charset="-120"/>
              </a:rPr>
              <a:t>setAvailableExercises</a:t>
            </a:r>
            <a:r>
              <a:rPr lang="en-US" sz="1400" dirty="0">
                <a:solidFill>
                  <a:srgbClr val="E0E0E0"/>
                </a:solidFill>
                <a:latin typeface="Courier New" pitchFamily="34" charset="0"/>
                <a:ea typeface="Courier New" pitchFamily="34" charset="-122"/>
                <a:cs typeface="Courier New" pitchFamily="34" charset="-120"/>
              </a:rPr>
              <a:t>(data))</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82AAFF"/>
                </a:solidFill>
                <a:latin typeface="Courier New" pitchFamily="34" charset="0"/>
                <a:ea typeface="Courier New" pitchFamily="34" charset="-122"/>
                <a:cs typeface="Courier New" pitchFamily="34" charset="-120"/>
              </a:rPr>
              <a:t>catch</a:t>
            </a:r>
            <a:r>
              <a:rPr lang="en-US" sz="1400" dirty="0">
                <a:solidFill>
                  <a:srgbClr val="E0E0E0"/>
                </a:solidFill>
                <a:latin typeface="Courier New" pitchFamily="34" charset="0"/>
                <a:ea typeface="Courier New" pitchFamily="34" charset="-122"/>
                <a:cs typeface="Courier New" pitchFamily="34" charset="-120"/>
              </a:rPr>
              <a:t>(err =&gt; console.</a:t>
            </a:r>
            <a:r>
              <a:rPr lang="en-US" sz="1400" dirty="0">
                <a:solidFill>
                  <a:srgbClr val="82AAFF"/>
                </a:solidFill>
                <a:latin typeface="Courier New" pitchFamily="34" charset="0"/>
                <a:ea typeface="Courier New" pitchFamily="34" charset="-122"/>
                <a:cs typeface="Courier New" pitchFamily="34" charset="-120"/>
              </a:rPr>
              <a:t>error</a:t>
            </a:r>
            <a:r>
              <a:rPr lang="en-US" sz="1400" dirty="0">
                <a:solidFill>
                  <a:srgbClr val="E0E0E0"/>
                </a:solidFill>
                <a:latin typeface="Courier New" pitchFamily="34" charset="0"/>
                <a:ea typeface="Courier New" pitchFamily="34" charset="-122"/>
                <a:cs typeface="Courier New" pitchFamily="34" charset="-120"/>
              </a:rPr>
              <a:t>(</a:t>
            </a:r>
            <a:r>
              <a:rPr lang="en-US" sz="1400" dirty="0">
                <a:solidFill>
                  <a:srgbClr val="C3E88D"/>
                </a:solidFill>
                <a:latin typeface="Courier New" pitchFamily="34" charset="0"/>
                <a:ea typeface="Courier New" pitchFamily="34" charset="-122"/>
                <a:cs typeface="Courier New" pitchFamily="34" charset="-120"/>
              </a:rPr>
              <a:t>"API Error"</a:t>
            </a:r>
            <a:r>
              <a:rPr lang="en-US" sz="1400" dirty="0">
                <a:solidFill>
                  <a:srgbClr val="E0E0E0"/>
                </a:solidFill>
                <a:latin typeface="Courier New" pitchFamily="34" charset="0"/>
                <a:ea typeface="Courier New" pitchFamily="34" charset="-122"/>
                <a:cs typeface="Courier New" pitchFamily="34" charset="-120"/>
              </a:rPr>
              <a:t>, err));</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a:t>
            </a:r>
            <a:endParaRPr lang="en-US" sz="1400" dirty="0"/>
          </a:p>
          <a:p>
            <a:pPr algn="l">
              <a:lnSpc>
                <a:spcPct val="150000"/>
              </a:lnSpc>
            </a:pPr>
            <a:endParaRPr lang="en-US" sz="1400" dirty="0"/>
          </a:p>
          <a:p>
            <a:pPr algn="l">
              <a:lnSpc>
                <a:spcPct val="150000"/>
              </a:lnSpc>
            </a:pPr>
            <a:r>
              <a:rPr lang="en-US" sz="1400" dirty="0">
                <a:solidFill>
                  <a:srgbClr val="676E95"/>
                </a:solidFill>
                <a:latin typeface="Courier New" pitchFamily="34" charset="0"/>
                <a:ea typeface="Courier New" pitchFamily="34" charset="-122"/>
                <a:cs typeface="Courier New" pitchFamily="34" charset="-120"/>
              </a:rPr>
              <a:t>// Дизайн з ефектом скла (Glassmorphism)</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&lt;div className=</a:t>
            </a:r>
            <a:r>
              <a:rPr lang="en-US" sz="1400" dirty="0">
                <a:solidFill>
                  <a:srgbClr val="C3E88D"/>
                </a:solidFill>
                <a:latin typeface="Courier New" pitchFamily="34" charset="0"/>
                <a:ea typeface="Courier New" pitchFamily="34" charset="-122"/>
                <a:cs typeface="Courier New" pitchFamily="34" charset="-120"/>
              </a:rPr>
              <a:t>"bg-zinc-900/50 backdrop-blur-xl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C3E88D"/>
                </a:solidFill>
                <a:latin typeface="Courier New" pitchFamily="34" charset="0"/>
                <a:ea typeface="Courier New" pitchFamily="34" charset="-122"/>
                <a:cs typeface="Courier New" pitchFamily="34" charset="-120"/>
              </a:rPr>
              <a:t>border border-white/10 rounded-3xl"</a:t>
            </a:r>
            <a:r>
              <a:rPr lang="en-US" sz="1400" dirty="0">
                <a:solidFill>
                  <a:srgbClr val="E0E0E0"/>
                </a:solidFill>
                <a:latin typeface="Courier New" pitchFamily="34" charset="0"/>
                <a:ea typeface="Courier New" pitchFamily="34" charset="-122"/>
                <a:cs typeface="Courier New" pitchFamily="34" charset="-120"/>
              </a:rPr>
              <a:t>&gt;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&lt;MuscleMapSVG onSelect={handleMuscleClick} active={activeMuscle} /&gt;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&lt;/div&gt;</a:t>
            </a:r>
            <a:endParaRPr lang="en-US" sz="1400" dirty="0"/>
          </a:p>
        </p:txBody>
      </p:sp>
      <p:pic>
        <p:nvPicPr>
          <p:cNvPr id="11" name="Picture 10">
            <a:extLst>
              <a:ext uri="{FF2B5EF4-FFF2-40B4-BE49-F238E27FC236}">
                <a16:creationId xmlns:a16="http://schemas.microsoft.com/office/drawing/2014/main" id="{BD6B73B6-CAA8-4882-AF8E-B66139968735}"/>
              </a:ext>
            </a:extLst>
          </p:cNvPr>
          <p:cNvPicPr/>
          <p:nvPr/>
        </p:nvPicPr>
        <p:blipFill rotWithShape="1">
          <a:blip r:embed="rId3"/>
          <a:srcRect r="42558"/>
          <a:stretch/>
        </p:blipFill>
        <p:spPr>
          <a:xfrm>
            <a:off x="9564747" y="2209800"/>
            <a:ext cx="6359099" cy="6609862"/>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1016000" y="635000"/>
            <a:ext cx="11430000" cy="635000"/>
          </a:xfrm>
          <a:prstGeom prst="rect">
            <a:avLst/>
          </a:prstGeom>
          <a:noFill/>
          <a:ln/>
        </p:spPr>
        <p:txBody>
          <a:bodyPr wrap="square" lIns="0" tIns="0" rIns="0" bIns="0" rtlCol="0" anchor="t"/>
          <a:lstStyle/>
          <a:p>
            <a:pPr>
              <a:lnSpc>
                <a:spcPct val="120000"/>
              </a:lnSpc>
            </a:pPr>
            <a:r>
              <a:rPr lang="en-US" sz="3600" b="1" dirty="0">
                <a:solidFill>
                  <a:srgbClr val="3C4A5A"/>
                </a:solidFill>
                <a:latin typeface="Times New Roman" panose="02020603050405020304" pitchFamily="18" charset="0"/>
                <a:ea typeface="Liter"/>
                <a:cs typeface="Times New Roman" panose="02020603050405020304" pitchFamily="18" charset="0"/>
              </a:rPr>
              <a:t>Реалізація: Отримання контенту </a:t>
            </a:r>
            <a:r>
              <a:rPr lang="en-US" sz="3600" b="1" dirty="0" err="1">
                <a:solidFill>
                  <a:srgbClr val="3C4A5A"/>
                </a:solidFill>
                <a:latin typeface="Times New Roman" panose="02020603050405020304" pitchFamily="18" charset="0"/>
                <a:ea typeface="Liter"/>
                <a:cs typeface="Times New Roman" panose="02020603050405020304" pitchFamily="18" charset="0"/>
              </a:rPr>
              <a:t>через</a:t>
            </a:r>
            <a:r>
              <a:rPr lang="en-US" sz="3600" b="1" dirty="0">
                <a:solidFill>
                  <a:srgbClr val="3C4A5A"/>
                </a:solidFill>
                <a:latin typeface="Times New Roman" panose="02020603050405020304" pitchFamily="18" charset="0"/>
                <a:ea typeface="Liter"/>
                <a:cs typeface="Times New Roman" panose="02020603050405020304" pitchFamily="18" charset="0"/>
              </a:rPr>
              <a:t> API</a:t>
            </a:r>
          </a:p>
        </p:txBody>
      </p:sp>
      <p:sp>
        <p:nvSpPr>
          <p:cNvPr id="3" name="Shape 1"/>
          <p:cNvSpPr/>
          <p:nvPr/>
        </p:nvSpPr>
        <p:spPr>
          <a:xfrm>
            <a:off x="1016000" y="1524000"/>
            <a:ext cx="14224000" cy="1016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4" name="Shape 2"/>
          <p:cNvSpPr/>
          <p:nvPr/>
        </p:nvSpPr>
        <p:spPr>
          <a:xfrm>
            <a:off x="1397000" y="1778000"/>
            <a:ext cx="431800" cy="431800"/>
          </a:xfrm>
          <a:custGeom>
            <a:avLst/>
            <a:gdLst/>
            <a:ahLst/>
            <a:cxnLst/>
            <a:rect l="l" t="t" r="r" b="b"/>
            <a:pathLst>
              <a:path w="431800" h="431800">
                <a:moveTo>
                  <a:pt x="107950" y="404813"/>
                </a:moveTo>
                <a:cubicBezTo>
                  <a:pt x="48353" y="404813"/>
                  <a:pt x="0" y="350416"/>
                  <a:pt x="0" y="283369"/>
                </a:cubicBezTo>
                <a:cubicBezTo>
                  <a:pt x="0" y="229900"/>
                  <a:pt x="30736" y="184527"/>
                  <a:pt x="73391" y="168250"/>
                </a:cubicBezTo>
                <a:cubicBezTo>
                  <a:pt x="72416" y="161756"/>
                  <a:pt x="71967" y="155178"/>
                  <a:pt x="71967" y="148431"/>
                </a:cubicBezTo>
                <a:cubicBezTo>
                  <a:pt x="71967" y="81384"/>
                  <a:pt x="120319" y="26988"/>
                  <a:pt x="179917" y="26988"/>
                </a:cubicBezTo>
                <a:cubicBezTo>
                  <a:pt x="221447" y="26988"/>
                  <a:pt x="257506" y="53385"/>
                  <a:pt x="275572" y="92011"/>
                </a:cubicBezTo>
                <a:cubicBezTo>
                  <a:pt x="286217" y="85011"/>
                  <a:pt x="298662" y="80962"/>
                  <a:pt x="311856" y="80962"/>
                </a:cubicBezTo>
                <a:cubicBezTo>
                  <a:pt x="351587" y="80962"/>
                  <a:pt x="383822" y="117227"/>
                  <a:pt x="383822" y="161925"/>
                </a:cubicBezTo>
                <a:cubicBezTo>
                  <a:pt x="383822" y="175166"/>
                  <a:pt x="380974" y="187732"/>
                  <a:pt x="375951" y="198780"/>
                </a:cubicBezTo>
                <a:cubicBezTo>
                  <a:pt x="408936" y="215900"/>
                  <a:pt x="431800" y="253345"/>
                  <a:pt x="431800" y="296863"/>
                </a:cubicBezTo>
                <a:cubicBezTo>
                  <a:pt x="431800" y="356488"/>
                  <a:pt x="388845" y="404813"/>
                  <a:pt x="335844" y="404813"/>
                </a:cubicBezTo>
                <a:lnTo>
                  <a:pt x="107950" y="404813"/>
                </a:lnTo>
                <a:close/>
                <a:moveTo>
                  <a:pt x="282619" y="263971"/>
                </a:moveTo>
                <a:cubicBezTo>
                  <a:pt x="289666" y="256044"/>
                  <a:pt x="289666" y="243225"/>
                  <a:pt x="282619" y="235382"/>
                </a:cubicBezTo>
                <a:cubicBezTo>
                  <a:pt x="275572" y="227538"/>
                  <a:pt x="264178" y="227454"/>
                  <a:pt x="257206" y="235382"/>
                </a:cubicBezTo>
                <a:lnTo>
                  <a:pt x="233967" y="261526"/>
                </a:lnTo>
                <a:lnTo>
                  <a:pt x="233967" y="175419"/>
                </a:lnTo>
                <a:cubicBezTo>
                  <a:pt x="233967" y="164202"/>
                  <a:pt x="225945" y="155178"/>
                  <a:pt x="215975" y="155178"/>
                </a:cubicBezTo>
                <a:cubicBezTo>
                  <a:pt x="206005" y="155178"/>
                  <a:pt x="197983" y="164202"/>
                  <a:pt x="197983" y="175419"/>
                </a:cubicBezTo>
                <a:lnTo>
                  <a:pt x="197983" y="261526"/>
                </a:lnTo>
                <a:lnTo>
                  <a:pt x="174744" y="235382"/>
                </a:lnTo>
                <a:cubicBezTo>
                  <a:pt x="167697" y="227454"/>
                  <a:pt x="156303" y="227454"/>
                  <a:pt x="149331" y="235382"/>
                </a:cubicBezTo>
                <a:cubicBezTo>
                  <a:pt x="142359" y="243309"/>
                  <a:pt x="142284" y="256128"/>
                  <a:pt x="149331" y="263971"/>
                </a:cubicBezTo>
                <a:lnTo>
                  <a:pt x="203306" y="324693"/>
                </a:lnTo>
                <a:cubicBezTo>
                  <a:pt x="210353" y="332621"/>
                  <a:pt x="221747" y="332621"/>
                  <a:pt x="228719" y="324693"/>
                </a:cubicBezTo>
                <a:lnTo>
                  <a:pt x="282694" y="263971"/>
                </a:lnTo>
                <a:close/>
              </a:path>
            </a:pathLst>
          </a:custGeom>
          <a:solidFill>
            <a:srgbClr val="0A6B70"/>
          </a:solidFill>
          <a:ln/>
        </p:spPr>
      </p:sp>
      <p:sp>
        <p:nvSpPr>
          <p:cNvPr id="5" name="Text 3"/>
          <p:cNvSpPr/>
          <p:nvPr/>
        </p:nvSpPr>
        <p:spPr>
          <a:xfrm>
            <a:off x="2032000" y="1651000"/>
            <a:ext cx="12954000" cy="762000"/>
          </a:xfrm>
          <a:prstGeom prst="rect">
            <a:avLst/>
          </a:prstGeom>
          <a:noFill/>
          <a:ln/>
        </p:spPr>
        <p:txBody>
          <a:bodyPr wrap="square" lIns="0" tIns="0" rIns="0" bIns="0" rtlCol="0" anchor="ctr"/>
          <a:lstStyle/>
          <a:p>
            <a:pPr algn="l">
              <a:lnSpc>
                <a:spcPct val="14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Інтеграція з </a:t>
            </a: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ExerciseDB</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через Axios. Асинхронне отримання інформації про вправи, цільові м'язи та GIF-анімації.</a:t>
            </a:r>
            <a:endParaRPr lang="en-US" sz="1800" dirty="0"/>
          </a:p>
        </p:txBody>
      </p:sp>
      <p:sp>
        <p:nvSpPr>
          <p:cNvPr id="6" name="Shape 4"/>
          <p:cNvSpPr/>
          <p:nvPr/>
        </p:nvSpPr>
        <p:spPr>
          <a:xfrm>
            <a:off x="1016000" y="2878610"/>
            <a:ext cx="8350738" cy="5842000"/>
          </a:xfrm>
          <a:prstGeom prst="roundRect">
            <a:avLst>
              <a:gd name="adj" fmla="val 8000"/>
            </a:avLst>
          </a:prstGeom>
          <a:solidFill>
            <a:srgbClr val="2D2D2D"/>
          </a:solidFill>
          <a:ln/>
          <a:effectLst>
            <a:outerShdw blurRad="101600" dist="25400" dir="5400000" algn="bl" rotWithShape="0">
              <a:srgbClr val="000000">
                <a:alpha val="7059"/>
              </a:srgbClr>
            </a:outerShdw>
          </a:effectLst>
        </p:spPr>
      </p:sp>
      <p:sp>
        <p:nvSpPr>
          <p:cNvPr id="7" name="Shape 5"/>
          <p:cNvSpPr/>
          <p:nvPr/>
        </p:nvSpPr>
        <p:spPr>
          <a:xfrm>
            <a:off x="1016000" y="2878610"/>
            <a:ext cx="8350738" cy="508000"/>
          </a:xfrm>
          <a:prstGeom prst="roundRect">
            <a:avLst>
              <a:gd name="adj" fmla="val 8000"/>
            </a:avLst>
          </a:prstGeom>
          <a:solidFill>
            <a:srgbClr val="3D3D3D"/>
          </a:solidFill>
          <a:ln/>
        </p:spPr>
      </p:sp>
      <p:sp>
        <p:nvSpPr>
          <p:cNvPr id="8" name="Text 6"/>
          <p:cNvSpPr/>
          <p:nvPr/>
        </p:nvSpPr>
        <p:spPr>
          <a:xfrm>
            <a:off x="1270000" y="2878610"/>
            <a:ext cx="1270000" cy="508000"/>
          </a:xfrm>
          <a:prstGeom prst="rect">
            <a:avLst/>
          </a:prstGeom>
          <a:noFill/>
          <a:ln/>
        </p:spPr>
        <p:txBody>
          <a:bodyPr wrap="square" lIns="0" tIns="0" rIns="0" bIns="0" rtlCol="0" anchor="ctr"/>
          <a:lstStyle/>
          <a:p>
            <a:pPr algn="l">
              <a:lnSpc>
                <a:spcPct val="120000"/>
              </a:lnSpc>
            </a:pPr>
            <a:r>
              <a:rPr lang="en-US" sz="1400" dirty="0">
                <a:solidFill>
                  <a:srgbClr val="FF5F56"/>
                </a:solidFill>
                <a:latin typeface="Courier New" pitchFamily="34" charset="0"/>
                <a:ea typeface="Courier New" pitchFamily="34" charset="-122"/>
                <a:cs typeface="Courier New" pitchFamily="34" charset="-120"/>
              </a:rPr>
              <a:t>●</a:t>
            </a:r>
            <a:r>
              <a:rPr lang="en-US" sz="1400" dirty="0">
                <a:solidFill>
                  <a:srgbClr val="8E8E8E"/>
                </a:solidFill>
                <a:latin typeface="Courier New" pitchFamily="34" charset="0"/>
                <a:ea typeface="Courier New" pitchFamily="34" charset="-122"/>
                <a:cs typeface="Courier New" pitchFamily="34" charset="-120"/>
              </a:rPr>
              <a:t> </a:t>
            </a:r>
            <a:r>
              <a:rPr lang="en-US" sz="1400" dirty="0">
                <a:solidFill>
                  <a:srgbClr val="FFBD2E"/>
                </a:solidFill>
                <a:latin typeface="Courier New" pitchFamily="34" charset="0"/>
                <a:ea typeface="Courier New" pitchFamily="34" charset="-122"/>
                <a:cs typeface="Courier New" pitchFamily="34" charset="-120"/>
              </a:rPr>
              <a:t>●</a:t>
            </a:r>
            <a:r>
              <a:rPr lang="en-US" sz="1400" dirty="0">
                <a:solidFill>
                  <a:srgbClr val="8E8E8E"/>
                </a:solidFill>
                <a:latin typeface="Courier New" pitchFamily="34" charset="0"/>
                <a:ea typeface="Courier New" pitchFamily="34" charset="-122"/>
                <a:cs typeface="Courier New" pitchFamily="34" charset="-120"/>
              </a:rPr>
              <a:t> </a:t>
            </a:r>
            <a:r>
              <a:rPr lang="en-US" sz="1400" dirty="0">
                <a:solidFill>
                  <a:srgbClr val="27C93F"/>
                </a:solidFill>
                <a:latin typeface="Courier New" pitchFamily="34" charset="0"/>
                <a:ea typeface="Courier New" pitchFamily="34" charset="-122"/>
                <a:cs typeface="Courier New" pitchFamily="34" charset="-120"/>
              </a:rPr>
              <a:t>●</a:t>
            </a:r>
            <a:endParaRPr lang="en-US" sz="1400" dirty="0"/>
          </a:p>
        </p:txBody>
      </p:sp>
      <p:sp>
        <p:nvSpPr>
          <p:cNvPr id="9" name="Text 7"/>
          <p:cNvSpPr/>
          <p:nvPr/>
        </p:nvSpPr>
        <p:spPr>
          <a:xfrm>
            <a:off x="5080000" y="2794000"/>
            <a:ext cx="6096000" cy="508000"/>
          </a:xfrm>
          <a:prstGeom prst="rect">
            <a:avLst/>
          </a:prstGeom>
          <a:noFill/>
          <a:ln/>
        </p:spPr>
        <p:txBody>
          <a:bodyPr wrap="none" lIns="0" tIns="0" rIns="0" bIns="0" rtlCol="0" anchor="ctr"/>
          <a:lstStyle/>
          <a:p>
            <a:pPr algn="ctr">
              <a:lnSpc>
                <a:spcPct val="120000"/>
              </a:lnSpc>
            </a:pPr>
            <a:r>
              <a:rPr lang="en-US" sz="1400" dirty="0">
                <a:solidFill>
                  <a:srgbClr val="B0B0B0"/>
                </a:solidFill>
                <a:latin typeface="Courier New" pitchFamily="34" charset="0"/>
                <a:ea typeface="Courier New" pitchFamily="34" charset="-122"/>
                <a:cs typeface="Courier New" pitchFamily="34" charset="-120"/>
              </a:rPr>
              <a:t>services/api.js</a:t>
            </a:r>
            <a:endParaRPr lang="en-US" sz="1400" dirty="0"/>
          </a:p>
        </p:txBody>
      </p:sp>
      <p:sp>
        <p:nvSpPr>
          <p:cNvPr id="10" name="Text 8"/>
          <p:cNvSpPr/>
          <p:nvPr/>
        </p:nvSpPr>
        <p:spPr>
          <a:xfrm>
            <a:off x="1397000" y="3577110"/>
            <a:ext cx="13462000" cy="4953000"/>
          </a:xfrm>
          <a:prstGeom prst="rect">
            <a:avLst/>
          </a:prstGeom>
          <a:noFill/>
          <a:ln/>
        </p:spPr>
        <p:txBody>
          <a:bodyPr wrap="square" lIns="0" tIns="0" rIns="0" bIns="0" rtlCol="0" anchor="t"/>
          <a:lstStyle/>
          <a:p>
            <a:pPr algn="l">
              <a:lnSpc>
                <a:spcPct val="150000"/>
              </a:lnSpc>
            </a:pPr>
            <a:r>
              <a:rPr lang="en-US" sz="1400" dirty="0">
                <a:solidFill>
                  <a:srgbClr val="C792EA"/>
                </a:solidFill>
                <a:latin typeface="Courier New" pitchFamily="34" charset="0"/>
                <a:ea typeface="Courier New" pitchFamily="34" charset="-122"/>
                <a:cs typeface="Courier New" pitchFamily="34" charset="-120"/>
              </a:rPr>
              <a:t>export const</a:t>
            </a: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82AAFF"/>
                </a:solidFill>
                <a:latin typeface="Courier New" pitchFamily="34" charset="0"/>
                <a:ea typeface="Courier New" pitchFamily="34" charset="-122"/>
                <a:cs typeface="Courier New" pitchFamily="34" charset="-120"/>
              </a:rPr>
              <a:t>searchExercises</a:t>
            </a:r>
            <a:r>
              <a:rPr lang="en-US" sz="1400" dirty="0">
                <a:solidFill>
                  <a:srgbClr val="E0E0E0"/>
                </a:solidFill>
                <a:latin typeface="Courier New" pitchFamily="34" charset="0"/>
                <a:ea typeface="Courier New" pitchFamily="34" charset="-122"/>
                <a:cs typeface="Courier New" pitchFamily="34" charset="-120"/>
              </a:rPr>
              <a:t> = </a:t>
            </a:r>
            <a:r>
              <a:rPr lang="en-US" sz="1400" dirty="0">
                <a:solidFill>
                  <a:srgbClr val="C792EA"/>
                </a:solidFill>
                <a:latin typeface="Courier New" pitchFamily="34" charset="0"/>
                <a:ea typeface="Courier New" pitchFamily="34" charset="-122"/>
                <a:cs typeface="Courier New" pitchFamily="34" charset="-120"/>
              </a:rPr>
              <a:t>async</a:t>
            </a:r>
            <a:r>
              <a:rPr lang="en-US" sz="1400" dirty="0">
                <a:solidFill>
                  <a:srgbClr val="E0E0E0"/>
                </a:solidFill>
                <a:latin typeface="Courier New" pitchFamily="34" charset="0"/>
                <a:ea typeface="Courier New" pitchFamily="34" charset="-122"/>
                <a:cs typeface="Courier New" pitchFamily="34" charset="-120"/>
              </a:rPr>
              <a:t> (query, limit = </a:t>
            </a:r>
            <a:r>
              <a:rPr lang="en-US" sz="1400" dirty="0">
                <a:solidFill>
                  <a:srgbClr val="F78C6C"/>
                </a:solidFill>
                <a:latin typeface="Courier New" pitchFamily="34" charset="0"/>
                <a:ea typeface="Courier New" pitchFamily="34" charset="-122"/>
                <a:cs typeface="Courier New" pitchFamily="34" charset="-120"/>
              </a:rPr>
              <a:t>10</a:t>
            </a:r>
            <a:r>
              <a:rPr lang="en-US" sz="1400" dirty="0">
                <a:solidFill>
                  <a:srgbClr val="E0E0E0"/>
                </a:solidFill>
                <a:latin typeface="Courier New" pitchFamily="34" charset="0"/>
                <a:ea typeface="Courier New" pitchFamily="34" charset="-122"/>
                <a:cs typeface="Courier New" pitchFamily="34" charset="-120"/>
              </a:rPr>
              <a:t>) =&gt;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C792EA"/>
                </a:solidFill>
                <a:latin typeface="Courier New" pitchFamily="34" charset="0"/>
                <a:ea typeface="Courier New" pitchFamily="34" charset="-122"/>
                <a:cs typeface="Courier New" pitchFamily="34" charset="-120"/>
              </a:rPr>
              <a:t>try</a:t>
            </a:r>
            <a:r>
              <a:rPr lang="en-US" sz="1400" dirty="0">
                <a:solidFill>
                  <a:srgbClr val="E0E0E0"/>
                </a:solidFill>
                <a:latin typeface="Courier New" pitchFamily="34" charset="0"/>
                <a:ea typeface="Courier New" pitchFamily="34" charset="-122"/>
                <a:cs typeface="Courier New" pitchFamily="34" charset="-120"/>
              </a:rPr>
              <a: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82AAFF"/>
                </a:solidFill>
                <a:latin typeface="Courier New" pitchFamily="34" charset="0"/>
                <a:ea typeface="Courier New" pitchFamily="34" charset="-122"/>
                <a:cs typeface="Courier New" pitchFamily="34" charset="-120"/>
              </a:rPr>
              <a:t>setLoading</a:t>
            </a:r>
            <a:r>
              <a:rPr lang="en-US" sz="1400" dirty="0">
                <a:solidFill>
                  <a:srgbClr val="E0E0E0"/>
                </a:solidFill>
                <a:latin typeface="Courier New" pitchFamily="34" charset="0"/>
                <a:ea typeface="Courier New" pitchFamily="34" charset="-122"/>
                <a:cs typeface="Courier New" pitchFamily="34" charset="-120"/>
              </a:rPr>
              <a:t>(</a:t>
            </a:r>
            <a:r>
              <a:rPr lang="en-US" sz="1400" dirty="0">
                <a:solidFill>
                  <a:srgbClr val="FF5370"/>
                </a:solidFill>
                <a:latin typeface="Courier New" pitchFamily="34" charset="0"/>
                <a:ea typeface="Courier New" pitchFamily="34" charset="-122"/>
                <a:cs typeface="Courier New" pitchFamily="34" charset="-120"/>
              </a:rPr>
              <a:t>true</a:t>
            </a:r>
            <a:r>
              <a:rPr lang="en-US" sz="1400" dirty="0">
                <a:solidFill>
                  <a:srgbClr val="E0E0E0"/>
                </a:solidFill>
                <a:latin typeface="Courier New" pitchFamily="34" charset="0"/>
                <a:ea typeface="Courier New" pitchFamily="34" charset="-122"/>
                <a:cs typeface="Courier New" pitchFamily="34" charset="-120"/>
              </a:rPr>
              <a: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676E95"/>
                </a:solidFill>
                <a:latin typeface="Courier New" pitchFamily="34" charset="0"/>
                <a:ea typeface="Courier New" pitchFamily="34" charset="-122"/>
                <a:cs typeface="Courier New" pitchFamily="34" charset="-120"/>
              </a:rPr>
              <a:t>// Запит до NestJS бекенду через RapidAPI</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C792EA"/>
                </a:solidFill>
                <a:latin typeface="Courier New" pitchFamily="34" charset="0"/>
                <a:ea typeface="Courier New" pitchFamily="34" charset="-122"/>
                <a:cs typeface="Courier New" pitchFamily="34" charset="-120"/>
              </a:rPr>
              <a:t>const</a:t>
            </a:r>
            <a:r>
              <a:rPr lang="en-US" sz="1400" dirty="0">
                <a:solidFill>
                  <a:srgbClr val="E0E0E0"/>
                </a:solidFill>
                <a:latin typeface="Courier New" pitchFamily="34" charset="0"/>
                <a:ea typeface="Courier New" pitchFamily="34" charset="-122"/>
                <a:cs typeface="Courier New" pitchFamily="34" charset="-120"/>
              </a:rPr>
              <a:t> response = </a:t>
            </a:r>
            <a:r>
              <a:rPr lang="en-US" sz="1400" dirty="0">
                <a:solidFill>
                  <a:srgbClr val="C792EA"/>
                </a:solidFill>
                <a:latin typeface="Courier New" pitchFamily="34" charset="0"/>
                <a:ea typeface="Courier New" pitchFamily="34" charset="-122"/>
                <a:cs typeface="Courier New" pitchFamily="34" charset="-120"/>
              </a:rPr>
              <a:t>await</a:t>
            </a:r>
            <a:r>
              <a:rPr lang="en-US" sz="1400" dirty="0">
                <a:solidFill>
                  <a:srgbClr val="E0E0E0"/>
                </a:solidFill>
                <a:latin typeface="Courier New" pitchFamily="34" charset="0"/>
                <a:ea typeface="Courier New" pitchFamily="34" charset="-122"/>
                <a:cs typeface="Courier New" pitchFamily="34" charset="-120"/>
              </a:rPr>
              <a:t> axios.</a:t>
            </a:r>
            <a:r>
              <a:rPr lang="en-US" sz="1400" dirty="0">
                <a:solidFill>
                  <a:srgbClr val="82AAFF"/>
                </a:solidFill>
                <a:latin typeface="Courier New" pitchFamily="34" charset="0"/>
                <a:ea typeface="Courier New" pitchFamily="34" charset="-122"/>
                <a:cs typeface="Courier New" pitchFamily="34" charset="-120"/>
              </a:rPr>
              <a:t>get</a:t>
            </a:r>
            <a:r>
              <a:rPr lang="en-US" sz="1400" dirty="0">
                <a:solidFill>
                  <a:srgbClr val="E0E0E0"/>
                </a:solidFill>
                <a:latin typeface="Courier New" pitchFamily="34" charset="0"/>
                <a:ea typeface="Courier New" pitchFamily="34" charset="-122"/>
                <a:cs typeface="Courier New" pitchFamily="34" charset="-120"/>
              </a:rPr>
              <a:t>(</a:t>
            </a:r>
            <a:r>
              <a:rPr lang="en-US" sz="1400" dirty="0">
                <a:solidFill>
                  <a:srgbClr val="C3E88D"/>
                </a:solidFill>
                <a:latin typeface="Courier New" pitchFamily="34" charset="0"/>
                <a:ea typeface="Courier New" pitchFamily="34" charset="-122"/>
                <a:cs typeface="Courier New" pitchFamily="34" charset="-120"/>
              </a:rPr>
              <a:t>`/api/nest/exercises/search`</a:t>
            </a:r>
            <a:r>
              <a:rPr lang="en-US" sz="1400" dirty="0">
                <a:solidFill>
                  <a:srgbClr val="E0E0E0"/>
                </a:solidFill>
                <a:latin typeface="Courier New" pitchFamily="34" charset="0"/>
                <a:ea typeface="Courier New" pitchFamily="34" charset="-122"/>
                <a:cs typeface="Courier New" pitchFamily="34" charset="-120"/>
              </a:rPr>
              <a: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params: { q: query, limit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C792EA"/>
                </a:solidFill>
                <a:latin typeface="Courier New" pitchFamily="34" charset="0"/>
                <a:ea typeface="Courier New" pitchFamily="34" charset="-122"/>
                <a:cs typeface="Courier New" pitchFamily="34" charset="-120"/>
              </a:rPr>
              <a:t>return</a:t>
            </a:r>
            <a:r>
              <a:rPr lang="en-US" sz="1400" dirty="0">
                <a:solidFill>
                  <a:srgbClr val="E0E0E0"/>
                </a:solidFill>
                <a:latin typeface="Courier New" pitchFamily="34" charset="0"/>
                <a:ea typeface="Courier New" pitchFamily="34" charset="-122"/>
                <a:cs typeface="Courier New" pitchFamily="34" charset="-120"/>
              </a:rPr>
              <a:t> response.data;</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 </a:t>
            </a:r>
            <a:r>
              <a:rPr lang="en-US" sz="1400" dirty="0">
                <a:solidFill>
                  <a:srgbClr val="C792EA"/>
                </a:solidFill>
                <a:latin typeface="Courier New" pitchFamily="34" charset="0"/>
                <a:ea typeface="Courier New" pitchFamily="34" charset="-122"/>
                <a:cs typeface="Courier New" pitchFamily="34" charset="-120"/>
              </a:rPr>
              <a:t>catch</a:t>
            </a:r>
            <a:r>
              <a:rPr lang="en-US" sz="1400" dirty="0">
                <a:solidFill>
                  <a:srgbClr val="E0E0E0"/>
                </a:solidFill>
                <a:latin typeface="Courier New" pitchFamily="34" charset="0"/>
                <a:ea typeface="Courier New" pitchFamily="34" charset="-122"/>
                <a:cs typeface="Courier New" pitchFamily="34" charset="-120"/>
              </a:rPr>
              <a:t> (error)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toast.</a:t>
            </a:r>
            <a:r>
              <a:rPr lang="en-US" sz="1400" dirty="0">
                <a:solidFill>
                  <a:srgbClr val="82AAFF"/>
                </a:solidFill>
                <a:latin typeface="Courier New" pitchFamily="34" charset="0"/>
                <a:ea typeface="Courier New" pitchFamily="34" charset="-122"/>
                <a:cs typeface="Courier New" pitchFamily="34" charset="-120"/>
              </a:rPr>
              <a:t>error</a:t>
            </a:r>
            <a:r>
              <a:rPr lang="en-US" sz="1400" dirty="0">
                <a:solidFill>
                  <a:srgbClr val="E0E0E0"/>
                </a:solidFill>
                <a:latin typeface="Courier New" pitchFamily="34" charset="0"/>
                <a:ea typeface="Courier New" pitchFamily="34" charset="-122"/>
                <a:cs typeface="Courier New" pitchFamily="34" charset="-120"/>
              </a:rPr>
              <a:t>(</a:t>
            </a:r>
            <a:r>
              <a:rPr lang="en-US" sz="1400" dirty="0">
                <a:solidFill>
                  <a:srgbClr val="C3E88D"/>
                </a:solidFill>
                <a:latin typeface="Courier New" pitchFamily="34" charset="0"/>
                <a:ea typeface="Courier New" pitchFamily="34" charset="-122"/>
                <a:cs typeface="Courier New" pitchFamily="34" charset="-120"/>
              </a:rPr>
              <a:t>'Помилка завантаження вправ'</a:t>
            </a:r>
            <a:r>
              <a:rPr lang="en-US" sz="1400" dirty="0">
                <a:solidFill>
                  <a:srgbClr val="E0E0E0"/>
                </a:solidFill>
                <a:latin typeface="Courier New" pitchFamily="34" charset="0"/>
                <a:ea typeface="Courier New" pitchFamily="34" charset="-122"/>
                <a:cs typeface="Courier New" pitchFamily="34" charset="-120"/>
              </a:rPr>
              <a: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 </a:t>
            </a:r>
            <a:r>
              <a:rPr lang="en-US" sz="1400" dirty="0">
                <a:solidFill>
                  <a:srgbClr val="C792EA"/>
                </a:solidFill>
                <a:latin typeface="Courier New" pitchFamily="34" charset="0"/>
                <a:ea typeface="Courier New" pitchFamily="34" charset="-122"/>
                <a:cs typeface="Courier New" pitchFamily="34" charset="-120"/>
              </a:rPr>
              <a:t>finally</a:t>
            </a:r>
            <a:r>
              <a:rPr lang="en-US" sz="1400" dirty="0">
                <a:solidFill>
                  <a:srgbClr val="E0E0E0"/>
                </a:solidFill>
                <a:latin typeface="Courier New" pitchFamily="34" charset="0"/>
                <a:ea typeface="Courier New" pitchFamily="34" charset="-122"/>
                <a:cs typeface="Courier New" pitchFamily="34" charset="-120"/>
              </a:rPr>
              <a: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82AAFF"/>
                </a:solidFill>
                <a:latin typeface="Courier New" pitchFamily="34" charset="0"/>
                <a:ea typeface="Courier New" pitchFamily="34" charset="-122"/>
                <a:cs typeface="Courier New" pitchFamily="34" charset="-120"/>
              </a:rPr>
              <a:t>setLoading</a:t>
            </a:r>
            <a:r>
              <a:rPr lang="en-US" sz="1400" dirty="0">
                <a:solidFill>
                  <a:srgbClr val="E0E0E0"/>
                </a:solidFill>
                <a:latin typeface="Courier New" pitchFamily="34" charset="0"/>
                <a:ea typeface="Courier New" pitchFamily="34" charset="-122"/>
                <a:cs typeface="Courier New" pitchFamily="34" charset="-120"/>
              </a:rPr>
              <a:t>(</a:t>
            </a:r>
            <a:r>
              <a:rPr lang="en-US" sz="1400" dirty="0">
                <a:solidFill>
                  <a:srgbClr val="FF5370"/>
                </a:solidFill>
                <a:latin typeface="Courier New" pitchFamily="34" charset="0"/>
                <a:ea typeface="Courier New" pitchFamily="34" charset="-122"/>
                <a:cs typeface="Courier New" pitchFamily="34" charset="-120"/>
              </a:rPr>
              <a:t>false</a:t>
            </a:r>
            <a:r>
              <a:rPr lang="en-US" sz="1400" dirty="0">
                <a:solidFill>
                  <a:srgbClr val="E0E0E0"/>
                </a:solidFill>
                <a:latin typeface="Courier New" pitchFamily="34" charset="0"/>
                <a:ea typeface="Courier New" pitchFamily="34" charset="-122"/>
                <a:cs typeface="Courier New" pitchFamily="34" charset="-120"/>
              </a:rPr>
              <a: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a:t>
            </a:r>
            <a:endParaRPr lang="en-US" sz="1400" dirty="0"/>
          </a:p>
        </p:txBody>
      </p:sp>
      <p:pic>
        <p:nvPicPr>
          <p:cNvPr id="11" name="Picture 10">
            <a:extLst>
              <a:ext uri="{FF2B5EF4-FFF2-40B4-BE49-F238E27FC236}">
                <a16:creationId xmlns:a16="http://schemas.microsoft.com/office/drawing/2014/main" id="{86BB3728-D7D7-4C2A-B67D-133A2D8FFA32}"/>
              </a:ext>
            </a:extLst>
          </p:cNvPr>
          <p:cNvPicPr>
            <a:picLocks noChangeAspect="1"/>
          </p:cNvPicPr>
          <p:nvPr/>
        </p:nvPicPr>
        <p:blipFill rotWithShape="1">
          <a:blip r:embed="rId3"/>
          <a:srcRect l="186" r="44701"/>
          <a:stretch/>
        </p:blipFill>
        <p:spPr>
          <a:xfrm>
            <a:off x="9478107" y="2667000"/>
            <a:ext cx="6604000" cy="6081106"/>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1016000" y="635000"/>
            <a:ext cx="11430000" cy="635000"/>
          </a:xfrm>
          <a:prstGeom prst="rect">
            <a:avLst/>
          </a:prstGeom>
          <a:noFill/>
          <a:ln/>
        </p:spPr>
        <p:txBody>
          <a:bodyPr wrap="square" lIns="0" tIns="0" rIns="0" bIns="0" rtlCol="0" anchor="t"/>
          <a:lstStyle/>
          <a:p>
            <a:pPr>
              <a:lnSpc>
                <a:spcPct val="120000"/>
              </a:lnSpc>
            </a:pPr>
            <a:r>
              <a:rPr lang="en-US" sz="3600" b="1" dirty="0">
                <a:solidFill>
                  <a:srgbClr val="3C4A5A"/>
                </a:solidFill>
                <a:latin typeface="Times New Roman" panose="02020603050405020304" pitchFamily="18" charset="0"/>
                <a:ea typeface="Liter"/>
                <a:cs typeface="Times New Roman" panose="02020603050405020304" pitchFamily="18" charset="0"/>
              </a:rPr>
              <a:t>Реалізація: AI-</a:t>
            </a:r>
            <a:r>
              <a:rPr lang="en-US" sz="3600" b="1" dirty="0" err="1">
                <a:solidFill>
                  <a:srgbClr val="3C4A5A"/>
                </a:solidFill>
                <a:latin typeface="Times New Roman" panose="02020603050405020304" pitchFamily="18" charset="0"/>
                <a:ea typeface="Liter"/>
                <a:cs typeface="Times New Roman" panose="02020603050405020304" pitchFamily="18" charset="0"/>
              </a:rPr>
              <a:t>віртуальний</a:t>
            </a:r>
            <a:r>
              <a:rPr lang="en-US" sz="3600" b="1" dirty="0">
                <a:solidFill>
                  <a:srgbClr val="3C4A5A"/>
                </a:solidFill>
                <a:latin typeface="Times New Roman" panose="02020603050405020304" pitchFamily="18" charset="0"/>
                <a:ea typeface="Liter"/>
                <a:cs typeface="Times New Roman" panose="02020603050405020304" pitchFamily="18" charset="0"/>
              </a:rPr>
              <a:t> </a:t>
            </a:r>
            <a:r>
              <a:rPr lang="en-US" sz="3600" b="1" dirty="0" err="1">
                <a:solidFill>
                  <a:srgbClr val="3C4A5A"/>
                </a:solidFill>
                <a:latin typeface="Times New Roman" panose="02020603050405020304" pitchFamily="18" charset="0"/>
                <a:ea typeface="Liter"/>
                <a:cs typeface="Times New Roman" panose="02020603050405020304" pitchFamily="18" charset="0"/>
              </a:rPr>
              <a:t>тренер</a:t>
            </a:r>
            <a:endParaRPr lang="en-US" sz="3600" b="1" dirty="0">
              <a:solidFill>
                <a:srgbClr val="3C4A5A"/>
              </a:solidFill>
              <a:latin typeface="Times New Roman" panose="02020603050405020304" pitchFamily="18" charset="0"/>
              <a:ea typeface="Liter"/>
              <a:cs typeface="Times New Roman" panose="02020603050405020304" pitchFamily="18" charset="0"/>
            </a:endParaRPr>
          </a:p>
        </p:txBody>
      </p:sp>
      <p:sp>
        <p:nvSpPr>
          <p:cNvPr id="3" name="Shape 1"/>
          <p:cNvSpPr/>
          <p:nvPr/>
        </p:nvSpPr>
        <p:spPr>
          <a:xfrm>
            <a:off x="1016000" y="1524000"/>
            <a:ext cx="14224000" cy="1016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4" name="Shape 2"/>
          <p:cNvSpPr/>
          <p:nvPr/>
        </p:nvSpPr>
        <p:spPr>
          <a:xfrm>
            <a:off x="1397000" y="1778000"/>
            <a:ext cx="431800" cy="431800"/>
          </a:xfrm>
          <a:custGeom>
            <a:avLst/>
            <a:gdLst/>
            <a:ahLst/>
            <a:cxnLst/>
            <a:rect l="l" t="t" r="r" b="b"/>
            <a:pathLst>
              <a:path w="431800" h="431800">
                <a:moveTo>
                  <a:pt x="237490" y="0"/>
                </a:moveTo>
                <a:cubicBezTo>
                  <a:pt x="237490" y="-14927"/>
                  <a:pt x="227842" y="-26987"/>
                  <a:pt x="215900" y="-26987"/>
                </a:cubicBezTo>
                <a:cubicBezTo>
                  <a:pt x="203958" y="-26987"/>
                  <a:pt x="194310" y="-14927"/>
                  <a:pt x="194310" y="0"/>
                </a:cubicBezTo>
                <a:lnTo>
                  <a:pt x="194310" y="53975"/>
                </a:lnTo>
                <a:lnTo>
                  <a:pt x="129540" y="53975"/>
                </a:lnTo>
                <a:cubicBezTo>
                  <a:pt x="93782" y="53975"/>
                  <a:pt x="64770" y="90239"/>
                  <a:pt x="64770" y="134938"/>
                </a:cubicBezTo>
                <a:lnTo>
                  <a:pt x="64770" y="323850"/>
                </a:lnTo>
                <a:cubicBezTo>
                  <a:pt x="64770" y="368548"/>
                  <a:pt x="93782" y="404813"/>
                  <a:pt x="129540" y="404813"/>
                </a:cubicBezTo>
                <a:lnTo>
                  <a:pt x="302260" y="404813"/>
                </a:lnTo>
                <a:cubicBezTo>
                  <a:pt x="338018" y="404813"/>
                  <a:pt x="367030" y="368548"/>
                  <a:pt x="367030" y="323850"/>
                </a:cubicBezTo>
                <a:lnTo>
                  <a:pt x="367030" y="134938"/>
                </a:lnTo>
                <a:cubicBezTo>
                  <a:pt x="367030" y="90239"/>
                  <a:pt x="338018" y="53975"/>
                  <a:pt x="302260" y="53975"/>
                </a:cubicBezTo>
                <a:lnTo>
                  <a:pt x="237490" y="53975"/>
                </a:lnTo>
                <a:lnTo>
                  <a:pt x="237490" y="0"/>
                </a:lnTo>
                <a:close/>
                <a:moveTo>
                  <a:pt x="107950" y="310356"/>
                </a:moveTo>
                <a:cubicBezTo>
                  <a:pt x="107950" y="299140"/>
                  <a:pt x="115169" y="290116"/>
                  <a:pt x="124142" y="290116"/>
                </a:cubicBezTo>
                <a:lnTo>
                  <a:pt x="145733" y="290116"/>
                </a:lnTo>
                <a:cubicBezTo>
                  <a:pt x="154706" y="290116"/>
                  <a:pt x="161925" y="299140"/>
                  <a:pt x="161925" y="310356"/>
                </a:cubicBezTo>
                <a:cubicBezTo>
                  <a:pt x="161925" y="321573"/>
                  <a:pt x="154706" y="330597"/>
                  <a:pt x="145733" y="330597"/>
                </a:cubicBezTo>
                <a:lnTo>
                  <a:pt x="124142" y="330597"/>
                </a:lnTo>
                <a:cubicBezTo>
                  <a:pt x="115169" y="330597"/>
                  <a:pt x="107950" y="321573"/>
                  <a:pt x="107950" y="310356"/>
                </a:cubicBezTo>
                <a:close/>
                <a:moveTo>
                  <a:pt x="188913" y="310356"/>
                </a:moveTo>
                <a:cubicBezTo>
                  <a:pt x="188913" y="299140"/>
                  <a:pt x="196132" y="290116"/>
                  <a:pt x="205105" y="290116"/>
                </a:cubicBezTo>
                <a:lnTo>
                  <a:pt x="226695" y="290116"/>
                </a:lnTo>
                <a:cubicBezTo>
                  <a:pt x="235668" y="290116"/>
                  <a:pt x="242888" y="299140"/>
                  <a:pt x="242888" y="310356"/>
                </a:cubicBezTo>
                <a:cubicBezTo>
                  <a:pt x="242888" y="321573"/>
                  <a:pt x="235668" y="330597"/>
                  <a:pt x="226695" y="330597"/>
                </a:cubicBezTo>
                <a:lnTo>
                  <a:pt x="205105" y="330597"/>
                </a:lnTo>
                <a:cubicBezTo>
                  <a:pt x="196132" y="330597"/>
                  <a:pt x="188913" y="321573"/>
                  <a:pt x="188913" y="310356"/>
                </a:cubicBezTo>
                <a:close/>
                <a:moveTo>
                  <a:pt x="269875" y="310356"/>
                </a:moveTo>
                <a:cubicBezTo>
                  <a:pt x="269875" y="299140"/>
                  <a:pt x="277094" y="290116"/>
                  <a:pt x="286068" y="290116"/>
                </a:cubicBezTo>
                <a:lnTo>
                  <a:pt x="307658" y="290116"/>
                </a:lnTo>
                <a:cubicBezTo>
                  <a:pt x="316631" y="290116"/>
                  <a:pt x="323850" y="299140"/>
                  <a:pt x="323850" y="310356"/>
                </a:cubicBezTo>
                <a:cubicBezTo>
                  <a:pt x="323850" y="321573"/>
                  <a:pt x="316631" y="330597"/>
                  <a:pt x="307658" y="330597"/>
                </a:cubicBezTo>
                <a:lnTo>
                  <a:pt x="286068" y="330597"/>
                </a:lnTo>
                <a:cubicBezTo>
                  <a:pt x="277094" y="330597"/>
                  <a:pt x="269875" y="321573"/>
                  <a:pt x="269875" y="310356"/>
                </a:cubicBezTo>
                <a:close/>
                <a:moveTo>
                  <a:pt x="151130" y="148431"/>
                </a:moveTo>
                <a:cubicBezTo>
                  <a:pt x="169004" y="148431"/>
                  <a:pt x="183515" y="166570"/>
                  <a:pt x="183515" y="188913"/>
                </a:cubicBezTo>
                <a:cubicBezTo>
                  <a:pt x="183515" y="211255"/>
                  <a:pt x="169004" y="229394"/>
                  <a:pt x="151130" y="229394"/>
                </a:cubicBezTo>
                <a:cubicBezTo>
                  <a:pt x="133256" y="229394"/>
                  <a:pt x="118745" y="211255"/>
                  <a:pt x="118745" y="188913"/>
                </a:cubicBezTo>
                <a:cubicBezTo>
                  <a:pt x="118745" y="166570"/>
                  <a:pt x="133256" y="148431"/>
                  <a:pt x="151130" y="148431"/>
                </a:cubicBezTo>
                <a:close/>
                <a:moveTo>
                  <a:pt x="248285" y="188913"/>
                </a:moveTo>
                <a:cubicBezTo>
                  <a:pt x="248285" y="166570"/>
                  <a:pt x="262796" y="148431"/>
                  <a:pt x="280670" y="148431"/>
                </a:cubicBezTo>
                <a:cubicBezTo>
                  <a:pt x="298544" y="148431"/>
                  <a:pt x="313055" y="166570"/>
                  <a:pt x="313055" y="188913"/>
                </a:cubicBezTo>
                <a:cubicBezTo>
                  <a:pt x="313055" y="211255"/>
                  <a:pt x="298544" y="229394"/>
                  <a:pt x="280670" y="229394"/>
                </a:cubicBezTo>
                <a:cubicBezTo>
                  <a:pt x="262796" y="229394"/>
                  <a:pt x="248285" y="211255"/>
                  <a:pt x="248285" y="188913"/>
                </a:cubicBezTo>
                <a:close/>
                <a:moveTo>
                  <a:pt x="43180" y="188913"/>
                </a:moveTo>
                <a:cubicBezTo>
                  <a:pt x="43180" y="173985"/>
                  <a:pt x="33532" y="161925"/>
                  <a:pt x="21590" y="161925"/>
                </a:cubicBezTo>
                <a:cubicBezTo>
                  <a:pt x="9648" y="161925"/>
                  <a:pt x="0" y="173985"/>
                  <a:pt x="0" y="188913"/>
                </a:cubicBezTo>
                <a:lnTo>
                  <a:pt x="0" y="269875"/>
                </a:lnTo>
                <a:cubicBezTo>
                  <a:pt x="0" y="284802"/>
                  <a:pt x="9648" y="296863"/>
                  <a:pt x="21590" y="296863"/>
                </a:cubicBezTo>
                <a:cubicBezTo>
                  <a:pt x="33532" y="296863"/>
                  <a:pt x="43180" y="284802"/>
                  <a:pt x="43180" y="269875"/>
                </a:cubicBezTo>
                <a:lnTo>
                  <a:pt x="43180" y="188913"/>
                </a:lnTo>
                <a:close/>
                <a:moveTo>
                  <a:pt x="410210" y="161925"/>
                </a:moveTo>
                <a:cubicBezTo>
                  <a:pt x="398268" y="161925"/>
                  <a:pt x="388620" y="173985"/>
                  <a:pt x="388620" y="188913"/>
                </a:cubicBezTo>
                <a:lnTo>
                  <a:pt x="388620" y="269875"/>
                </a:lnTo>
                <a:cubicBezTo>
                  <a:pt x="388620" y="284802"/>
                  <a:pt x="398268" y="296863"/>
                  <a:pt x="410210" y="296863"/>
                </a:cubicBezTo>
                <a:cubicBezTo>
                  <a:pt x="422152" y="296863"/>
                  <a:pt x="431800" y="284802"/>
                  <a:pt x="431800" y="269875"/>
                </a:cubicBezTo>
                <a:lnTo>
                  <a:pt x="431800" y="188913"/>
                </a:lnTo>
                <a:cubicBezTo>
                  <a:pt x="431800" y="173985"/>
                  <a:pt x="422152" y="161925"/>
                  <a:pt x="410210" y="161925"/>
                </a:cubicBezTo>
                <a:close/>
              </a:path>
            </a:pathLst>
          </a:custGeom>
          <a:solidFill>
            <a:srgbClr val="FFC107"/>
          </a:solidFill>
          <a:ln/>
        </p:spPr>
      </p:sp>
      <p:sp>
        <p:nvSpPr>
          <p:cNvPr id="5" name="Text 3"/>
          <p:cNvSpPr/>
          <p:nvPr/>
        </p:nvSpPr>
        <p:spPr>
          <a:xfrm>
            <a:off x="2032000" y="1651000"/>
            <a:ext cx="12954000" cy="762000"/>
          </a:xfrm>
          <a:prstGeom prst="rect">
            <a:avLst/>
          </a:prstGeom>
          <a:noFill/>
          <a:ln/>
        </p:spPr>
        <p:txBody>
          <a:bodyPr wrap="square" lIns="0" tIns="0" rIns="0" bIns="0" rtlCol="0" anchor="ctr"/>
          <a:lstStyle/>
          <a:p>
            <a:pPr algn="l">
              <a:lnSpc>
                <a:spcPct val="14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Інтеграція медичного профілю з </a:t>
            </a: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LLM (Gemini/Claude)</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Динамічний вивід кольорових попереджень про ризики.</a:t>
            </a:r>
            <a:endParaRPr lang="en-US" sz="1800" dirty="0"/>
          </a:p>
        </p:txBody>
      </p:sp>
      <p:sp>
        <p:nvSpPr>
          <p:cNvPr id="6" name="Shape 4"/>
          <p:cNvSpPr/>
          <p:nvPr/>
        </p:nvSpPr>
        <p:spPr>
          <a:xfrm>
            <a:off x="1016000" y="2794000"/>
            <a:ext cx="7112000" cy="6096000"/>
          </a:xfrm>
          <a:prstGeom prst="roundRect">
            <a:avLst>
              <a:gd name="adj" fmla="val 8000"/>
            </a:avLst>
          </a:prstGeom>
          <a:solidFill>
            <a:srgbClr val="2D2D2D"/>
          </a:solidFill>
          <a:ln/>
          <a:effectLst>
            <a:outerShdw blurRad="101600" dist="25400" dir="5400000" algn="bl" rotWithShape="0">
              <a:srgbClr val="000000">
                <a:alpha val="7059"/>
              </a:srgbClr>
            </a:outerShdw>
          </a:effectLst>
        </p:spPr>
      </p:sp>
      <p:sp>
        <p:nvSpPr>
          <p:cNvPr id="7" name="Shape 5"/>
          <p:cNvSpPr/>
          <p:nvPr/>
        </p:nvSpPr>
        <p:spPr>
          <a:xfrm>
            <a:off x="1016000" y="2794000"/>
            <a:ext cx="7112000" cy="508000"/>
          </a:xfrm>
          <a:prstGeom prst="roundRect">
            <a:avLst>
              <a:gd name="adj" fmla="val 8000"/>
            </a:avLst>
          </a:prstGeom>
          <a:solidFill>
            <a:srgbClr val="3D3D3D"/>
          </a:solidFill>
          <a:ln/>
        </p:spPr>
      </p:sp>
      <p:sp>
        <p:nvSpPr>
          <p:cNvPr id="8" name="Text 6"/>
          <p:cNvSpPr/>
          <p:nvPr/>
        </p:nvSpPr>
        <p:spPr>
          <a:xfrm>
            <a:off x="1270000" y="2794000"/>
            <a:ext cx="1270000" cy="508000"/>
          </a:xfrm>
          <a:prstGeom prst="rect">
            <a:avLst/>
          </a:prstGeom>
          <a:noFill/>
          <a:ln/>
        </p:spPr>
        <p:txBody>
          <a:bodyPr wrap="square" lIns="0" tIns="0" rIns="0" bIns="0" rtlCol="0" anchor="ctr"/>
          <a:lstStyle/>
          <a:p>
            <a:pPr algn="l">
              <a:lnSpc>
                <a:spcPct val="120000"/>
              </a:lnSpc>
            </a:pPr>
            <a:r>
              <a:rPr lang="en-US" sz="1400" dirty="0">
                <a:solidFill>
                  <a:srgbClr val="FF5F56"/>
                </a:solidFill>
                <a:latin typeface="Courier New" pitchFamily="34" charset="0"/>
                <a:ea typeface="Courier New" pitchFamily="34" charset="-122"/>
                <a:cs typeface="Courier New" pitchFamily="34" charset="-120"/>
              </a:rPr>
              <a:t>●</a:t>
            </a:r>
            <a:r>
              <a:rPr lang="en-US" sz="1400" dirty="0">
                <a:solidFill>
                  <a:srgbClr val="8E8E8E"/>
                </a:solidFill>
                <a:latin typeface="Courier New" pitchFamily="34" charset="0"/>
                <a:ea typeface="Courier New" pitchFamily="34" charset="-122"/>
                <a:cs typeface="Courier New" pitchFamily="34" charset="-120"/>
              </a:rPr>
              <a:t> </a:t>
            </a:r>
            <a:r>
              <a:rPr lang="en-US" sz="1400" dirty="0">
                <a:solidFill>
                  <a:srgbClr val="FFBD2E"/>
                </a:solidFill>
                <a:latin typeface="Courier New" pitchFamily="34" charset="0"/>
                <a:ea typeface="Courier New" pitchFamily="34" charset="-122"/>
                <a:cs typeface="Courier New" pitchFamily="34" charset="-120"/>
              </a:rPr>
              <a:t>●</a:t>
            </a:r>
            <a:r>
              <a:rPr lang="en-US" sz="1400" dirty="0">
                <a:solidFill>
                  <a:srgbClr val="8E8E8E"/>
                </a:solidFill>
                <a:latin typeface="Courier New" pitchFamily="34" charset="0"/>
                <a:ea typeface="Courier New" pitchFamily="34" charset="-122"/>
                <a:cs typeface="Courier New" pitchFamily="34" charset="-120"/>
              </a:rPr>
              <a:t> </a:t>
            </a:r>
            <a:r>
              <a:rPr lang="en-US" sz="1400" dirty="0">
                <a:solidFill>
                  <a:srgbClr val="27C93F"/>
                </a:solidFill>
                <a:latin typeface="Courier New" pitchFamily="34" charset="0"/>
                <a:ea typeface="Courier New" pitchFamily="34" charset="-122"/>
                <a:cs typeface="Courier New" pitchFamily="34" charset="-120"/>
              </a:rPr>
              <a:t>●</a:t>
            </a:r>
            <a:endParaRPr lang="en-US" sz="1400" dirty="0"/>
          </a:p>
        </p:txBody>
      </p:sp>
      <p:sp>
        <p:nvSpPr>
          <p:cNvPr id="9" name="Text 7"/>
          <p:cNvSpPr/>
          <p:nvPr/>
        </p:nvSpPr>
        <p:spPr>
          <a:xfrm>
            <a:off x="2032000" y="2794000"/>
            <a:ext cx="6096000" cy="508000"/>
          </a:xfrm>
          <a:prstGeom prst="rect">
            <a:avLst/>
          </a:prstGeom>
          <a:noFill/>
          <a:ln/>
        </p:spPr>
        <p:txBody>
          <a:bodyPr wrap="none" lIns="0" tIns="0" rIns="0" bIns="0" rtlCol="0" anchor="ctr"/>
          <a:lstStyle/>
          <a:p>
            <a:pPr algn="ctr">
              <a:lnSpc>
                <a:spcPct val="120000"/>
              </a:lnSpc>
            </a:pPr>
            <a:r>
              <a:rPr lang="en-US" sz="1400" dirty="0">
                <a:solidFill>
                  <a:srgbClr val="B0B0B0"/>
                </a:solidFill>
                <a:latin typeface="Courier New" pitchFamily="34" charset="0"/>
                <a:ea typeface="Courier New" pitchFamily="34" charset="-122"/>
                <a:cs typeface="Courier New" pitchFamily="34" charset="-120"/>
              </a:rPr>
              <a:t>AI Feedback Component</a:t>
            </a:r>
            <a:endParaRPr lang="en-US" sz="1400" dirty="0"/>
          </a:p>
        </p:txBody>
      </p:sp>
      <p:sp>
        <p:nvSpPr>
          <p:cNvPr id="10" name="Text 8"/>
          <p:cNvSpPr/>
          <p:nvPr/>
        </p:nvSpPr>
        <p:spPr>
          <a:xfrm>
            <a:off x="1397000" y="3492500"/>
            <a:ext cx="6645031" cy="5270500"/>
          </a:xfrm>
          <a:prstGeom prst="rect">
            <a:avLst/>
          </a:prstGeom>
          <a:noFill/>
          <a:ln/>
        </p:spPr>
        <p:txBody>
          <a:bodyPr wrap="square" lIns="0" tIns="0" rIns="0" bIns="0" rtlCol="0" anchor="t"/>
          <a:lstStyle/>
          <a:p>
            <a:pPr algn="l">
              <a:lnSpc>
                <a:spcPct val="150000"/>
              </a:lnSpc>
            </a:pPr>
            <a:r>
              <a:rPr lang="en-US" sz="1400" dirty="0">
                <a:solidFill>
                  <a:srgbClr val="C792EA"/>
                </a:solidFill>
                <a:latin typeface="Courier New" pitchFamily="34" charset="0"/>
                <a:ea typeface="Courier New" pitchFamily="34" charset="-122"/>
                <a:cs typeface="Courier New" pitchFamily="34" charset="-120"/>
              </a:rPr>
              <a:t>const</a:t>
            </a: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82AAFF"/>
                </a:solidFill>
                <a:latin typeface="Courier New" pitchFamily="34" charset="0"/>
                <a:ea typeface="Courier New" pitchFamily="34" charset="-122"/>
                <a:cs typeface="Courier New" pitchFamily="34" charset="-120"/>
              </a:rPr>
              <a:t>renderAIFeedback</a:t>
            </a:r>
            <a:r>
              <a:rPr lang="en-US" sz="1400" dirty="0">
                <a:solidFill>
                  <a:srgbClr val="E0E0E0"/>
                </a:solidFill>
                <a:latin typeface="Courier New" pitchFamily="34" charset="0"/>
                <a:ea typeface="Courier New" pitchFamily="34" charset="-122"/>
                <a:cs typeface="Courier New" pitchFamily="34" charset="-120"/>
              </a:rPr>
              <a:t> = (feedback) =&gt;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C792EA"/>
                </a:solidFill>
                <a:latin typeface="Courier New" pitchFamily="34" charset="0"/>
                <a:ea typeface="Courier New" pitchFamily="34" charset="-122"/>
                <a:cs typeface="Courier New" pitchFamily="34" charset="-120"/>
              </a:rPr>
              <a:t>if</a:t>
            </a:r>
            <a:r>
              <a:rPr lang="en-US" sz="1400" dirty="0">
                <a:solidFill>
                  <a:srgbClr val="E0E0E0"/>
                </a:solidFill>
                <a:latin typeface="Courier New" pitchFamily="34" charset="0"/>
                <a:ea typeface="Courier New" pitchFamily="34" charset="-122"/>
                <a:cs typeface="Courier New" pitchFamily="34" charset="-120"/>
              </a:rPr>
              <a:t> (feedback.status === </a:t>
            </a:r>
            <a:r>
              <a:rPr lang="en-US" sz="1400" dirty="0">
                <a:solidFill>
                  <a:srgbClr val="C3E88D"/>
                </a:solidFill>
                <a:latin typeface="Courier New" pitchFamily="34" charset="0"/>
                <a:ea typeface="Courier New" pitchFamily="34" charset="-122"/>
                <a:cs typeface="Courier New" pitchFamily="34" charset="-120"/>
              </a:rPr>
              <a:t>'Not Recommended'</a:t>
            </a:r>
            <a:r>
              <a:rPr lang="en-US" sz="1400" dirty="0">
                <a:solidFill>
                  <a:srgbClr val="E0E0E0"/>
                </a:solidFill>
                <a:latin typeface="Courier New" pitchFamily="34" charset="0"/>
                <a:ea typeface="Courier New" pitchFamily="34" charset="-122"/>
                <a:cs typeface="Courier New" pitchFamily="34" charset="-120"/>
              </a:rPr>
              <a: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C792EA"/>
                </a:solidFill>
                <a:latin typeface="Courier New" pitchFamily="34" charset="0"/>
                <a:ea typeface="Courier New" pitchFamily="34" charset="-122"/>
                <a:cs typeface="Courier New" pitchFamily="34" charset="-120"/>
              </a:rPr>
              <a:t>return</a:t>
            </a:r>
            <a:r>
              <a:rPr lang="en-US" sz="1400" dirty="0">
                <a:solidFill>
                  <a:srgbClr val="E0E0E0"/>
                </a:solidFill>
                <a:latin typeface="Courier New" pitchFamily="34" charset="0"/>
                <a:ea typeface="Courier New" pitchFamily="34" charset="-122"/>
                <a:cs typeface="Courier New" pitchFamily="34" charset="-120"/>
              </a:rPr>
              <a: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&lt;div className=</a:t>
            </a:r>
            <a:r>
              <a:rPr lang="en-US" sz="1400" dirty="0">
                <a:solidFill>
                  <a:srgbClr val="C3E88D"/>
                </a:solidFill>
                <a:latin typeface="Courier New" pitchFamily="34" charset="0"/>
                <a:ea typeface="Courier New" pitchFamily="34" charset="-122"/>
                <a:cs typeface="Courier New" pitchFamily="34" charset="-120"/>
              </a:rPr>
              <a:t>"border-red-500/50 bg-red-500/10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C3E88D"/>
                </a:solidFill>
                <a:latin typeface="Courier New" pitchFamily="34" charset="0"/>
                <a:ea typeface="Courier New" pitchFamily="34" charset="-122"/>
                <a:cs typeface="Courier New" pitchFamily="34" charset="-120"/>
              </a:rPr>
              <a:t>text-red-500 p-4 rounded-xl"</a:t>
            </a:r>
            <a:r>
              <a:rPr lang="en-US" sz="1400" dirty="0">
                <a:solidFill>
                  <a:srgbClr val="E0E0E0"/>
                </a:solidFill>
                <a:latin typeface="Courier New" pitchFamily="34" charset="0"/>
                <a:ea typeface="Courier New" pitchFamily="34" charset="-122"/>
                <a:cs typeface="Courier New" pitchFamily="34" charset="-120"/>
              </a:rPr>
              <a:t>&gt;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 {feedback.reason}</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&lt;/div&gt;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C792EA"/>
                </a:solidFill>
                <a:latin typeface="Courier New" pitchFamily="34" charset="0"/>
                <a:ea typeface="Courier New" pitchFamily="34" charset="-122"/>
                <a:cs typeface="Courier New" pitchFamily="34" charset="-120"/>
              </a:rPr>
              <a:t>return</a:t>
            </a:r>
            <a:r>
              <a:rPr lang="en-US" sz="1400" dirty="0">
                <a:solidFill>
                  <a:srgbClr val="E0E0E0"/>
                </a:solidFill>
                <a:latin typeface="Courier New" pitchFamily="34" charset="0"/>
                <a:ea typeface="Courier New" pitchFamily="34" charset="-122"/>
                <a:cs typeface="Courier New" pitchFamily="34" charset="-120"/>
              </a:rPr>
              <a: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&lt;div className=</a:t>
            </a:r>
            <a:r>
              <a:rPr lang="en-US" sz="1400" dirty="0">
                <a:solidFill>
                  <a:srgbClr val="C3E88D"/>
                </a:solidFill>
                <a:latin typeface="Courier New" pitchFamily="34" charset="0"/>
                <a:ea typeface="Courier New" pitchFamily="34" charset="-122"/>
                <a:cs typeface="Courier New" pitchFamily="34" charset="-120"/>
              </a:rPr>
              <a:t>"border-green-500/50 bg-green-500/10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C3E88D"/>
                </a:solidFill>
                <a:latin typeface="Courier New" pitchFamily="34" charset="0"/>
                <a:ea typeface="Courier New" pitchFamily="34" charset="-122"/>
                <a:cs typeface="Courier New" pitchFamily="34" charset="-120"/>
              </a:rPr>
              <a:t>text-green-500 p-4 rounded-xl"</a:t>
            </a:r>
            <a:r>
              <a:rPr lang="en-US" sz="1400" dirty="0">
                <a:solidFill>
                  <a:srgbClr val="E0E0E0"/>
                </a:solidFill>
                <a:latin typeface="Courier New" pitchFamily="34" charset="0"/>
                <a:ea typeface="Courier New" pitchFamily="34" charset="-122"/>
                <a:cs typeface="Courier New" pitchFamily="34" charset="-120"/>
              </a:rPr>
              <a:t>&gt;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 Рекомендовано для ваших цілей</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&lt;/div&gt;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a:t>
            </a:r>
            <a:endParaRPr lang="en-US" sz="1400" dirty="0"/>
          </a:p>
        </p:txBody>
      </p:sp>
      <p:pic>
        <p:nvPicPr>
          <p:cNvPr id="12" name="Picture 11">
            <a:extLst>
              <a:ext uri="{FF2B5EF4-FFF2-40B4-BE49-F238E27FC236}">
                <a16:creationId xmlns:a16="http://schemas.microsoft.com/office/drawing/2014/main" id="{19FB0672-B040-4720-83B1-547D9A6857A8}"/>
              </a:ext>
            </a:extLst>
          </p:cNvPr>
          <p:cNvPicPr>
            <a:picLocks noChangeAspect="1"/>
          </p:cNvPicPr>
          <p:nvPr/>
        </p:nvPicPr>
        <p:blipFill rotWithShape="1">
          <a:blip r:embed="rId3"/>
          <a:srcRect l="1" r="35482"/>
          <a:stretch/>
        </p:blipFill>
        <p:spPr>
          <a:xfrm>
            <a:off x="9018956" y="3048000"/>
            <a:ext cx="6373604" cy="5363323"/>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1016000" y="635000"/>
            <a:ext cx="11430000" cy="635000"/>
          </a:xfrm>
          <a:prstGeom prst="rect">
            <a:avLst/>
          </a:prstGeom>
          <a:noFill/>
          <a:ln/>
        </p:spPr>
        <p:txBody>
          <a:bodyPr wrap="square" lIns="0" tIns="0" rIns="0" bIns="0" rtlCol="0" anchor="t"/>
          <a:lstStyle/>
          <a:p>
            <a:pPr>
              <a:lnSpc>
                <a:spcPct val="120000"/>
              </a:lnSpc>
            </a:pPr>
            <a:r>
              <a:rPr lang="en-US" sz="3600" b="1" dirty="0">
                <a:solidFill>
                  <a:srgbClr val="3C4A5A"/>
                </a:solidFill>
                <a:latin typeface="Times New Roman" panose="02020603050405020304" pitchFamily="18" charset="0"/>
                <a:ea typeface="Liter"/>
                <a:cs typeface="Times New Roman" panose="02020603050405020304" pitchFamily="18" charset="0"/>
              </a:rPr>
              <a:t>Сучасний </a:t>
            </a:r>
            <a:r>
              <a:rPr lang="en-US" sz="3600" b="1" dirty="0" err="1">
                <a:solidFill>
                  <a:srgbClr val="3C4A5A"/>
                </a:solidFill>
                <a:latin typeface="Times New Roman" panose="02020603050405020304" pitchFamily="18" charset="0"/>
                <a:ea typeface="Liter"/>
                <a:cs typeface="Times New Roman" panose="02020603050405020304" pitchFamily="18" charset="0"/>
              </a:rPr>
              <a:t>користувацький</a:t>
            </a:r>
            <a:r>
              <a:rPr lang="en-US" sz="3600" b="1" dirty="0">
                <a:solidFill>
                  <a:srgbClr val="3C4A5A"/>
                </a:solidFill>
                <a:latin typeface="Times New Roman" panose="02020603050405020304" pitchFamily="18" charset="0"/>
                <a:ea typeface="Liter"/>
                <a:cs typeface="Times New Roman" panose="02020603050405020304" pitchFamily="18" charset="0"/>
              </a:rPr>
              <a:t> </a:t>
            </a:r>
            <a:r>
              <a:rPr lang="en-US" sz="3600" b="1" dirty="0" err="1">
                <a:solidFill>
                  <a:srgbClr val="3C4A5A"/>
                </a:solidFill>
                <a:latin typeface="Times New Roman" panose="02020603050405020304" pitchFamily="18" charset="0"/>
                <a:ea typeface="Liter"/>
                <a:cs typeface="Times New Roman" panose="02020603050405020304" pitchFamily="18" charset="0"/>
              </a:rPr>
              <a:t>інтерфейс</a:t>
            </a:r>
            <a:endParaRPr lang="en-US" sz="3600" b="1" dirty="0">
              <a:solidFill>
                <a:srgbClr val="3C4A5A"/>
              </a:solidFill>
              <a:latin typeface="Times New Roman" panose="02020603050405020304" pitchFamily="18" charset="0"/>
              <a:ea typeface="Liter"/>
              <a:cs typeface="Times New Roman" panose="02020603050405020304" pitchFamily="18" charset="0"/>
            </a:endParaRPr>
          </a:p>
        </p:txBody>
      </p:sp>
      <p:sp>
        <p:nvSpPr>
          <p:cNvPr id="3" name="Shape 1"/>
          <p:cNvSpPr/>
          <p:nvPr/>
        </p:nvSpPr>
        <p:spPr>
          <a:xfrm>
            <a:off x="1016000" y="1651000"/>
            <a:ext cx="6858000" cy="3556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4" name="Shape 2"/>
          <p:cNvSpPr/>
          <p:nvPr/>
        </p:nvSpPr>
        <p:spPr>
          <a:xfrm>
            <a:off x="1524000" y="2095500"/>
            <a:ext cx="558800" cy="558800"/>
          </a:xfrm>
          <a:custGeom>
            <a:avLst/>
            <a:gdLst/>
            <a:ahLst/>
            <a:cxnLst/>
            <a:rect l="l" t="t" r="r" b="b"/>
            <a:pathLst>
              <a:path w="558800" h="558800">
                <a:moveTo>
                  <a:pt x="558800" y="279400"/>
                </a:moveTo>
                <a:cubicBezTo>
                  <a:pt x="558800" y="280382"/>
                  <a:pt x="558800" y="281365"/>
                  <a:pt x="558800" y="282347"/>
                </a:cubicBezTo>
                <a:cubicBezTo>
                  <a:pt x="558363" y="322183"/>
                  <a:pt x="522129" y="349250"/>
                  <a:pt x="482292" y="349250"/>
                </a:cubicBezTo>
                <a:lnTo>
                  <a:pt x="375444" y="349250"/>
                </a:lnTo>
                <a:cubicBezTo>
                  <a:pt x="346521" y="349250"/>
                  <a:pt x="323056" y="372715"/>
                  <a:pt x="323056" y="401637"/>
                </a:cubicBezTo>
                <a:cubicBezTo>
                  <a:pt x="323056" y="405348"/>
                  <a:pt x="323493" y="408950"/>
                  <a:pt x="324148" y="412442"/>
                </a:cubicBezTo>
                <a:cubicBezTo>
                  <a:pt x="326440" y="423575"/>
                  <a:pt x="331242" y="434271"/>
                  <a:pt x="335935" y="445075"/>
                </a:cubicBezTo>
                <a:cubicBezTo>
                  <a:pt x="342592" y="460137"/>
                  <a:pt x="349141" y="475089"/>
                  <a:pt x="349141" y="490915"/>
                </a:cubicBezTo>
                <a:cubicBezTo>
                  <a:pt x="349141" y="525621"/>
                  <a:pt x="325566" y="557163"/>
                  <a:pt x="290860" y="558582"/>
                </a:cubicBezTo>
                <a:cubicBezTo>
                  <a:pt x="287040" y="558691"/>
                  <a:pt x="283220" y="558800"/>
                  <a:pt x="279291" y="558800"/>
                </a:cubicBezTo>
                <a:cubicBezTo>
                  <a:pt x="124966" y="558800"/>
                  <a:pt x="-109" y="433725"/>
                  <a:pt x="-109" y="279400"/>
                </a:cubicBezTo>
                <a:cubicBezTo>
                  <a:pt x="-109" y="125075"/>
                  <a:pt x="125075" y="0"/>
                  <a:pt x="279400" y="0"/>
                </a:cubicBezTo>
                <a:cubicBezTo>
                  <a:pt x="433725" y="0"/>
                  <a:pt x="558800" y="125075"/>
                  <a:pt x="558800" y="279400"/>
                </a:cubicBezTo>
                <a:close/>
                <a:moveTo>
                  <a:pt x="139700" y="314325"/>
                </a:moveTo>
                <a:cubicBezTo>
                  <a:pt x="139700" y="295049"/>
                  <a:pt x="124051" y="279400"/>
                  <a:pt x="104775" y="279400"/>
                </a:cubicBezTo>
                <a:cubicBezTo>
                  <a:pt x="85499" y="279400"/>
                  <a:pt x="69850" y="295049"/>
                  <a:pt x="69850" y="314325"/>
                </a:cubicBezTo>
                <a:cubicBezTo>
                  <a:pt x="69850" y="333601"/>
                  <a:pt x="85499" y="349250"/>
                  <a:pt x="104775" y="349250"/>
                </a:cubicBezTo>
                <a:cubicBezTo>
                  <a:pt x="124051" y="349250"/>
                  <a:pt x="139700" y="333601"/>
                  <a:pt x="139700" y="314325"/>
                </a:cubicBezTo>
                <a:close/>
                <a:moveTo>
                  <a:pt x="139700" y="209550"/>
                </a:moveTo>
                <a:cubicBezTo>
                  <a:pt x="158976" y="209550"/>
                  <a:pt x="174625" y="193901"/>
                  <a:pt x="174625" y="174625"/>
                </a:cubicBezTo>
                <a:cubicBezTo>
                  <a:pt x="174625" y="155349"/>
                  <a:pt x="158976" y="139700"/>
                  <a:pt x="139700" y="139700"/>
                </a:cubicBezTo>
                <a:cubicBezTo>
                  <a:pt x="120424" y="139700"/>
                  <a:pt x="104775" y="155349"/>
                  <a:pt x="104775" y="174625"/>
                </a:cubicBezTo>
                <a:cubicBezTo>
                  <a:pt x="104775" y="193901"/>
                  <a:pt x="120424" y="209550"/>
                  <a:pt x="139700" y="209550"/>
                </a:cubicBezTo>
                <a:close/>
                <a:moveTo>
                  <a:pt x="314325" y="104775"/>
                </a:moveTo>
                <a:cubicBezTo>
                  <a:pt x="314325" y="85499"/>
                  <a:pt x="298676" y="69850"/>
                  <a:pt x="279400" y="69850"/>
                </a:cubicBezTo>
                <a:cubicBezTo>
                  <a:pt x="260124" y="69850"/>
                  <a:pt x="244475" y="85499"/>
                  <a:pt x="244475" y="104775"/>
                </a:cubicBezTo>
                <a:cubicBezTo>
                  <a:pt x="244475" y="124051"/>
                  <a:pt x="260124" y="139700"/>
                  <a:pt x="279400" y="139700"/>
                </a:cubicBezTo>
                <a:cubicBezTo>
                  <a:pt x="298676" y="139700"/>
                  <a:pt x="314325" y="124051"/>
                  <a:pt x="314325" y="104775"/>
                </a:cubicBezTo>
                <a:close/>
                <a:moveTo>
                  <a:pt x="419100" y="209550"/>
                </a:moveTo>
                <a:cubicBezTo>
                  <a:pt x="438376" y="209550"/>
                  <a:pt x="454025" y="193901"/>
                  <a:pt x="454025" y="174625"/>
                </a:cubicBezTo>
                <a:cubicBezTo>
                  <a:pt x="454025" y="155349"/>
                  <a:pt x="438376" y="139700"/>
                  <a:pt x="419100" y="139700"/>
                </a:cubicBezTo>
                <a:cubicBezTo>
                  <a:pt x="399824" y="139700"/>
                  <a:pt x="384175" y="155349"/>
                  <a:pt x="384175" y="174625"/>
                </a:cubicBezTo>
                <a:cubicBezTo>
                  <a:pt x="384175" y="193901"/>
                  <a:pt x="399824" y="209550"/>
                  <a:pt x="419100" y="209550"/>
                </a:cubicBezTo>
                <a:close/>
              </a:path>
            </a:pathLst>
          </a:custGeom>
          <a:solidFill>
            <a:srgbClr val="0A6B70"/>
          </a:solidFill>
          <a:ln/>
        </p:spPr>
      </p:sp>
      <p:sp>
        <p:nvSpPr>
          <p:cNvPr id="5" name="Text 3"/>
          <p:cNvSpPr/>
          <p:nvPr/>
        </p:nvSpPr>
        <p:spPr>
          <a:xfrm>
            <a:off x="2286000" y="2095500"/>
            <a:ext cx="5080000" cy="558800"/>
          </a:xfrm>
          <a:prstGeom prst="rect">
            <a:avLst/>
          </a:prstGeom>
          <a:noFill/>
          <a:ln/>
        </p:spPr>
        <p:txBody>
          <a:bodyPr wrap="square" lIns="0" tIns="0" rIns="0" bIns="0" rtlCol="0" anchor="ctr"/>
          <a:lstStyle/>
          <a:p>
            <a:pPr algn="l">
              <a:lnSpc>
                <a:spcPct val="120000"/>
              </a:lnSpc>
            </a:pPr>
            <a:r>
              <a:rPr lang="en-US" sz="2400" dirty="0">
                <a:solidFill>
                  <a:srgbClr val="0A6B70"/>
                </a:solidFill>
                <a:latin typeface="Times New Roman" panose="02020603050405020304" pitchFamily="18" charset="0"/>
                <a:ea typeface="Liter" pitchFamily="34" charset="-122"/>
                <a:cs typeface="Times New Roman" panose="02020603050405020304" pitchFamily="18" charset="0"/>
              </a:rPr>
              <a:t>Темна неонова стилістика</a:t>
            </a:r>
            <a:endParaRPr lang="en-US" sz="2400" dirty="0"/>
          </a:p>
        </p:txBody>
      </p:sp>
      <p:sp>
        <p:nvSpPr>
          <p:cNvPr id="6" name="Text 4"/>
          <p:cNvSpPr/>
          <p:nvPr/>
        </p:nvSpPr>
        <p:spPr>
          <a:xfrm>
            <a:off x="1524000" y="2921000"/>
            <a:ext cx="5969000" cy="2032000"/>
          </a:xfrm>
          <a:prstGeom prst="rect">
            <a:avLst/>
          </a:prstGeom>
          <a:noFill/>
          <a:ln/>
        </p:spPr>
        <p:txBody>
          <a:bodyPr wrap="square" lIns="0" tIns="0" rIns="0" bIns="0" rtlCol="0" anchor="t"/>
          <a:lstStyle/>
          <a:p>
            <a:pPr algn="l">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Акцентні кольори </a:t>
            </a:r>
            <a:r>
              <a:rPr lang="en-US" sz="1800" b="1" dirty="0">
                <a:solidFill>
                  <a:srgbClr val="00BCD4"/>
                </a:solidFill>
                <a:latin typeface="Times New Roman" panose="02020603050405020304" pitchFamily="18" charset="0"/>
                <a:ea typeface="Liter" pitchFamily="34" charset="-122"/>
                <a:cs typeface="Times New Roman" panose="02020603050405020304" pitchFamily="18" charset="0"/>
              </a:rPr>
              <a:t>Cyan</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та </a:t>
            </a:r>
            <a:r>
              <a:rPr lang="en-US" sz="1800" b="1" dirty="0">
                <a:solidFill>
                  <a:srgbClr val="2196F3"/>
                </a:solidFill>
                <a:latin typeface="Times New Roman" panose="02020603050405020304" pitchFamily="18" charset="0"/>
                <a:ea typeface="Liter" pitchFamily="34" charset="-122"/>
                <a:cs typeface="Times New Roman" panose="02020603050405020304" pitchFamily="18" charset="0"/>
              </a:rPr>
              <a:t>Blue</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на темному фоні створюють сучасний tech-вигляд.</a:t>
            </a:r>
            <a:endParaRPr lang="en-US" sz="1800" dirty="0"/>
          </a:p>
          <a:p>
            <a:pPr algn="l">
              <a:lnSpc>
                <a:spcPct val="150000"/>
              </a:lnSpc>
              <a:spcBef>
                <a:spcPts val="800"/>
              </a:spcBef>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Glassmorphism ефекти з backdrop-blur для глибини інтерфейсу.</a:t>
            </a:r>
            <a:endParaRPr lang="en-US" sz="1800" dirty="0"/>
          </a:p>
        </p:txBody>
      </p:sp>
      <p:sp>
        <p:nvSpPr>
          <p:cNvPr id="7" name="Shape 5"/>
          <p:cNvSpPr/>
          <p:nvPr/>
        </p:nvSpPr>
        <p:spPr>
          <a:xfrm>
            <a:off x="8382000" y="1651000"/>
            <a:ext cx="6858000" cy="3556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8" name="Shape 6"/>
          <p:cNvSpPr/>
          <p:nvPr/>
        </p:nvSpPr>
        <p:spPr>
          <a:xfrm>
            <a:off x="8890000" y="2095500"/>
            <a:ext cx="558800" cy="558800"/>
          </a:xfrm>
          <a:custGeom>
            <a:avLst/>
            <a:gdLst/>
            <a:ahLst/>
            <a:cxnLst/>
            <a:rect l="l" t="t" r="r" b="b"/>
            <a:pathLst>
              <a:path w="558800" h="558800">
                <a:moveTo>
                  <a:pt x="23283" y="69850"/>
                </a:moveTo>
                <a:cubicBezTo>
                  <a:pt x="23283" y="31323"/>
                  <a:pt x="65048" y="0"/>
                  <a:pt x="116417" y="0"/>
                </a:cubicBezTo>
                <a:lnTo>
                  <a:pt x="442383" y="0"/>
                </a:lnTo>
                <a:cubicBezTo>
                  <a:pt x="493752" y="0"/>
                  <a:pt x="535517" y="31323"/>
                  <a:pt x="535517" y="69850"/>
                </a:cubicBezTo>
                <a:lnTo>
                  <a:pt x="535517" y="488950"/>
                </a:lnTo>
                <a:cubicBezTo>
                  <a:pt x="535517" y="527477"/>
                  <a:pt x="493752" y="558800"/>
                  <a:pt x="442383" y="558800"/>
                </a:cubicBezTo>
                <a:lnTo>
                  <a:pt x="116417" y="558800"/>
                </a:lnTo>
                <a:cubicBezTo>
                  <a:pt x="65048" y="558800"/>
                  <a:pt x="23283" y="527477"/>
                  <a:pt x="23283" y="488950"/>
                </a:cubicBezTo>
                <a:lnTo>
                  <a:pt x="23283" y="69850"/>
                </a:lnTo>
                <a:close/>
                <a:moveTo>
                  <a:pt x="116417" y="69850"/>
                </a:moveTo>
                <a:lnTo>
                  <a:pt x="116417" y="401637"/>
                </a:lnTo>
                <a:lnTo>
                  <a:pt x="442383" y="401637"/>
                </a:lnTo>
                <a:lnTo>
                  <a:pt x="442383" y="69850"/>
                </a:lnTo>
                <a:lnTo>
                  <a:pt x="116417" y="69850"/>
                </a:lnTo>
                <a:close/>
                <a:moveTo>
                  <a:pt x="279400" y="515144"/>
                </a:moveTo>
                <a:cubicBezTo>
                  <a:pt x="305157" y="515144"/>
                  <a:pt x="325967" y="499537"/>
                  <a:pt x="325967" y="480219"/>
                </a:cubicBezTo>
                <a:cubicBezTo>
                  <a:pt x="325967" y="460901"/>
                  <a:pt x="305157" y="445294"/>
                  <a:pt x="279400" y="445294"/>
                </a:cubicBezTo>
                <a:cubicBezTo>
                  <a:pt x="253643" y="445294"/>
                  <a:pt x="232833" y="460901"/>
                  <a:pt x="232833" y="480219"/>
                </a:cubicBezTo>
                <a:cubicBezTo>
                  <a:pt x="232833" y="499537"/>
                  <a:pt x="253643" y="515144"/>
                  <a:pt x="279400" y="515144"/>
                </a:cubicBezTo>
                <a:close/>
              </a:path>
            </a:pathLst>
          </a:custGeom>
          <a:solidFill>
            <a:srgbClr val="FFC107"/>
          </a:solidFill>
          <a:ln/>
        </p:spPr>
      </p:sp>
      <p:sp>
        <p:nvSpPr>
          <p:cNvPr id="9" name="Text 7"/>
          <p:cNvSpPr/>
          <p:nvPr/>
        </p:nvSpPr>
        <p:spPr>
          <a:xfrm>
            <a:off x="9652000" y="2095500"/>
            <a:ext cx="5080000" cy="558800"/>
          </a:xfrm>
          <a:prstGeom prst="rect">
            <a:avLst/>
          </a:prstGeom>
          <a:noFill/>
          <a:ln/>
        </p:spPr>
        <p:txBody>
          <a:bodyPr wrap="square" lIns="0" tIns="0" rIns="0" bIns="0" rtlCol="0" anchor="ctr"/>
          <a:lstStyle/>
          <a:p>
            <a:pPr algn="l">
              <a:lnSpc>
                <a:spcPct val="120000"/>
              </a:lnSpc>
            </a:pPr>
            <a:r>
              <a:rPr lang="en-US" sz="2400" dirty="0">
                <a:solidFill>
                  <a:srgbClr val="FFC107"/>
                </a:solidFill>
                <a:latin typeface="Times New Roman" panose="02020603050405020304" pitchFamily="18" charset="0"/>
                <a:ea typeface="Liter" pitchFamily="34" charset="-122"/>
                <a:cs typeface="Times New Roman" panose="02020603050405020304" pitchFamily="18" charset="0"/>
              </a:rPr>
              <a:t>Адаптивний дизайн</a:t>
            </a:r>
            <a:endParaRPr lang="en-US" sz="2400" dirty="0"/>
          </a:p>
        </p:txBody>
      </p:sp>
      <p:sp>
        <p:nvSpPr>
          <p:cNvPr id="10" name="Text 8"/>
          <p:cNvSpPr/>
          <p:nvPr/>
        </p:nvSpPr>
        <p:spPr>
          <a:xfrm>
            <a:off x="8890000" y="2921000"/>
            <a:ext cx="5969000" cy="2032000"/>
          </a:xfrm>
          <a:prstGeom prst="rect">
            <a:avLst/>
          </a:prstGeom>
          <a:noFill/>
          <a:ln/>
        </p:spPr>
        <p:txBody>
          <a:bodyPr wrap="square" lIns="0" tIns="0" rIns="0" bIns="0" rtlCol="0" anchor="t"/>
          <a:lstStyle/>
          <a:p>
            <a:pPr algn="l">
              <a:lnSpc>
                <a:spcPct val="150000"/>
              </a:lnSpc>
            </a:pP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Responsive Design</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 повна підтримка мобільних пристроїв та планшетів.</a:t>
            </a:r>
            <a:endParaRPr lang="en-US" sz="1800" dirty="0"/>
          </a:p>
          <a:p>
            <a:pPr algn="l">
              <a:lnSpc>
                <a:spcPct val="150000"/>
              </a:lnSpc>
              <a:spcBef>
                <a:spcPts val="800"/>
              </a:spcBef>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Інтерфейс адаптується під будь-який розмір екрану без втрати функціональності.</a:t>
            </a:r>
            <a:endParaRPr lang="en-US" sz="1800" dirty="0"/>
          </a:p>
        </p:txBody>
      </p:sp>
      <p:sp>
        <p:nvSpPr>
          <p:cNvPr id="11" name="Shape 9"/>
          <p:cNvSpPr/>
          <p:nvPr/>
        </p:nvSpPr>
        <p:spPr>
          <a:xfrm>
            <a:off x="1016000" y="5588000"/>
            <a:ext cx="14224000" cy="3048000"/>
          </a:xfrm>
          <a:prstGeom prst="roundRect">
            <a:avLst>
              <a:gd name="adj" fmla="val 12000"/>
            </a:avLst>
          </a:prstGeom>
          <a:gradFill flip="none" rotWithShape="1">
            <a:gsLst>
              <a:gs pos="0">
                <a:srgbClr val="0A6B70"/>
              </a:gs>
              <a:gs pos="100000">
                <a:srgbClr val="1A2E35"/>
              </a:gs>
            </a:gsLst>
            <a:lin ang="8100000" scaled="1"/>
          </a:gradFill>
          <a:ln/>
          <a:effectLst>
            <a:outerShdw blurRad="152400" dist="50800" dir="5400000" algn="bl" rotWithShape="0">
              <a:srgbClr val="0A6B70">
                <a:alpha val="12549"/>
              </a:srgbClr>
            </a:outerShdw>
          </a:effectLst>
        </p:spPr>
      </p:sp>
      <p:sp>
        <p:nvSpPr>
          <p:cNvPr id="12" name="Text 10"/>
          <p:cNvSpPr/>
          <p:nvPr/>
        </p:nvSpPr>
        <p:spPr>
          <a:xfrm>
            <a:off x="1524000" y="5905500"/>
            <a:ext cx="5080000" cy="508000"/>
          </a:xfrm>
          <a:prstGeom prst="rect">
            <a:avLst/>
          </a:prstGeom>
          <a:noFill/>
          <a:ln/>
        </p:spPr>
        <p:txBody>
          <a:bodyPr wrap="square" lIns="0" tIns="0" rIns="0" bIns="0" rtlCol="0" anchor="ctr"/>
          <a:lstStyle/>
          <a:p>
            <a:pPr algn="l">
              <a:lnSpc>
                <a:spcPct val="120000"/>
              </a:lnSpc>
            </a:pPr>
            <a:r>
              <a:rPr lang="en-US" sz="2200" b="1" dirty="0">
                <a:solidFill>
                  <a:srgbClr val="FFFFFF"/>
                </a:solidFill>
                <a:latin typeface="Times New Roman" panose="02020603050405020304" pitchFamily="18" charset="0"/>
                <a:ea typeface="Liter" pitchFamily="34" charset="-122"/>
                <a:cs typeface="Times New Roman" panose="02020603050405020304" pitchFamily="18" charset="0"/>
              </a:rPr>
              <a:t>Технології UI</a:t>
            </a:r>
            <a:endParaRPr lang="en-US" sz="2200" dirty="0"/>
          </a:p>
        </p:txBody>
      </p:sp>
      <p:sp>
        <p:nvSpPr>
          <p:cNvPr id="13" name="Shape 11"/>
          <p:cNvSpPr/>
          <p:nvPr/>
        </p:nvSpPr>
        <p:spPr>
          <a:xfrm>
            <a:off x="1778000" y="6731000"/>
            <a:ext cx="457200" cy="457200"/>
          </a:xfrm>
          <a:custGeom>
            <a:avLst/>
            <a:gdLst/>
            <a:ahLst/>
            <a:cxnLst/>
            <a:rect l="l" t="t" r="r" b="b"/>
            <a:pathLst>
              <a:path w="457200" h="457200">
                <a:moveTo>
                  <a:pt x="257175" y="28575"/>
                </a:moveTo>
                <a:cubicBezTo>
                  <a:pt x="257175" y="44381"/>
                  <a:pt x="269944" y="57150"/>
                  <a:pt x="285750" y="57150"/>
                </a:cubicBezTo>
                <a:lnTo>
                  <a:pt x="321469" y="57150"/>
                </a:lnTo>
                <a:cubicBezTo>
                  <a:pt x="333345" y="57150"/>
                  <a:pt x="342900" y="66705"/>
                  <a:pt x="342900" y="78581"/>
                </a:cubicBezTo>
                <a:cubicBezTo>
                  <a:pt x="342900" y="90458"/>
                  <a:pt x="333345" y="100013"/>
                  <a:pt x="321469" y="100013"/>
                </a:cubicBezTo>
                <a:lnTo>
                  <a:pt x="28575" y="100013"/>
                </a:lnTo>
                <a:cubicBezTo>
                  <a:pt x="12769" y="100013"/>
                  <a:pt x="0" y="112782"/>
                  <a:pt x="0" y="128588"/>
                </a:cubicBezTo>
                <a:cubicBezTo>
                  <a:pt x="0" y="144393"/>
                  <a:pt x="12769" y="157163"/>
                  <a:pt x="28575" y="157163"/>
                </a:cubicBezTo>
                <a:lnTo>
                  <a:pt x="321469" y="157163"/>
                </a:lnTo>
                <a:cubicBezTo>
                  <a:pt x="364867" y="157163"/>
                  <a:pt x="400050" y="121980"/>
                  <a:pt x="400050" y="78581"/>
                </a:cubicBezTo>
                <a:cubicBezTo>
                  <a:pt x="400050" y="35183"/>
                  <a:pt x="364867" y="0"/>
                  <a:pt x="321469" y="0"/>
                </a:cubicBezTo>
                <a:lnTo>
                  <a:pt x="285750" y="0"/>
                </a:lnTo>
                <a:cubicBezTo>
                  <a:pt x="269944" y="0"/>
                  <a:pt x="257175" y="12769"/>
                  <a:pt x="257175" y="28575"/>
                </a:cubicBezTo>
                <a:close/>
                <a:moveTo>
                  <a:pt x="314325" y="342900"/>
                </a:moveTo>
                <a:cubicBezTo>
                  <a:pt x="314325" y="358706"/>
                  <a:pt x="327094" y="371475"/>
                  <a:pt x="342900" y="371475"/>
                </a:cubicBezTo>
                <a:lnTo>
                  <a:pt x="371475" y="371475"/>
                </a:lnTo>
                <a:cubicBezTo>
                  <a:pt x="418802" y="371475"/>
                  <a:pt x="457200" y="333077"/>
                  <a:pt x="457200" y="285750"/>
                </a:cubicBezTo>
                <a:cubicBezTo>
                  <a:pt x="457200" y="238423"/>
                  <a:pt x="418802" y="200025"/>
                  <a:pt x="371475" y="200025"/>
                </a:cubicBezTo>
                <a:lnTo>
                  <a:pt x="28575" y="200025"/>
                </a:lnTo>
                <a:cubicBezTo>
                  <a:pt x="12769" y="200025"/>
                  <a:pt x="0" y="212794"/>
                  <a:pt x="0" y="228600"/>
                </a:cubicBezTo>
                <a:cubicBezTo>
                  <a:pt x="0" y="244406"/>
                  <a:pt x="12769" y="257175"/>
                  <a:pt x="28575" y="257175"/>
                </a:cubicBezTo>
                <a:lnTo>
                  <a:pt x="371475" y="257175"/>
                </a:lnTo>
                <a:cubicBezTo>
                  <a:pt x="387281" y="257175"/>
                  <a:pt x="400050" y="269944"/>
                  <a:pt x="400050" y="285750"/>
                </a:cubicBezTo>
                <a:cubicBezTo>
                  <a:pt x="400050" y="301556"/>
                  <a:pt x="387281" y="314325"/>
                  <a:pt x="371475" y="314325"/>
                </a:cubicBezTo>
                <a:lnTo>
                  <a:pt x="342900" y="314325"/>
                </a:lnTo>
                <a:cubicBezTo>
                  <a:pt x="327094" y="314325"/>
                  <a:pt x="314325" y="327094"/>
                  <a:pt x="314325" y="342900"/>
                </a:cubicBezTo>
                <a:close/>
                <a:moveTo>
                  <a:pt x="114300" y="457200"/>
                </a:moveTo>
                <a:lnTo>
                  <a:pt x="150019" y="457200"/>
                </a:lnTo>
                <a:cubicBezTo>
                  <a:pt x="193417" y="457200"/>
                  <a:pt x="228600" y="422017"/>
                  <a:pt x="228600" y="378619"/>
                </a:cubicBezTo>
                <a:cubicBezTo>
                  <a:pt x="228600" y="335220"/>
                  <a:pt x="193417" y="300038"/>
                  <a:pt x="150019" y="300038"/>
                </a:cubicBezTo>
                <a:lnTo>
                  <a:pt x="28575" y="300038"/>
                </a:lnTo>
                <a:cubicBezTo>
                  <a:pt x="12769" y="300038"/>
                  <a:pt x="0" y="312807"/>
                  <a:pt x="0" y="328613"/>
                </a:cubicBezTo>
                <a:cubicBezTo>
                  <a:pt x="0" y="344418"/>
                  <a:pt x="12769" y="357188"/>
                  <a:pt x="28575" y="357188"/>
                </a:cubicBezTo>
                <a:lnTo>
                  <a:pt x="150019" y="357188"/>
                </a:lnTo>
                <a:cubicBezTo>
                  <a:pt x="161895" y="357188"/>
                  <a:pt x="171450" y="366742"/>
                  <a:pt x="171450" y="378619"/>
                </a:cubicBezTo>
                <a:cubicBezTo>
                  <a:pt x="171450" y="390495"/>
                  <a:pt x="161895" y="400050"/>
                  <a:pt x="150019" y="400050"/>
                </a:cubicBezTo>
                <a:lnTo>
                  <a:pt x="114300" y="400050"/>
                </a:lnTo>
                <a:cubicBezTo>
                  <a:pt x="98494" y="400050"/>
                  <a:pt x="85725" y="412819"/>
                  <a:pt x="85725" y="428625"/>
                </a:cubicBezTo>
                <a:cubicBezTo>
                  <a:pt x="85725" y="444431"/>
                  <a:pt x="98494" y="457200"/>
                  <a:pt x="114300" y="457200"/>
                </a:cubicBezTo>
                <a:close/>
              </a:path>
            </a:pathLst>
          </a:custGeom>
          <a:solidFill>
            <a:srgbClr val="38BDF8"/>
          </a:solidFill>
          <a:ln/>
        </p:spPr>
      </p:sp>
      <p:sp>
        <p:nvSpPr>
          <p:cNvPr id="14" name="Text 12"/>
          <p:cNvSpPr/>
          <p:nvPr/>
        </p:nvSpPr>
        <p:spPr>
          <a:xfrm>
            <a:off x="2413000" y="6731000"/>
            <a:ext cx="2540000" cy="457200"/>
          </a:xfrm>
          <a:prstGeom prst="rect">
            <a:avLst/>
          </a:prstGeom>
          <a:noFill/>
          <a:ln/>
        </p:spPr>
        <p:txBody>
          <a:bodyPr wrap="square" lIns="0" tIns="0" rIns="0" bIns="0" rtlCol="0" anchor="ctr"/>
          <a:lstStyle/>
          <a:p>
            <a:pPr algn="l">
              <a:lnSpc>
                <a:spcPct val="120000"/>
              </a:lnSpc>
            </a:pPr>
            <a:r>
              <a:rPr lang="en-US" sz="1800" dirty="0">
                <a:solidFill>
                  <a:srgbClr val="E0F7FA"/>
                </a:solidFill>
                <a:latin typeface="Times New Roman" panose="02020603050405020304" pitchFamily="18" charset="0"/>
                <a:ea typeface="Liter" pitchFamily="34" charset="-122"/>
                <a:cs typeface="Times New Roman" panose="02020603050405020304" pitchFamily="18" charset="0"/>
              </a:rPr>
              <a:t>Tailwind CSS</a:t>
            </a:r>
            <a:endParaRPr lang="en-US" sz="1800" dirty="0"/>
          </a:p>
        </p:txBody>
      </p:sp>
      <p:sp>
        <p:nvSpPr>
          <p:cNvPr id="15" name="Shape 13"/>
          <p:cNvSpPr/>
          <p:nvPr/>
        </p:nvSpPr>
        <p:spPr>
          <a:xfrm>
            <a:off x="5588000" y="6731000"/>
            <a:ext cx="457200" cy="457200"/>
          </a:xfrm>
          <a:custGeom>
            <a:avLst/>
            <a:gdLst/>
            <a:ahLst/>
            <a:cxnLst/>
            <a:rect l="l" t="t" r="r" b="b"/>
            <a:pathLst>
              <a:path w="457200" h="457200">
                <a:moveTo>
                  <a:pt x="228600" y="356116"/>
                </a:moveTo>
                <a:cubicBezTo>
                  <a:pt x="216558" y="360670"/>
                  <a:pt x="204719" y="364778"/>
                  <a:pt x="192983" y="368171"/>
                </a:cubicBezTo>
                <a:cubicBezTo>
                  <a:pt x="210026" y="398353"/>
                  <a:pt x="224620" y="400050"/>
                  <a:pt x="228600" y="400050"/>
                </a:cubicBezTo>
                <a:cubicBezTo>
                  <a:pt x="232580" y="400050"/>
                  <a:pt x="247072" y="398353"/>
                  <a:pt x="264217" y="368171"/>
                </a:cubicBezTo>
                <a:cubicBezTo>
                  <a:pt x="252583" y="364688"/>
                  <a:pt x="240642" y="360670"/>
                  <a:pt x="228600" y="356116"/>
                </a:cubicBezTo>
                <a:close/>
                <a:moveTo>
                  <a:pt x="422502" y="228600"/>
                </a:moveTo>
                <a:cubicBezTo>
                  <a:pt x="456179" y="268962"/>
                  <a:pt x="467712" y="309771"/>
                  <a:pt x="446586" y="342900"/>
                </a:cubicBezTo>
                <a:cubicBezTo>
                  <a:pt x="425972" y="375315"/>
                  <a:pt x="382803" y="386923"/>
                  <a:pt x="329021" y="381476"/>
                </a:cubicBezTo>
                <a:cubicBezTo>
                  <a:pt x="306569" y="428000"/>
                  <a:pt x="272177" y="457200"/>
                  <a:pt x="228600" y="457200"/>
                </a:cubicBezTo>
                <a:cubicBezTo>
                  <a:pt x="185023" y="457200"/>
                  <a:pt x="150631" y="428000"/>
                  <a:pt x="128179" y="381476"/>
                </a:cubicBezTo>
                <a:cubicBezTo>
                  <a:pt x="74397" y="386923"/>
                  <a:pt x="31228" y="375315"/>
                  <a:pt x="10614" y="342900"/>
                </a:cubicBezTo>
                <a:cubicBezTo>
                  <a:pt x="-10512" y="309771"/>
                  <a:pt x="1021" y="268962"/>
                  <a:pt x="34698" y="228600"/>
                </a:cubicBezTo>
                <a:cubicBezTo>
                  <a:pt x="1021" y="188238"/>
                  <a:pt x="-10512" y="147429"/>
                  <a:pt x="10614" y="114300"/>
                </a:cubicBezTo>
                <a:cubicBezTo>
                  <a:pt x="31228" y="81885"/>
                  <a:pt x="74397" y="70277"/>
                  <a:pt x="128179" y="75724"/>
                </a:cubicBezTo>
                <a:cubicBezTo>
                  <a:pt x="150631" y="29200"/>
                  <a:pt x="184921" y="0"/>
                  <a:pt x="228600" y="0"/>
                </a:cubicBezTo>
                <a:cubicBezTo>
                  <a:pt x="272279" y="0"/>
                  <a:pt x="306569" y="29200"/>
                  <a:pt x="329021" y="75724"/>
                </a:cubicBezTo>
                <a:cubicBezTo>
                  <a:pt x="382803" y="70277"/>
                  <a:pt x="425972" y="81796"/>
                  <a:pt x="446586" y="114300"/>
                </a:cubicBezTo>
                <a:cubicBezTo>
                  <a:pt x="467712" y="147429"/>
                  <a:pt x="456179" y="188238"/>
                  <a:pt x="422502" y="228600"/>
                </a:cubicBezTo>
                <a:close/>
                <a:moveTo>
                  <a:pt x="355351" y="288786"/>
                </a:moveTo>
                <a:cubicBezTo>
                  <a:pt x="353616" y="301466"/>
                  <a:pt x="351370" y="313789"/>
                  <a:pt x="348513" y="325576"/>
                </a:cubicBezTo>
                <a:cubicBezTo>
                  <a:pt x="380966" y="326827"/>
                  <a:pt x="387906" y="317808"/>
                  <a:pt x="389538" y="315129"/>
                </a:cubicBezTo>
                <a:cubicBezTo>
                  <a:pt x="391886" y="311378"/>
                  <a:pt x="396682" y="299145"/>
                  <a:pt x="377394" y="272177"/>
                </a:cubicBezTo>
                <a:cubicBezTo>
                  <a:pt x="370454" y="277803"/>
                  <a:pt x="363107" y="283339"/>
                  <a:pt x="355351" y="288786"/>
                </a:cubicBezTo>
                <a:close/>
                <a:moveTo>
                  <a:pt x="348513" y="131713"/>
                </a:moveTo>
                <a:cubicBezTo>
                  <a:pt x="351370" y="143411"/>
                  <a:pt x="353616" y="155734"/>
                  <a:pt x="355351" y="168503"/>
                </a:cubicBezTo>
                <a:cubicBezTo>
                  <a:pt x="363107" y="173950"/>
                  <a:pt x="370454" y="179487"/>
                  <a:pt x="377394" y="185112"/>
                </a:cubicBezTo>
                <a:cubicBezTo>
                  <a:pt x="396682" y="158145"/>
                  <a:pt x="391886" y="145822"/>
                  <a:pt x="389538" y="142161"/>
                </a:cubicBezTo>
                <a:cubicBezTo>
                  <a:pt x="387906" y="139571"/>
                  <a:pt x="380966" y="130552"/>
                  <a:pt x="348513" y="131713"/>
                </a:cubicBezTo>
                <a:close/>
                <a:moveTo>
                  <a:pt x="264217" y="89029"/>
                </a:moveTo>
                <a:cubicBezTo>
                  <a:pt x="247072" y="58847"/>
                  <a:pt x="232580" y="57150"/>
                  <a:pt x="228600" y="57150"/>
                </a:cubicBezTo>
                <a:cubicBezTo>
                  <a:pt x="224620" y="57150"/>
                  <a:pt x="210128" y="58847"/>
                  <a:pt x="192983" y="89029"/>
                </a:cubicBezTo>
                <a:cubicBezTo>
                  <a:pt x="204617" y="92512"/>
                  <a:pt x="216558" y="96530"/>
                  <a:pt x="228600" y="101084"/>
                </a:cubicBezTo>
                <a:cubicBezTo>
                  <a:pt x="240642" y="96530"/>
                  <a:pt x="252481" y="92422"/>
                  <a:pt x="264217" y="89029"/>
                </a:cubicBezTo>
                <a:close/>
                <a:moveTo>
                  <a:pt x="101952" y="168414"/>
                </a:moveTo>
                <a:cubicBezTo>
                  <a:pt x="103686" y="155644"/>
                  <a:pt x="105932" y="143411"/>
                  <a:pt x="108789" y="131624"/>
                </a:cubicBezTo>
                <a:cubicBezTo>
                  <a:pt x="76336" y="130373"/>
                  <a:pt x="69396" y="139392"/>
                  <a:pt x="67764" y="142071"/>
                </a:cubicBezTo>
                <a:cubicBezTo>
                  <a:pt x="65416" y="145822"/>
                  <a:pt x="60620" y="158055"/>
                  <a:pt x="79908" y="185023"/>
                </a:cubicBezTo>
                <a:cubicBezTo>
                  <a:pt x="86848" y="179397"/>
                  <a:pt x="94195" y="173861"/>
                  <a:pt x="101952" y="168414"/>
                </a:cubicBezTo>
                <a:close/>
                <a:moveTo>
                  <a:pt x="79806" y="272177"/>
                </a:moveTo>
                <a:cubicBezTo>
                  <a:pt x="60518" y="299145"/>
                  <a:pt x="65314" y="311468"/>
                  <a:pt x="67662" y="315129"/>
                </a:cubicBezTo>
                <a:cubicBezTo>
                  <a:pt x="69294" y="317718"/>
                  <a:pt x="76234" y="326737"/>
                  <a:pt x="108687" y="325576"/>
                </a:cubicBezTo>
                <a:cubicBezTo>
                  <a:pt x="105830" y="313879"/>
                  <a:pt x="103584" y="301556"/>
                  <a:pt x="101849" y="288786"/>
                </a:cubicBezTo>
                <a:cubicBezTo>
                  <a:pt x="94093" y="283339"/>
                  <a:pt x="86746" y="277803"/>
                  <a:pt x="79806" y="272177"/>
                </a:cubicBezTo>
                <a:close/>
                <a:moveTo>
                  <a:pt x="310243" y="228600"/>
                </a:moveTo>
                <a:cubicBezTo>
                  <a:pt x="310243" y="189173"/>
                  <a:pt x="273660" y="157163"/>
                  <a:pt x="228600" y="157163"/>
                </a:cubicBezTo>
                <a:cubicBezTo>
                  <a:pt x="183540" y="157163"/>
                  <a:pt x="146957" y="189173"/>
                  <a:pt x="146957" y="228600"/>
                </a:cubicBezTo>
                <a:cubicBezTo>
                  <a:pt x="146957" y="268027"/>
                  <a:pt x="183540" y="300038"/>
                  <a:pt x="228600" y="300038"/>
                </a:cubicBezTo>
                <a:cubicBezTo>
                  <a:pt x="273660" y="300038"/>
                  <a:pt x="310243" y="268027"/>
                  <a:pt x="310243" y="228600"/>
                </a:cubicBezTo>
                <a:close/>
                <a:moveTo>
                  <a:pt x="228600" y="200025"/>
                </a:moveTo>
                <a:cubicBezTo>
                  <a:pt x="246624" y="200025"/>
                  <a:pt x="261257" y="212829"/>
                  <a:pt x="261257" y="228600"/>
                </a:cubicBezTo>
                <a:cubicBezTo>
                  <a:pt x="261257" y="244371"/>
                  <a:pt x="246624" y="257175"/>
                  <a:pt x="228600" y="257175"/>
                </a:cubicBezTo>
                <a:cubicBezTo>
                  <a:pt x="210576" y="257175"/>
                  <a:pt x="195943" y="244371"/>
                  <a:pt x="195943" y="228600"/>
                </a:cubicBezTo>
                <a:cubicBezTo>
                  <a:pt x="195943" y="212829"/>
                  <a:pt x="210576" y="200025"/>
                  <a:pt x="228600" y="200025"/>
                </a:cubicBezTo>
                <a:close/>
              </a:path>
            </a:pathLst>
          </a:custGeom>
          <a:solidFill>
            <a:srgbClr val="61DAFB"/>
          </a:solidFill>
          <a:ln/>
        </p:spPr>
      </p:sp>
      <p:sp>
        <p:nvSpPr>
          <p:cNvPr id="16" name="Text 14"/>
          <p:cNvSpPr/>
          <p:nvPr/>
        </p:nvSpPr>
        <p:spPr>
          <a:xfrm>
            <a:off x="6223000" y="6731000"/>
            <a:ext cx="2540000" cy="457200"/>
          </a:xfrm>
          <a:prstGeom prst="rect">
            <a:avLst/>
          </a:prstGeom>
          <a:noFill/>
          <a:ln/>
        </p:spPr>
        <p:txBody>
          <a:bodyPr wrap="square" lIns="0" tIns="0" rIns="0" bIns="0" rtlCol="0" anchor="ctr"/>
          <a:lstStyle/>
          <a:p>
            <a:pPr algn="l">
              <a:lnSpc>
                <a:spcPct val="120000"/>
              </a:lnSpc>
            </a:pPr>
            <a:r>
              <a:rPr lang="en-US" sz="1800" dirty="0">
                <a:solidFill>
                  <a:srgbClr val="E0F7FA"/>
                </a:solidFill>
                <a:latin typeface="Times New Roman" panose="02020603050405020304" pitchFamily="18" charset="0"/>
                <a:ea typeface="Liter" pitchFamily="34" charset="-122"/>
                <a:cs typeface="Times New Roman" panose="02020603050405020304" pitchFamily="18" charset="0"/>
              </a:rPr>
              <a:t>React</a:t>
            </a:r>
            <a:endParaRPr lang="en-US" sz="1800" dirty="0"/>
          </a:p>
        </p:txBody>
      </p:sp>
      <p:sp>
        <p:nvSpPr>
          <p:cNvPr id="17" name="Shape 15"/>
          <p:cNvSpPr/>
          <p:nvPr/>
        </p:nvSpPr>
        <p:spPr>
          <a:xfrm>
            <a:off x="9398000" y="6731000"/>
            <a:ext cx="457200" cy="457200"/>
          </a:xfrm>
          <a:custGeom>
            <a:avLst/>
            <a:gdLst/>
            <a:ahLst/>
            <a:cxnLst/>
            <a:rect l="l" t="t" r="r" b="b"/>
            <a:pathLst>
              <a:path w="457200" h="457200">
                <a:moveTo>
                  <a:pt x="345758" y="-8840"/>
                </a:moveTo>
                <a:cubicBezTo>
                  <a:pt x="357902" y="-1161"/>
                  <a:pt x="362392" y="12769"/>
                  <a:pt x="356881" y="24914"/>
                </a:cubicBezTo>
                <a:lnTo>
                  <a:pt x="276871" y="200025"/>
                </a:lnTo>
                <a:lnTo>
                  <a:pt x="424543" y="200025"/>
                </a:lnTo>
                <a:cubicBezTo>
                  <a:pt x="438320" y="200025"/>
                  <a:pt x="450567" y="207526"/>
                  <a:pt x="455261" y="218867"/>
                </a:cubicBezTo>
                <a:cubicBezTo>
                  <a:pt x="459955" y="230207"/>
                  <a:pt x="455975" y="242888"/>
                  <a:pt x="445464" y="250567"/>
                </a:cubicBezTo>
                <a:lnTo>
                  <a:pt x="151550" y="464880"/>
                </a:lnTo>
                <a:cubicBezTo>
                  <a:pt x="140018" y="473273"/>
                  <a:pt x="123587" y="473720"/>
                  <a:pt x="111443" y="466040"/>
                </a:cubicBezTo>
                <a:cubicBezTo>
                  <a:pt x="99298" y="458361"/>
                  <a:pt x="94808" y="444431"/>
                  <a:pt x="100319" y="432286"/>
                </a:cubicBezTo>
                <a:lnTo>
                  <a:pt x="180329" y="257175"/>
                </a:lnTo>
                <a:lnTo>
                  <a:pt x="32657" y="257175"/>
                </a:lnTo>
                <a:cubicBezTo>
                  <a:pt x="18880" y="257175"/>
                  <a:pt x="6633" y="249674"/>
                  <a:pt x="1939" y="238333"/>
                </a:cubicBezTo>
                <a:cubicBezTo>
                  <a:pt x="-2755" y="226993"/>
                  <a:pt x="1225" y="214312"/>
                  <a:pt x="11736" y="206633"/>
                </a:cubicBezTo>
                <a:lnTo>
                  <a:pt x="305650" y="-7680"/>
                </a:lnTo>
                <a:cubicBezTo>
                  <a:pt x="317183" y="-16073"/>
                  <a:pt x="333613" y="-16520"/>
                  <a:pt x="345758" y="-8840"/>
                </a:cubicBezTo>
                <a:close/>
              </a:path>
            </a:pathLst>
          </a:custGeom>
          <a:solidFill>
            <a:srgbClr val="FFC107"/>
          </a:solidFill>
          <a:ln/>
        </p:spPr>
      </p:sp>
      <p:sp>
        <p:nvSpPr>
          <p:cNvPr id="18" name="Text 16"/>
          <p:cNvSpPr/>
          <p:nvPr/>
        </p:nvSpPr>
        <p:spPr>
          <a:xfrm>
            <a:off x="10033000" y="6731000"/>
            <a:ext cx="2540000" cy="457200"/>
          </a:xfrm>
          <a:prstGeom prst="rect">
            <a:avLst/>
          </a:prstGeom>
          <a:noFill/>
          <a:ln/>
        </p:spPr>
        <p:txBody>
          <a:bodyPr wrap="square" lIns="0" tIns="0" rIns="0" bIns="0" rtlCol="0" anchor="ctr"/>
          <a:lstStyle/>
          <a:p>
            <a:pPr algn="l">
              <a:lnSpc>
                <a:spcPct val="120000"/>
              </a:lnSpc>
            </a:pPr>
            <a:r>
              <a:rPr lang="en-US" sz="1800" dirty="0">
                <a:solidFill>
                  <a:srgbClr val="E0F7FA"/>
                </a:solidFill>
                <a:latin typeface="Times New Roman" panose="02020603050405020304" pitchFamily="18" charset="0"/>
                <a:ea typeface="Liter" pitchFamily="34" charset="-122"/>
                <a:cs typeface="Times New Roman" panose="02020603050405020304" pitchFamily="18" charset="0"/>
              </a:rPr>
              <a:t>Vite</a:t>
            </a:r>
            <a:endParaRPr lang="en-US" sz="1800" dirty="0"/>
          </a:p>
        </p:txBody>
      </p:sp>
      <p:sp>
        <p:nvSpPr>
          <p:cNvPr id="19" name="Shape 17"/>
          <p:cNvSpPr/>
          <p:nvPr/>
        </p:nvSpPr>
        <p:spPr>
          <a:xfrm>
            <a:off x="1778000" y="7620000"/>
            <a:ext cx="457200" cy="457200"/>
          </a:xfrm>
          <a:prstGeom prst="ellipse">
            <a:avLst/>
          </a:prstGeom>
          <a:solidFill>
            <a:srgbClr val="FF6D00"/>
          </a:solidFill>
          <a:ln/>
        </p:spPr>
      </p:sp>
      <p:sp>
        <p:nvSpPr>
          <p:cNvPr id="20" name="Text 18"/>
          <p:cNvSpPr/>
          <p:nvPr/>
        </p:nvSpPr>
        <p:spPr>
          <a:xfrm>
            <a:off x="2413000" y="7620000"/>
            <a:ext cx="2540000" cy="457200"/>
          </a:xfrm>
          <a:prstGeom prst="rect">
            <a:avLst/>
          </a:prstGeom>
          <a:noFill/>
          <a:ln/>
        </p:spPr>
        <p:txBody>
          <a:bodyPr wrap="square" lIns="0" tIns="0" rIns="0" bIns="0" rtlCol="0" anchor="ctr"/>
          <a:lstStyle/>
          <a:p>
            <a:pPr algn="l">
              <a:lnSpc>
                <a:spcPct val="120000"/>
              </a:lnSpc>
            </a:pPr>
            <a:r>
              <a:rPr lang="en-US" sz="1800" dirty="0">
                <a:solidFill>
                  <a:srgbClr val="E0F7FA"/>
                </a:solidFill>
                <a:latin typeface="Times New Roman" panose="02020603050405020304" pitchFamily="18" charset="0"/>
                <a:ea typeface="Liter" pitchFamily="34" charset="-122"/>
                <a:cs typeface="Times New Roman" panose="02020603050405020304" pitchFamily="18" charset="0"/>
              </a:rPr>
              <a:t>SVG Muscle Map</a:t>
            </a:r>
            <a:endParaRPr lang="en-US" sz="1800" dirty="0"/>
          </a:p>
        </p:txBody>
      </p:sp>
      <p:sp>
        <p:nvSpPr>
          <p:cNvPr id="21" name="Shape 19"/>
          <p:cNvSpPr/>
          <p:nvPr/>
        </p:nvSpPr>
        <p:spPr>
          <a:xfrm>
            <a:off x="5588000" y="7620000"/>
            <a:ext cx="457200" cy="457200"/>
          </a:xfrm>
          <a:custGeom>
            <a:avLst/>
            <a:gdLst/>
            <a:ahLst/>
            <a:cxnLst/>
            <a:rect l="l" t="t" r="r" b="b"/>
            <a:pathLst>
              <a:path w="457200" h="457200">
                <a:moveTo>
                  <a:pt x="32657" y="28575"/>
                </a:moveTo>
                <a:cubicBezTo>
                  <a:pt x="14594" y="28575"/>
                  <a:pt x="0" y="41344"/>
                  <a:pt x="0" y="57150"/>
                </a:cubicBezTo>
                <a:lnTo>
                  <a:pt x="0" y="142875"/>
                </a:lnTo>
                <a:cubicBezTo>
                  <a:pt x="0" y="158681"/>
                  <a:pt x="14594" y="171450"/>
                  <a:pt x="32657" y="171450"/>
                </a:cubicBezTo>
                <a:cubicBezTo>
                  <a:pt x="50721" y="171450"/>
                  <a:pt x="65314" y="158681"/>
                  <a:pt x="65314" y="142875"/>
                </a:cubicBezTo>
                <a:lnTo>
                  <a:pt x="65314" y="85725"/>
                </a:lnTo>
                <a:lnTo>
                  <a:pt x="130629" y="85725"/>
                </a:lnTo>
                <a:cubicBezTo>
                  <a:pt x="148692" y="85725"/>
                  <a:pt x="163286" y="72956"/>
                  <a:pt x="163286" y="57150"/>
                </a:cubicBezTo>
                <a:cubicBezTo>
                  <a:pt x="163286" y="41344"/>
                  <a:pt x="148692" y="28575"/>
                  <a:pt x="130629" y="28575"/>
                </a:cubicBezTo>
                <a:lnTo>
                  <a:pt x="32657" y="28575"/>
                </a:lnTo>
                <a:close/>
                <a:moveTo>
                  <a:pt x="65314" y="314325"/>
                </a:moveTo>
                <a:cubicBezTo>
                  <a:pt x="65314" y="298519"/>
                  <a:pt x="50721" y="285750"/>
                  <a:pt x="32657" y="285750"/>
                </a:cubicBezTo>
                <a:cubicBezTo>
                  <a:pt x="14594" y="285750"/>
                  <a:pt x="0" y="298519"/>
                  <a:pt x="0" y="314325"/>
                </a:cubicBezTo>
                <a:lnTo>
                  <a:pt x="0" y="400050"/>
                </a:lnTo>
                <a:cubicBezTo>
                  <a:pt x="0" y="415856"/>
                  <a:pt x="14594" y="428625"/>
                  <a:pt x="32657" y="428625"/>
                </a:cubicBezTo>
                <a:lnTo>
                  <a:pt x="130629" y="428625"/>
                </a:lnTo>
                <a:cubicBezTo>
                  <a:pt x="148692" y="428625"/>
                  <a:pt x="163286" y="415856"/>
                  <a:pt x="163286" y="400050"/>
                </a:cubicBezTo>
                <a:cubicBezTo>
                  <a:pt x="163286" y="384244"/>
                  <a:pt x="148692" y="371475"/>
                  <a:pt x="130629" y="371475"/>
                </a:cubicBezTo>
                <a:lnTo>
                  <a:pt x="65314" y="371475"/>
                </a:lnTo>
                <a:lnTo>
                  <a:pt x="65314" y="314325"/>
                </a:lnTo>
                <a:close/>
                <a:moveTo>
                  <a:pt x="326571" y="28575"/>
                </a:moveTo>
                <a:cubicBezTo>
                  <a:pt x="308508" y="28575"/>
                  <a:pt x="293914" y="41344"/>
                  <a:pt x="293914" y="57150"/>
                </a:cubicBezTo>
                <a:cubicBezTo>
                  <a:pt x="293914" y="72956"/>
                  <a:pt x="308508" y="85725"/>
                  <a:pt x="326571" y="85725"/>
                </a:cubicBezTo>
                <a:lnTo>
                  <a:pt x="391886" y="85725"/>
                </a:lnTo>
                <a:lnTo>
                  <a:pt x="391886" y="142875"/>
                </a:lnTo>
                <a:cubicBezTo>
                  <a:pt x="391886" y="158681"/>
                  <a:pt x="406479" y="171450"/>
                  <a:pt x="424543" y="171450"/>
                </a:cubicBezTo>
                <a:cubicBezTo>
                  <a:pt x="442606" y="171450"/>
                  <a:pt x="457200" y="158681"/>
                  <a:pt x="457200" y="142875"/>
                </a:cubicBezTo>
                <a:lnTo>
                  <a:pt x="457200" y="57150"/>
                </a:lnTo>
                <a:cubicBezTo>
                  <a:pt x="457200" y="41344"/>
                  <a:pt x="442606" y="28575"/>
                  <a:pt x="424543" y="28575"/>
                </a:cubicBezTo>
                <a:lnTo>
                  <a:pt x="326571" y="28575"/>
                </a:lnTo>
                <a:close/>
                <a:moveTo>
                  <a:pt x="457200" y="314325"/>
                </a:moveTo>
                <a:cubicBezTo>
                  <a:pt x="457200" y="298519"/>
                  <a:pt x="442606" y="285750"/>
                  <a:pt x="424543" y="285750"/>
                </a:cubicBezTo>
                <a:cubicBezTo>
                  <a:pt x="406479" y="285750"/>
                  <a:pt x="391886" y="298519"/>
                  <a:pt x="391886" y="314325"/>
                </a:cubicBezTo>
                <a:lnTo>
                  <a:pt x="391886" y="371475"/>
                </a:lnTo>
                <a:lnTo>
                  <a:pt x="326571" y="371475"/>
                </a:lnTo>
                <a:cubicBezTo>
                  <a:pt x="308508" y="371475"/>
                  <a:pt x="293914" y="384244"/>
                  <a:pt x="293914" y="400050"/>
                </a:cubicBezTo>
                <a:cubicBezTo>
                  <a:pt x="293914" y="415856"/>
                  <a:pt x="308508" y="428625"/>
                  <a:pt x="326571" y="428625"/>
                </a:cubicBezTo>
                <a:lnTo>
                  <a:pt x="424543" y="428625"/>
                </a:lnTo>
                <a:cubicBezTo>
                  <a:pt x="442606" y="428625"/>
                  <a:pt x="457200" y="415856"/>
                  <a:pt x="457200" y="400050"/>
                </a:cubicBezTo>
                <a:lnTo>
                  <a:pt x="457200" y="314325"/>
                </a:lnTo>
                <a:close/>
              </a:path>
            </a:pathLst>
          </a:custGeom>
          <a:solidFill>
            <a:srgbClr val="69F0AE"/>
          </a:solidFill>
          <a:ln/>
        </p:spPr>
      </p:sp>
      <p:sp>
        <p:nvSpPr>
          <p:cNvPr id="22" name="Text 20"/>
          <p:cNvSpPr/>
          <p:nvPr/>
        </p:nvSpPr>
        <p:spPr>
          <a:xfrm>
            <a:off x="6223000" y="7620000"/>
            <a:ext cx="2540000" cy="457200"/>
          </a:xfrm>
          <a:prstGeom prst="rect">
            <a:avLst/>
          </a:prstGeom>
          <a:noFill/>
          <a:ln/>
        </p:spPr>
        <p:txBody>
          <a:bodyPr wrap="square" lIns="0" tIns="0" rIns="0" bIns="0" rtlCol="0" anchor="ctr"/>
          <a:lstStyle/>
          <a:p>
            <a:pPr algn="l">
              <a:lnSpc>
                <a:spcPct val="120000"/>
              </a:lnSpc>
            </a:pPr>
            <a:r>
              <a:rPr lang="en-US" sz="1800" dirty="0">
                <a:solidFill>
                  <a:srgbClr val="E0F7FA"/>
                </a:solidFill>
                <a:latin typeface="Times New Roman" panose="02020603050405020304" pitchFamily="18" charset="0"/>
                <a:ea typeface="Liter" pitchFamily="34" charset="-122"/>
                <a:cs typeface="Times New Roman" panose="02020603050405020304" pitchFamily="18" charset="0"/>
              </a:rPr>
              <a:t>Responsive</a:t>
            </a:r>
            <a:endParaRPr lang="en-US" sz="1800" dirty="0"/>
          </a:p>
        </p:txBody>
      </p:sp>
      <p:sp>
        <p:nvSpPr>
          <p:cNvPr id="23" name="Shape 21"/>
          <p:cNvSpPr/>
          <p:nvPr/>
        </p:nvSpPr>
        <p:spPr>
          <a:xfrm>
            <a:off x="9398000" y="7620000"/>
            <a:ext cx="457200" cy="457200"/>
          </a:xfrm>
          <a:custGeom>
            <a:avLst/>
            <a:gdLst/>
            <a:ahLst/>
            <a:cxnLst/>
            <a:rect l="l" t="t" r="r" b="b"/>
            <a:pathLst>
              <a:path w="457200" h="457200">
                <a:moveTo>
                  <a:pt x="104209" y="30182"/>
                </a:moveTo>
                <a:cubicBezTo>
                  <a:pt x="108228" y="24735"/>
                  <a:pt x="114657" y="21431"/>
                  <a:pt x="121444" y="21431"/>
                </a:cubicBezTo>
                <a:lnTo>
                  <a:pt x="335756" y="21431"/>
                </a:lnTo>
                <a:cubicBezTo>
                  <a:pt x="342543" y="21431"/>
                  <a:pt x="348972" y="24646"/>
                  <a:pt x="352991" y="30182"/>
                </a:cubicBezTo>
                <a:lnTo>
                  <a:pt x="453003" y="165914"/>
                </a:lnTo>
                <a:cubicBezTo>
                  <a:pt x="459075" y="174129"/>
                  <a:pt x="458450" y="185470"/>
                  <a:pt x="451664" y="193060"/>
                </a:cubicBezTo>
                <a:lnTo>
                  <a:pt x="244495" y="421660"/>
                </a:lnTo>
                <a:cubicBezTo>
                  <a:pt x="240476" y="426125"/>
                  <a:pt x="234672" y="428714"/>
                  <a:pt x="228600" y="428714"/>
                </a:cubicBezTo>
                <a:cubicBezTo>
                  <a:pt x="222528" y="428714"/>
                  <a:pt x="216813" y="426125"/>
                  <a:pt x="212705" y="421660"/>
                </a:cubicBezTo>
                <a:lnTo>
                  <a:pt x="5536" y="193060"/>
                </a:lnTo>
                <a:cubicBezTo>
                  <a:pt x="-1339" y="185470"/>
                  <a:pt x="-1875" y="174129"/>
                  <a:pt x="4197" y="165914"/>
                </a:cubicBezTo>
                <a:lnTo>
                  <a:pt x="104209" y="30182"/>
                </a:lnTo>
                <a:close/>
                <a:moveTo>
                  <a:pt x="138589" y="65723"/>
                </a:moveTo>
                <a:cubicBezTo>
                  <a:pt x="135642" y="67955"/>
                  <a:pt x="134838" y="71973"/>
                  <a:pt x="136714" y="75099"/>
                </a:cubicBezTo>
                <a:lnTo>
                  <a:pt x="187970" y="160556"/>
                </a:lnTo>
                <a:lnTo>
                  <a:pt x="56525" y="171450"/>
                </a:lnTo>
                <a:cubicBezTo>
                  <a:pt x="52864" y="171718"/>
                  <a:pt x="50006" y="174843"/>
                  <a:pt x="50006" y="178594"/>
                </a:cubicBezTo>
                <a:cubicBezTo>
                  <a:pt x="50006" y="182344"/>
                  <a:pt x="52864" y="185380"/>
                  <a:pt x="56525" y="185738"/>
                </a:cubicBezTo>
                <a:lnTo>
                  <a:pt x="227975" y="200025"/>
                </a:lnTo>
                <a:cubicBezTo>
                  <a:pt x="228332" y="200025"/>
                  <a:pt x="228779" y="200025"/>
                  <a:pt x="229136" y="200025"/>
                </a:cubicBezTo>
                <a:lnTo>
                  <a:pt x="400586" y="185738"/>
                </a:lnTo>
                <a:cubicBezTo>
                  <a:pt x="404247" y="185470"/>
                  <a:pt x="407104" y="182344"/>
                  <a:pt x="407104" y="178594"/>
                </a:cubicBezTo>
                <a:cubicBezTo>
                  <a:pt x="407104" y="174843"/>
                  <a:pt x="404247" y="171807"/>
                  <a:pt x="400586" y="171450"/>
                </a:cubicBezTo>
                <a:lnTo>
                  <a:pt x="269141" y="160466"/>
                </a:lnTo>
                <a:lnTo>
                  <a:pt x="320397" y="75099"/>
                </a:lnTo>
                <a:cubicBezTo>
                  <a:pt x="322272" y="71973"/>
                  <a:pt x="321469" y="67866"/>
                  <a:pt x="318522" y="65723"/>
                </a:cubicBezTo>
                <a:cubicBezTo>
                  <a:pt x="315575" y="63579"/>
                  <a:pt x="311468" y="63937"/>
                  <a:pt x="308967" y="66615"/>
                </a:cubicBezTo>
                <a:lnTo>
                  <a:pt x="228600" y="153769"/>
                </a:lnTo>
                <a:lnTo>
                  <a:pt x="148144" y="66615"/>
                </a:lnTo>
                <a:cubicBezTo>
                  <a:pt x="145643" y="63937"/>
                  <a:pt x="141536" y="63579"/>
                  <a:pt x="138589" y="65723"/>
                </a:cubicBezTo>
                <a:close/>
              </a:path>
            </a:pathLst>
          </a:custGeom>
          <a:solidFill>
            <a:srgbClr val="E040FB"/>
          </a:solidFill>
          <a:ln/>
        </p:spPr>
      </p:sp>
      <p:sp>
        <p:nvSpPr>
          <p:cNvPr id="24" name="Text 22"/>
          <p:cNvSpPr/>
          <p:nvPr/>
        </p:nvSpPr>
        <p:spPr>
          <a:xfrm>
            <a:off x="10033000" y="7620000"/>
            <a:ext cx="2540000" cy="457200"/>
          </a:xfrm>
          <a:prstGeom prst="rect">
            <a:avLst/>
          </a:prstGeom>
          <a:noFill/>
          <a:ln/>
        </p:spPr>
        <p:txBody>
          <a:bodyPr wrap="square" lIns="0" tIns="0" rIns="0" bIns="0" rtlCol="0" anchor="ctr"/>
          <a:lstStyle/>
          <a:p>
            <a:pPr algn="l">
              <a:lnSpc>
                <a:spcPct val="120000"/>
              </a:lnSpc>
            </a:pPr>
            <a:r>
              <a:rPr lang="en-US" sz="1800" dirty="0">
                <a:solidFill>
                  <a:srgbClr val="E0F7FA"/>
                </a:solidFill>
                <a:latin typeface="Times New Roman" panose="02020603050405020304" pitchFamily="18" charset="0"/>
                <a:ea typeface="Liter" pitchFamily="34" charset="-122"/>
                <a:cs typeface="Times New Roman" panose="02020603050405020304" pitchFamily="18" charset="0"/>
              </a:rPr>
              <a:t>Glassmorphism</a:t>
            </a:r>
            <a:endParaRPr lang="en-US" sz="18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1016000" y="635000"/>
            <a:ext cx="10160000" cy="635000"/>
          </a:xfrm>
          <a:prstGeom prst="rect">
            <a:avLst/>
          </a:prstGeom>
          <a:noFill/>
          <a:ln/>
        </p:spPr>
        <p:txBody>
          <a:bodyPr wrap="square" lIns="0" tIns="0" rIns="0" bIns="0" rtlCol="0" anchor="t"/>
          <a:lstStyle/>
          <a:p>
            <a:pPr>
              <a:lnSpc>
                <a:spcPct val="120000"/>
              </a:lnSpc>
            </a:pPr>
            <a:r>
              <a:rPr lang="en-US" sz="3600" b="1" dirty="0">
                <a:solidFill>
                  <a:srgbClr val="3C4A5A"/>
                </a:solidFill>
                <a:latin typeface="Times New Roman" panose="02020603050405020304" pitchFamily="18" charset="0"/>
                <a:ea typeface="Liter"/>
                <a:cs typeface="Times New Roman" panose="02020603050405020304" pitchFamily="18" charset="0"/>
              </a:rPr>
              <a:t>Наскрізне (E2E) </a:t>
            </a:r>
            <a:r>
              <a:rPr lang="en-US" sz="3600" b="1" dirty="0" err="1">
                <a:solidFill>
                  <a:srgbClr val="3C4A5A"/>
                </a:solidFill>
                <a:latin typeface="Times New Roman" panose="02020603050405020304" pitchFamily="18" charset="0"/>
                <a:ea typeface="Liter"/>
                <a:cs typeface="Times New Roman" panose="02020603050405020304" pitchFamily="18" charset="0"/>
              </a:rPr>
              <a:t>тестування</a:t>
            </a:r>
            <a:endParaRPr lang="en-US" sz="3600" b="1" dirty="0">
              <a:solidFill>
                <a:srgbClr val="3C4A5A"/>
              </a:solidFill>
              <a:latin typeface="Times New Roman" panose="02020603050405020304" pitchFamily="18" charset="0"/>
              <a:ea typeface="Liter"/>
              <a:cs typeface="Times New Roman" panose="02020603050405020304" pitchFamily="18" charset="0"/>
            </a:endParaRPr>
          </a:p>
        </p:txBody>
      </p:sp>
      <p:sp>
        <p:nvSpPr>
          <p:cNvPr id="3" name="Shape 1"/>
          <p:cNvSpPr/>
          <p:nvPr/>
        </p:nvSpPr>
        <p:spPr>
          <a:xfrm>
            <a:off x="1016000" y="1524000"/>
            <a:ext cx="14224000" cy="1016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4" name="Shape 2"/>
          <p:cNvSpPr/>
          <p:nvPr/>
        </p:nvSpPr>
        <p:spPr>
          <a:xfrm>
            <a:off x="1397000" y="1778000"/>
            <a:ext cx="431800" cy="431800"/>
          </a:xfrm>
          <a:custGeom>
            <a:avLst/>
            <a:gdLst/>
            <a:ahLst/>
            <a:cxnLst/>
            <a:rect l="l" t="t" r="r" b="b"/>
            <a:pathLst>
              <a:path w="431800" h="431800">
                <a:moveTo>
                  <a:pt x="288935" y="7928"/>
                </a:moveTo>
                <a:cubicBezTo>
                  <a:pt x="278393" y="-2614"/>
                  <a:pt x="261273" y="-2614"/>
                  <a:pt x="250731" y="7928"/>
                </a:cubicBezTo>
                <a:cubicBezTo>
                  <a:pt x="240189" y="18470"/>
                  <a:pt x="240189" y="35590"/>
                  <a:pt x="250731" y="46132"/>
                </a:cubicBezTo>
                <a:lnTo>
                  <a:pt x="258658" y="53975"/>
                </a:lnTo>
                <a:lnTo>
                  <a:pt x="23698" y="288935"/>
                </a:lnTo>
                <a:cubicBezTo>
                  <a:pt x="8518" y="304115"/>
                  <a:pt x="0" y="324693"/>
                  <a:pt x="0" y="346199"/>
                </a:cubicBezTo>
                <a:lnTo>
                  <a:pt x="0" y="350838"/>
                </a:lnTo>
                <a:cubicBezTo>
                  <a:pt x="0" y="395536"/>
                  <a:pt x="36264" y="431800"/>
                  <a:pt x="80962" y="431800"/>
                </a:cubicBezTo>
                <a:lnTo>
                  <a:pt x="85601" y="431800"/>
                </a:lnTo>
                <a:cubicBezTo>
                  <a:pt x="107107" y="431800"/>
                  <a:pt x="127685" y="423282"/>
                  <a:pt x="142865" y="408102"/>
                </a:cubicBezTo>
                <a:lnTo>
                  <a:pt x="377825" y="173142"/>
                </a:lnTo>
                <a:lnTo>
                  <a:pt x="385753" y="181069"/>
                </a:lnTo>
                <a:cubicBezTo>
                  <a:pt x="396295" y="191611"/>
                  <a:pt x="413415" y="191611"/>
                  <a:pt x="423957" y="181069"/>
                </a:cubicBezTo>
                <a:cubicBezTo>
                  <a:pt x="434499" y="170527"/>
                  <a:pt x="434499" y="153407"/>
                  <a:pt x="423957" y="142865"/>
                </a:cubicBezTo>
                <a:lnTo>
                  <a:pt x="289019" y="7928"/>
                </a:lnTo>
                <a:close/>
                <a:moveTo>
                  <a:pt x="173142" y="215900"/>
                </a:moveTo>
                <a:lnTo>
                  <a:pt x="296863" y="92179"/>
                </a:lnTo>
                <a:lnTo>
                  <a:pt x="339621" y="134938"/>
                </a:lnTo>
                <a:lnTo>
                  <a:pt x="258658" y="215900"/>
                </a:lnTo>
                <a:lnTo>
                  <a:pt x="173057" y="215900"/>
                </a:lnTo>
                <a:close/>
              </a:path>
            </a:pathLst>
          </a:custGeom>
          <a:solidFill>
            <a:srgbClr val="0A6B70"/>
          </a:solidFill>
          <a:ln/>
        </p:spPr>
      </p:sp>
      <p:sp>
        <p:nvSpPr>
          <p:cNvPr id="5" name="Text 3"/>
          <p:cNvSpPr/>
          <p:nvPr/>
        </p:nvSpPr>
        <p:spPr>
          <a:xfrm>
            <a:off x="2032000" y="1651000"/>
            <a:ext cx="12954000" cy="762000"/>
          </a:xfrm>
          <a:prstGeom prst="rect">
            <a:avLst/>
          </a:prstGeom>
          <a:noFill/>
          <a:ln/>
        </p:spPr>
        <p:txBody>
          <a:bodyPr wrap="square" lIns="0" tIns="0" rIns="0" bIns="0" rtlCol="0" anchor="ctr"/>
          <a:lstStyle/>
          <a:p>
            <a:pPr algn="l">
              <a:lnSpc>
                <a:spcPct val="14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End-to-End тестування інструментом </a:t>
            </a: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Cypress</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Техніка </a:t>
            </a: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mocking</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мережевих запитів для незалежної перевірки інтерфейсу.</a:t>
            </a:r>
            <a:endParaRPr lang="en-US" sz="1800" dirty="0"/>
          </a:p>
        </p:txBody>
      </p:sp>
      <p:sp>
        <p:nvSpPr>
          <p:cNvPr id="6" name="Shape 4"/>
          <p:cNvSpPr/>
          <p:nvPr/>
        </p:nvSpPr>
        <p:spPr>
          <a:xfrm>
            <a:off x="1016000" y="2794000"/>
            <a:ext cx="14224000" cy="5842000"/>
          </a:xfrm>
          <a:prstGeom prst="roundRect">
            <a:avLst>
              <a:gd name="adj" fmla="val 8000"/>
            </a:avLst>
          </a:prstGeom>
          <a:solidFill>
            <a:srgbClr val="2D2D2D"/>
          </a:solidFill>
          <a:ln/>
          <a:effectLst>
            <a:outerShdw blurRad="101600" dist="25400" dir="5400000" algn="bl" rotWithShape="0">
              <a:srgbClr val="000000">
                <a:alpha val="7059"/>
              </a:srgbClr>
            </a:outerShdw>
          </a:effectLst>
        </p:spPr>
      </p:sp>
      <p:sp>
        <p:nvSpPr>
          <p:cNvPr id="7" name="Shape 5"/>
          <p:cNvSpPr/>
          <p:nvPr/>
        </p:nvSpPr>
        <p:spPr>
          <a:xfrm>
            <a:off x="1016000" y="2794000"/>
            <a:ext cx="14224000" cy="508000"/>
          </a:xfrm>
          <a:prstGeom prst="roundRect">
            <a:avLst>
              <a:gd name="adj" fmla="val 8000"/>
            </a:avLst>
          </a:prstGeom>
          <a:solidFill>
            <a:srgbClr val="3D3D3D"/>
          </a:solidFill>
          <a:ln/>
        </p:spPr>
      </p:sp>
      <p:sp>
        <p:nvSpPr>
          <p:cNvPr id="8" name="Text 6"/>
          <p:cNvSpPr/>
          <p:nvPr/>
        </p:nvSpPr>
        <p:spPr>
          <a:xfrm>
            <a:off x="1270000" y="2794000"/>
            <a:ext cx="1270000" cy="508000"/>
          </a:xfrm>
          <a:prstGeom prst="rect">
            <a:avLst/>
          </a:prstGeom>
          <a:noFill/>
          <a:ln/>
        </p:spPr>
        <p:txBody>
          <a:bodyPr wrap="square" lIns="0" tIns="0" rIns="0" bIns="0" rtlCol="0" anchor="ctr"/>
          <a:lstStyle/>
          <a:p>
            <a:pPr algn="l">
              <a:lnSpc>
                <a:spcPct val="120000"/>
              </a:lnSpc>
            </a:pPr>
            <a:r>
              <a:rPr lang="en-US" sz="1400" dirty="0">
                <a:solidFill>
                  <a:srgbClr val="FF5F56"/>
                </a:solidFill>
                <a:latin typeface="Courier New" pitchFamily="34" charset="0"/>
                <a:ea typeface="Courier New" pitchFamily="34" charset="-122"/>
                <a:cs typeface="Courier New" pitchFamily="34" charset="-120"/>
              </a:rPr>
              <a:t>●</a:t>
            </a:r>
            <a:r>
              <a:rPr lang="en-US" sz="1400" dirty="0">
                <a:solidFill>
                  <a:srgbClr val="8E8E8E"/>
                </a:solidFill>
                <a:latin typeface="Courier New" pitchFamily="34" charset="0"/>
                <a:ea typeface="Courier New" pitchFamily="34" charset="-122"/>
                <a:cs typeface="Courier New" pitchFamily="34" charset="-120"/>
              </a:rPr>
              <a:t> </a:t>
            </a:r>
            <a:r>
              <a:rPr lang="en-US" sz="1400" dirty="0">
                <a:solidFill>
                  <a:srgbClr val="FFBD2E"/>
                </a:solidFill>
                <a:latin typeface="Courier New" pitchFamily="34" charset="0"/>
                <a:ea typeface="Courier New" pitchFamily="34" charset="-122"/>
                <a:cs typeface="Courier New" pitchFamily="34" charset="-120"/>
              </a:rPr>
              <a:t>●</a:t>
            </a:r>
            <a:r>
              <a:rPr lang="en-US" sz="1400" dirty="0">
                <a:solidFill>
                  <a:srgbClr val="8E8E8E"/>
                </a:solidFill>
                <a:latin typeface="Courier New" pitchFamily="34" charset="0"/>
                <a:ea typeface="Courier New" pitchFamily="34" charset="-122"/>
                <a:cs typeface="Courier New" pitchFamily="34" charset="-120"/>
              </a:rPr>
              <a:t> </a:t>
            </a:r>
            <a:r>
              <a:rPr lang="en-US" sz="1400" dirty="0">
                <a:solidFill>
                  <a:srgbClr val="27C93F"/>
                </a:solidFill>
                <a:latin typeface="Courier New" pitchFamily="34" charset="0"/>
                <a:ea typeface="Courier New" pitchFamily="34" charset="-122"/>
                <a:cs typeface="Courier New" pitchFamily="34" charset="-120"/>
              </a:rPr>
              <a:t>●</a:t>
            </a:r>
            <a:endParaRPr lang="en-US" sz="1400" dirty="0"/>
          </a:p>
        </p:txBody>
      </p:sp>
      <p:sp>
        <p:nvSpPr>
          <p:cNvPr id="9" name="Text 7"/>
          <p:cNvSpPr/>
          <p:nvPr/>
        </p:nvSpPr>
        <p:spPr>
          <a:xfrm>
            <a:off x="5080000" y="2794000"/>
            <a:ext cx="6096000" cy="508000"/>
          </a:xfrm>
          <a:prstGeom prst="rect">
            <a:avLst/>
          </a:prstGeom>
          <a:noFill/>
          <a:ln/>
        </p:spPr>
        <p:txBody>
          <a:bodyPr wrap="none" lIns="0" tIns="0" rIns="0" bIns="0" rtlCol="0" anchor="ctr"/>
          <a:lstStyle/>
          <a:p>
            <a:pPr algn="ctr">
              <a:lnSpc>
                <a:spcPct val="120000"/>
              </a:lnSpc>
            </a:pPr>
            <a:r>
              <a:rPr lang="en-US" sz="1400" dirty="0">
                <a:solidFill>
                  <a:srgbClr val="B0B0B0"/>
                </a:solidFill>
                <a:latin typeface="Courier New" pitchFamily="34" charset="0"/>
                <a:ea typeface="Courier New" pitchFamily="34" charset="-122"/>
                <a:cs typeface="Courier New" pitchFamily="34" charset="-120"/>
              </a:rPr>
              <a:t>cypress/e2e/exercises.cy.js</a:t>
            </a:r>
            <a:endParaRPr lang="en-US" sz="1400" dirty="0"/>
          </a:p>
        </p:txBody>
      </p:sp>
      <p:sp>
        <p:nvSpPr>
          <p:cNvPr id="10" name="Text 8"/>
          <p:cNvSpPr/>
          <p:nvPr/>
        </p:nvSpPr>
        <p:spPr>
          <a:xfrm>
            <a:off x="1397000" y="3492500"/>
            <a:ext cx="13462000" cy="4953000"/>
          </a:xfrm>
          <a:prstGeom prst="rect">
            <a:avLst/>
          </a:prstGeom>
          <a:noFill/>
          <a:ln/>
        </p:spPr>
        <p:txBody>
          <a:bodyPr wrap="square" lIns="0" tIns="0" rIns="0" bIns="0" rtlCol="0" anchor="t"/>
          <a:lstStyle/>
          <a:p>
            <a:pPr algn="l">
              <a:lnSpc>
                <a:spcPct val="150000"/>
              </a:lnSpc>
            </a:pPr>
            <a:r>
              <a:rPr lang="en-US" sz="1400" dirty="0">
                <a:solidFill>
                  <a:srgbClr val="82AAFF"/>
                </a:solidFill>
                <a:latin typeface="Courier New" pitchFamily="34" charset="0"/>
                <a:ea typeface="Courier New" pitchFamily="34" charset="-122"/>
                <a:cs typeface="Courier New" pitchFamily="34" charset="-120"/>
              </a:rPr>
              <a:t>it</a:t>
            </a:r>
            <a:r>
              <a:rPr lang="en-US" sz="1400" dirty="0">
                <a:solidFill>
                  <a:srgbClr val="E0E0E0"/>
                </a:solidFill>
                <a:latin typeface="Courier New" pitchFamily="34" charset="0"/>
                <a:ea typeface="Courier New" pitchFamily="34" charset="-122"/>
                <a:cs typeface="Courier New" pitchFamily="34" charset="-120"/>
              </a:rPr>
              <a:t>(</a:t>
            </a:r>
            <a:r>
              <a:rPr lang="en-US" sz="1400" dirty="0">
                <a:solidFill>
                  <a:srgbClr val="C3E88D"/>
                </a:solidFill>
                <a:latin typeface="Courier New" pitchFamily="34" charset="0"/>
                <a:ea typeface="Courier New" pitchFamily="34" charset="-122"/>
                <a:cs typeface="Courier New" pitchFamily="34" charset="-120"/>
              </a:rPr>
              <a:t>'Повинно шукати вправи та відображати результати'</a:t>
            </a:r>
            <a:r>
              <a:rPr lang="en-US" sz="1400" dirty="0">
                <a:solidFill>
                  <a:srgbClr val="E0E0E0"/>
                </a:solidFill>
                <a:latin typeface="Courier New" pitchFamily="34" charset="0"/>
                <a:ea typeface="Courier New" pitchFamily="34" charset="-122"/>
                <a:cs typeface="Courier New" pitchFamily="34" charset="-120"/>
              </a:rPr>
              <a:t>, () =&gt;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676E95"/>
                </a:solidFill>
                <a:latin typeface="Courier New" pitchFamily="34" charset="0"/>
                <a:ea typeface="Courier New" pitchFamily="34" charset="-122"/>
                <a:cs typeface="Courier New" pitchFamily="34" charset="-120"/>
              </a:rPr>
              <a:t>// Мокуємо відповідь API</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cy.</a:t>
            </a:r>
            <a:r>
              <a:rPr lang="en-US" sz="1400" dirty="0">
                <a:solidFill>
                  <a:srgbClr val="82AAFF"/>
                </a:solidFill>
                <a:latin typeface="Courier New" pitchFamily="34" charset="0"/>
                <a:ea typeface="Courier New" pitchFamily="34" charset="-122"/>
                <a:cs typeface="Courier New" pitchFamily="34" charset="-120"/>
              </a:rPr>
              <a:t>intercept</a:t>
            </a:r>
            <a:r>
              <a:rPr lang="en-US" sz="1400" dirty="0">
                <a:solidFill>
                  <a:srgbClr val="E0E0E0"/>
                </a:solidFill>
                <a:latin typeface="Courier New" pitchFamily="34" charset="0"/>
                <a:ea typeface="Courier New" pitchFamily="34" charset="-122"/>
                <a:cs typeface="Courier New" pitchFamily="34" charset="-120"/>
              </a:rPr>
              <a:t>(</a:t>
            </a:r>
            <a:r>
              <a:rPr lang="en-US" sz="1400" dirty="0">
                <a:solidFill>
                  <a:srgbClr val="C3E88D"/>
                </a:solidFill>
                <a:latin typeface="Courier New" pitchFamily="34" charset="0"/>
                <a:ea typeface="Courier New" pitchFamily="34" charset="-122"/>
                <a:cs typeface="Courier New" pitchFamily="34" charset="-120"/>
              </a:rPr>
              <a:t>'GET'</a:t>
            </a: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C3E88D"/>
                </a:solidFill>
                <a:latin typeface="Courier New" pitchFamily="34" charset="0"/>
                <a:ea typeface="Courier New" pitchFamily="34" charset="-122"/>
                <a:cs typeface="Courier New" pitchFamily="34" charset="-120"/>
              </a:rPr>
              <a:t>'**/api/nest/exercises*'</a:t>
            </a:r>
            <a:r>
              <a:rPr lang="en-US" sz="1400" dirty="0">
                <a:solidFill>
                  <a:srgbClr val="E0E0E0"/>
                </a:solidFill>
                <a:latin typeface="Courier New" pitchFamily="34" charset="0"/>
                <a:ea typeface="Courier New" pitchFamily="34" charset="-122"/>
                <a:cs typeface="Courier New" pitchFamily="34" charset="-120"/>
              </a:rPr>
              <a:t>, {</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fixture: </a:t>
            </a:r>
            <a:r>
              <a:rPr lang="en-US" sz="1400" dirty="0">
                <a:solidFill>
                  <a:srgbClr val="C3E88D"/>
                </a:solidFill>
                <a:latin typeface="Courier New" pitchFamily="34" charset="0"/>
                <a:ea typeface="Courier New" pitchFamily="34" charset="-122"/>
                <a:cs typeface="Courier New" pitchFamily="34" charset="-120"/>
              </a:rPr>
              <a:t>'exercises.json'</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82AAFF"/>
                </a:solidFill>
                <a:latin typeface="Courier New" pitchFamily="34" charset="0"/>
                <a:ea typeface="Courier New" pitchFamily="34" charset="-122"/>
                <a:cs typeface="Courier New" pitchFamily="34" charset="-120"/>
              </a:rPr>
              <a:t>as</a:t>
            </a:r>
            <a:r>
              <a:rPr lang="en-US" sz="1400" dirty="0">
                <a:solidFill>
                  <a:srgbClr val="E0E0E0"/>
                </a:solidFill>
                <a:latin typeface="Courier New" pitchFamily="34" charset="0"/>
                <a:ea typeface="Courier New" pitchFamily="34" charset="-122"/>
                <a:cs typeface="Courier New" pitchFamily="34" charset="-120"/>
              </a:rPr>
              <a:t>(</a:t>
            </a:r>
            <a:r>
              <a:rPr lang="en-US" sz="1400" dirty="0">
                <a:solidFill>
                  <a:srgbClr val="C3E88D"/>
                </a:solidFill>
                <a:latin typeface="Courier New" pitchFamily="34" charset="0"/>
                <a:ea typeface="Courier New" pitchFamily="34" charset="-122"/>
                <a:cs typeface="Courier New" pitchFamily="34" charset="-120"/>
              </a:rPr>
              <a:t>'getExercises'</a:t>
            </a:r>
            <a:r>
              <a:rPr lang="en-US" sz="1400" dirty="0">
                <a:solidFill>
                  <a:srgbClr val="E0E0E0"/>
                </a:solidFill>
                <a:latin typeface="Courier New" pitchFamily="34" charset="0"/>
                <a:ea typeface="Courier New" pitchFamily="34" charset="-122"/>
                <a:cs typeface="Courier New" pitchFamily="34" charset="-120"/>
              </a:rPr>
              <a:t>);</a:t>
            </a:r>
            <a:endParaRPr lang="en-US" sz="1400" dirty="0"/>
          </a:p>
          <a:p>
            <a:pPr algn="l">
              <a:lnSpc>
                <a:spcPct val="150000"/>
              </a:lnSpc>
            </a:pP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cy.</a:t>
            </a:r>
            <a:r>
              <a:rPr lang="en-US" sz="1400" dirty="0">
                <a:solidFill>
                  <a:srgbClr val="82AAFF"/>
                </a:solidFill>
                <a:latin typeface="Courier New" pitchFamily="34" charset="0"/>
                <a:ea typeface="Courier New" pitchFamily="34" charset="-122"/>
                <a:cs typeface="Courier New" pitchFamily="34" charset="-120"/>
              </a:rPr>
              <a:t>visit</a:t>
            </a:r>
            <a:r>
              <a:rPr lang="en-US" sz="1400" dirty="0">
                <a:solidFill>
                  <a:srgbClr val="E0E0E0"/>
                </a:solidFill>
                <a:latin typeface="Courier New" pitchFamily="34" charset="0"/>
                <a:ea typeface="Courier New" pitchFamily="34" charset="-122"/>
                <a:cs typeface="Courier New" pitchFamily="34" charset="-120"/>
              </a:rPr>
              <a:t>(</a:t>
            </a:r>
            <a:r>
              <a:rPr lang="en-US" sz="1400" dirty="0">
                <a:solidFill>
                  <a:srgbClr val="C3E88D"/>
                </a:solidFill>
                <a:latin typeface="Courier New" pitchFamily="34" charset="0"/>
                <a:ea typeface="Courier New" pitchFamily="34" charset="-122"/>
                <a:cs typeface="Courier New" pitchFamily="34" charset="-120"/>
              </a:rPr>
              <a:t>'/exercises'</a:t>
            </a:r>
            <a:r>
              <a:rPr lang="en-US" sz="1400" dirty="0">
                <a:solidFill>
                  <a:srgbClr val="E0E0E0"/>
                </a:solidFill>
                <a:latin typeface="Courier New" pitchFamily="34" charset="0"/>
                <a:ea typeface="Courier New" pitchFamily="34" charset="-122"/>
                <a:cs typeface="Courier New" pitchFamily="34" charset="-120"/>
              </a:rPr>
              <a: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cy.</a:t>
            </a:r>
            <a:r>
              <a:rPr lang="en-US" sz="1400" dirty="0">
                <a:solidFill>
                  <a:srgbClr val="82AAFF"/>
                </a:solidFill>
                <a:latin typeface="Courier New" pitchFamily="34" charset="0"/>
                <a:ea typeface="Courier New" pitchFamily="34" charset="-122"/>
                <a:cs typeface="Courier New" pitchFamily="34" charset="-120"/>
              </a:rPr>
              <a:t>get</a:t>
            </a:r>
            <a:r>
              <a:rPr lang="en-US" sz="1400" dirty="0">
                <a:solidFill>
                  <a:srgbClr val="E0E0E0"/>
                </a:solidFill>
                <a:latin typeface="Courier New" pitchFamily="34" charset="0"/>
                <a:ea typeface="Courier New" pitchFamily="34" charset="-122"/>
                <a:cs typeface="Courier New" pitchFamily="34" charset="-120"/>
              </a:rPr>
              <a:t>(</a:t>
            </a:r>
            <a:r>
              <a:rPr lang="en-US" sz="1400" dirty="0">
                <a:solidFill>
                  <a:srgbClr val="C3E88D"/>
                </a:solidFill>
                <a:latin typeface="Courier New" pitchFamily="34" charset="0"/>
                <a:ea typeface="Courier New" pitchFamily="34" charset="-122"/>
                <a:cs typeface="Courier New" pitchFamily="34" charset="-120"/>
              </a:rPr>
              <a:t>'input[placeholder="Search exercises..."]'</a:t>
            </a:r>
            <a:r>
              <a:rPr lang="en-US" sz="1400" dirty="0">
                <a:solidFill>
                  <a:srgbClr val="E0E0E0"/>
                </a:solidFill>
                <a:latin typeface="Courier New" pitchFamily="34" charset="0"/>
                <a:ea typeface="Courier New" pitchFamily="34" charset="-122"/>
                <a:cs typeface="Courier New" pitchFamily="34" charset="-120"/>
              </a:rPr>
              <a: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82AAFF"/>
                </a:solidFill>
                <a:latin typeface="Courier New" pitchFamily="34" charset="0"/>
                <a:ea typeface="Courier New" pitchFamily="34" charset="-122"/>
                <a:cs typeface="Courier New" pitchFamily="34" charset="-120"/>
              </a:rPr>
              <a:t>type</a:t>
            </a:r>
            <a:r>
              <a:rPr lang="en-US" sz="1400" dirty="0">
                <a:solidFill>
                  <a:srgbClr val="E0E0E0"/>
                </a:solidFill>
                <a:latin typeface="Courier New" pitchFamily="34" charset="0"/>
                <a:ea typeface="Courier New" pitchFamily="34" charset="-122"/>
                <a:cs typeface="Courier New" pitchFamily="34" charset="-120"/>
              </a:rPr>
              <a:t>(</a:t>
            </a:r>
            <a:r>
              <a:rPr lang="en-US" sz="1400" dirty="0">
                <a:solidFill>
                  <a:srgbClr val="C3E88D"/>
                </a:solidFill>
                <a:latin typeface="Courier New" pitchFamily="34" charset="0"/>
                <a:ea typeface="Courier New" pitchFamily="34" charset="-122"/>
                <a:cs typeface="Courier New" pitchFamily="34" charset="-120"/>
              </a:rPr>
              <a:t>'chest'</a:t>
            </a:r>
            <a:r>
              <a:rPr lang="en-US" sz="1400" dirty="0">
                <a:solidFill>
                  <a:srgbClr val="E0E0E0"/>
                </a:solidFill>
                <a:latin typeface="Courier New" pitchFamily="34" charset="0"/>
                <a:ea typeface="Courier New" pitchFamily="34" charset="-122"/>
                <a:cs typeface="Courier New" pitchFamily="34" charset="-120"/>
              </a:rPr>
              <a:t>);</a:t>
            </a:r>
            <a:endParaRPr lang="en-US" sz="1400" dirty="0"/>
          </a:p>
          <a:p>
            <a:pPr algn="l">
              <a:lnSpc>
                <a:spcPct val="150000"/>
              </a:lnSpc>
            </a:pP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676E95"/>
                </a:solidFill>
                <a:latin typeface="Courier New" pitchFamily="34" charset="0"/>
                <a:ea typeface="Courier New" pitchFamily="34" charset="-122"/>
                <a:cs typeface="Courier New" pitchFamily="34" charset="-120"/>
              </a:rPr>
              <a:t>// Перевіряємо відображення картки вправи</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cy.</a:t>
            </a:r>
            <a:r>
              <a:rPr lang="en-US" sz="1400" dirty="0">
                <a:solidFill>
                  <a:srgbClr val="82AAFF"/>
                </a:solidFill>
                <a:latin typeface="Courier New" pitchFamily="34" charset="0"/>
                <a:ea typeface="Courier New" pitchFamily="34" charset="-122"/>
                <a:cs typeface="Courier New" pitchFamily="34" charset="-120"/>
              </a:rPr>
              <a:t>get</a:t>
            </a:r>
            <a:r>
              <a:rPr lang="en-US" sz="1400" dirty="0">
                <a:solidFill>
                  <a:srgbClr val="E0E0E0"/>
                </a:solidFill>
                <a:latin typeface="Courier New" pitchFamily="34" charset="0"/>
                <a:ea typeface="Courier New" pitchFamily="34" charset="-122"/>
                <a:cs typeface="Courier New" pitchFamily="34" charset="-120"/>
              </a:rPr>
              <a:t>(</a:t>
            </a:r>
            <a:r>
              <a:rPr lang="en-US" sz="1400" dirty="0">
                <a:solidFill>
                  <a:srgbClr val="C3E88D"/>
                </a:solidFill>
                <a:latin typeface="Courier New" pitchFamily="34" charset="0"/>
                <a:ea typeface="Courier New" pitchFamily="34" charset="-122"/>
                <a:cs typeface="Courier New" pitchFamily="34" charset="-120"/>
              </a:rPr>
              <a:t>'.exercise-card'</a:t>
            </a:r>
            <a:r>
              <a:rPr lang="en-US" sz="1400" dirty="0">
                <a:solidFill>
                  <a:srgbClr val="E0E0E0"/>
                </a:solidFill>
                <a:latin typeface="Courier New" pitchFamily="34" charset="0"/>
                <a:ea typeface="Courier New" pitchFamily="34" charset="-122"/>
                <a:cs typeface="Courier New" pitchFamily="34" charset="-120"/>
              </a:rPr>
              <a: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      .should(</a:t>
            </a:r>
            <a:r>
              <a:rPr lang="en-US" sz="1400" dirty="0">
                <a:solidFill>
                  <a:srgbClr val="C3E88D"/>
                </a:solidFill>
                <a:latin typeface="Courier New" pitchFamily="34" charset="0"/>
                <a:ea typeface="Courier New" pitchFamily="34" charset="-122"/>
                <a:cs typeface="Courier New" pitchFamily="34" charset="-120"/>
              </a:rPr>
              <a:t>'have.length.at.least'</a:t>
            </a:r>
            <a:r>
              <a:rPr lang="en-US" sz="1400" dirty="0">
                <a:solidFill>
                  <a:srgbClr val="E0E0E0"/>
                </a:solidFill>
                <a:latin typeface="Courier New" pitchFamily="34" charset="0"/>
                <a:ea typeface="Courier New" pitchFamily="34" charset="-122"/>
                <a:cs typeface="Courier New" pitchFamily="34" charset="-120"/>
              </a:rPr>
              <a:t>, </a:t>
            </a:r>
            <a:r>
              <a:rPr lang="en-US" sz="1400" dirty="0">
                <a:solidFill>
                  <a:srgbClr val="F78C6C"/>
                </a:solidFill>
                <a:latin typeface="Courier New" pitchFamily="34" charset="0"/>
                <a:ea typeface="Courier New" pitchFamily="34" charset="-122"/>
                <a:cs typeface="Courier New" pitchFamily="34" charset="-120"/>
              </a:rPr>
              <a:t>1</a:t>
            </a:r>
            <a:r>
              <a:rPr lang="en-US" sz="1400" dirty="0">
                <a:solidFill>
                  <a:srgbClr val="E0E0E0"/>
                </a:solidFill>
                <a:latin typeface="Courier New" pitchFamily="34" charset="0"/>
                <a:ea typeface="Courier New" pitchFamily="34" charset="-122"/>
                <a:cs typeface="Courier New" pitchFamily="34" charset="-120"/>
              </a:rPr>
              <a:t>);</a:t>
            </a:r>
            <a:endParaRPr lang="en-US" sz="1400" dirty="0"/>
          </a:p>
          <a:p>
            <a:pPr algn="l">
              <a:lnSpc>
                <a:spcPct val="150000"/>
              </a:lnSpc>
            </a:pPr>
            <a:r>
              <a:rPr lang="en-US" sz="1400" dirty="0">
                <a:solidFill>
                  <a:srgbClr val="E0E0E0"/>
                </a:solidFill>
                <a:latin typeface="Courier New" pitchFamily="34" charset="0"/>
                <a:ea typeface="Courier New" pitchFamily="34" charset="-122"/>
                <a:cs typeface="Courier New" pitchFamily="34" charset="-120"/>
              </a:rPr>
              <a:t>});</a:t>
            </a:r>
            <a:endParaRPr lang="en-US" sz="14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8F6F4"/>
        </a:solidFill>
        <a:effectLst/>
      </p:bgPr>
    </p:bg>
    <p:spTree>
      <p:nvGrpSpPr>
        <p:cNvPr id="1" name=""/>
        <p:cNvGrpSpPr/>
        <p:nvPr/>
      </p:nvGrpSpPr>
      <p:grpSpPr>
        <a:xfrm>
          <a:off x="0" y="0"/>
          <a:ext cx="0" cy="0"/>
          <a:chOff x="0" y="0"/>
          <a:chExt cx="0" cy="0"/>
        </a:xfrm>
      </p:grpSpPr>
      <p:sp>
        <p:nvSpPr>
          <p:cNvPr id="2" name="Text 0"/>
          <p:cNvSpPr/>
          <p:nvPr/>
        </p:nvSpPr>
        <p:spPr>
          <a:xfrm>
            <a:off x="1016000" y="635000"/>
            <a:ext cx="7620000" cy="635000"/>
          </a:xfrm>
          <a:prstGeom prst="rect">
            <a:avLst/>
          </a:prstGeom>
          <a:noFill/>
          <a:ln/>
        </p:spPr>
        <p:txBody>
          <a:bodyPr wrap="square" lIns="0" tIns="0" rIns="0" bIns="0" rtlCol="0" anchor="t"/>
          <a:lstStyle/>
          <a:p>
            <a:pPr algn="l">
              <a:lnSpc>
                <a:spcPct val="120000"/>
              </a:lnSpc>
            </a:pPr>
            <a:r>
              <a:rPr lang="en-US" sz="3600" b="1" dirty="0" err="1">
                <a:solidFill>
                  <a:srgbClr val="3C4A5A"/>
                </a:solidFill>
                <a:latin typeface="Times New Roman" panose="02020603050405020304" pitchFamily="18" charset="0"/>
                <a:cs typeface="Times New Roman" panose="02020603050405020304" pitchFamily="18" charset="0"/>
              </a:rPr>
              <a:t>Висновки</a:t>
            </a:r>
            <a:endParaRPr lang="en-US" sz="3600" b="1" dirty="0">
              <a:solidFill>
                <a:srgbClr val="3C4A5A"/>
              </a:solidFill>
              <a:latin typeface="Times New Roman" panose="02020603050405020304" pitchFamily="18" charset="0"/>
              <a:cs typeface="Times New Roman" panose="02020603050405020304" pitchFamily="18" charset="0"/>
            </a:endParaRPr>
          </a:p>
        </p:txBody>
      </p:sp>
      <p:sp>
        <p:nvSpPr>
          <p:cNvPr id="3" name="Shape 1"/>
          <p:cNvSpPr/>
          <p:nvPr/>
        </p:nvSpPr>
        <p:spPr>
          <a:xfrm>
            <a:off x="1016000" y="1651000"/>
            <a:ext cx="6858000" cy="1651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4" name="Shape 2"/>
          <p:cNvSpPr/>
          <p:nvPr/>
        </p:nvSpPr>
        <p:spPr>
          <a:xfrm>
            <a:off x="1397000" y="2159000"/>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0" y="314682"/>
                  <a:pt x="201454" y="311468"/>
                  <a:pt x="197257" y="305753"/>
                </a:cubicBezTo>
                <a:lnTo>
                  <a:pt x="154394" y="248602"/>
                </a:lnTo>
                <a:cubicBezTo>
                  <a:pt x="147251" y="239137"/>
                  <a:pt x="149215" y="225743"/>
                  <a:pt x="158681" y="218599"/>
                </a:cubicBezTo>
                <a:cubicBezTo>
                  <a:pt x="168146" y="211455"/>
                  <a:pt x="181541" y="213420"/>
                  <a:pt x="188684" y="222885"/>
                </a:cubicBezTo>
                <a:lnTo>
                  <a:pt x="212794" y="255032"/>
                </a:lnTo>
                <a:lnTo>
                  <a:pt x="267623" y="167253"/>
                </a:lnTo>
                <a:cubicBezTo>
                  <a:pt x="273874" y="157252"/>
                  <a:pt x="287089" y="154126"/>
                  <a:pt x="297180" y="160466"/>
                </a:cubicBezTo>
                <a:cubicBezTo>
                  <a:pt x="307271" y="166807"/>
                  <a:pt x="310307" y="179933"/>
                  <a:pt x="303967" y="190024"/>
                </a:cubicBezTo>
                <a:close/>
              </a:path>
            </a:pathLst>
          </a:custGeom>
          <a:solidFill>
            <a:srgbClr val="27AE60"/>
          </a:solidFill>
          <a:ln/>
        </p:spPr>
      </p:sp>
      <p:sp>
        <p:nvSpPr>
          <p:cNvPr id="5" name="Text 3"/>
          <p:cNvSpPr/>
          <p:nvPr/>
        </p:nvSpPr>
        <p:spPr>
          <a:xfrm>
            <a:off x="2095500" y="1905000"/>
            <a:ext cx="5524500" cy="1143000"/>
          </a:xfrm>
          <a:prstGeom prst="rect">
            <a:avLst/>
          </a:prstGeom>
          <a:noFill/>
          <a:ln/>
        </p:spPr>
        <p:txBody>
          <a:bodyPr wrap="square" lIns="0" tIns="0" rIns="0" bIns="0" rtlCol="0" anchor="ctr"/>
          <a:lstStyle/>
          <a:p>
            <a:pPr algn="l">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Розроблено повноцінний </a:t>
            </a: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кросплатформений вебдодаток</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GymAnalysis із сучасним UI.</a:t>
            </a:r>
            <a:endParaRPr lang="en-US" sz="1800" dirty="0"/>
          </a:p>
        </p:txBody>
      </p:sp>
      <p:sp>
        <p:nvSpPr>
          <p:cNvPr id="6" name="Shape 4"/>
          <p:cNvSpPr/>
          <p:nvPr/>
        </p:nvSpPr>
        <p:spPr>
          <a:xfrm>
            <a:off x="8382000" y="1651000"/>
            <a:ext cx="6858000" cy="1651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7" name="Shape 5"/>
          <p:cNvSpPr/>
          <p:nvPr/>
        </p:nvSpPr>
        <p:spPr>
          <a:xfrm>
            <a:off x="8763000" y="2159000"/>
            <a:ext cx="457200" cy="457200"/>
          </a:xfrm>
          <a:custGeom>
            <a:avLst/>
            <a:gdLst/>
            <a:ahLst/>
            <a:cxnLst/>
            <a:rect l="l" t="t" r="r" b="b"/>
            <a:pathLst>
              <a:path w="457200" h="457200">
                <a:moveTo>
                  <a:pt x="457200" y="42863"/>
                </a:moveTo>
                <a:cubicBezTo>
                  <a:pt x="457200" y="32951"/>
                  <a:pt x="452110" y="23753"/>
                  <a:pt x="443627" y="18574"/>
                </a:cubicBezTo>
                <a:cubicBezTo>
                  <a:pt x="435144" y="13395"/>
                  <a:pt x="424696" y="12859"/>
                  <a:pt x="415856" y="17324"/>
                </a:cubicBezTo>
                <a:lnTo>
                  <a:pt x="312093" y="69205"/>
                </a:lnTo>
                <a:lnTo>
                  <a:pt x="151894" y="15716"/>
                </a:lnTo>
                <a:cubicBezTo>
                  <a:pt x="144661" y="13305"/>
                  <a:pt x="136892" y="13841"/>
                  <a:pt x="130106" y="17234"/>
                </a:cubicBezTo>
                <a:lnTo>
                  <a:pt x="15806" y="74384"/>
                </a:lnTo>
                <a:cubicBezTo>
                  <a:pt x="6072" y="79296"/>
                  <a:pt x="0" y="89208"/>
                  <a:pt x="0" y="100013"/>
                </a:cubicBezTo>
                <a:lnTo>
                  <a:pt x="0" y="414338"/>
                </a:lnTo>
                <a:cubicBezTo>
                  <a:pt x="0" y="424249"/>
                  <a:pt x="5090" y="433447"/>
                  <a:pt x="13573" y="438626"/>
                </a:cubicBezTo>
                <a:cubicBezTo>
                  <a:pt x="22056" y="443805"/>
                  <a:pt x="32504" y="444341"/>
                  <a:pt x="41344" y="439876"/>
                </a:cubicBezTo>
                <a:lnTo>
                  <a:pt x="145018" y="387995"/>
                </a:lnTo>
                <a:lnTo>
                  <a:pt x="305217" y="441394"/>
                </a:lnTo>
                <a:cubicBezTo>
                  <a:pt x="312450" y="443805"/>
                  <a:pt x="320219" y="443270"/>
                  <a:pt x="327005" y="439876"/>
                </a:cubicBezTo>
                <a:lnTo>
                  <a:pt x="441305" y="382726"/>
                </a:lnTo>
                <a:cubicBezTo>
                  <a:pt x="450949" y="377904"/>
                  <a:pt x="457111" y="367992"/>
                  <a:pt x="457111" y="357187"/>
                </a:cubicBezTo>
                <a:lnTo>
                  <a:pt x="457111" y="42862"/>
                </a:lnTo>
                <a:close/>
                <a:moveTo>
                  <a:pt x="171450" y="336560"/>
                </a:moveTo>
                <a:lnTo>
                  <a:pt x="171450" y="82510"/>
                </a:lnTo>
                <a:lnTo>
                  <a:pt x="285750" y="120640"/>
                </a:lnTo>
                <a:lnTo>
                  <a:pt x="285750" y="374690"/>
                </a:lnTo>
                <a:lnTo>
                  <a:pt x="171450" y="336560"/>
                </a:lnTo>
                <a:close/>
              </a:path>
            </a:pathLst>
          </a:custGeom>
          <a:solidFill>
            <a:srgbClr val="0A6B70"/>
          </a:solidFill>
          <a:ln/>
        </p:spPr>
      </p:sp>
      <p:sp>
        <p:nvSpPr>
          <p:cNvPr id="8" name="Text 6"/>
          <p:cNvSpPr/>
          <p:nvPr/>
        </p:nvSpPr>
        <p:spPr>
          <a:xfrm>
            <a:off x="9461500" y="1905000"/>
            <a:ext cx="5524500" cy="1143000"/>
          </a:xfrm>
          <a:prstGeom prst="rect">
            <a:avLst/>
          </a:prstGeom>
          <a:noFill/>
          <a:ln/>
        </p:spPr>
        <p:txBody>
          <a:bodyPr wrap="square" lIns="0" tIns="0" rIns="0" bIns="0" rtlCol="0" anchor="ctr"/>
          <a:lstStyle/>
          <a:p>
            <a:pPr algn="l">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Успішно реалізовано </a:t>
            </a: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інтерактивний візуальний підхід</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для зручної навігації.</a:t>
            </a:r>
            <a:endParaRPr lang="en-US" sz="1800" dirty="0"/>
          </a:p>
        </p:txBody>
      </p:sp>
      <p:sp>
        <p:nvSpPr>
          <p:cNvPr id="9" name="Shape 7"/>
          <p:cNvSpPr/>
          <p:nvPr/>
        </p:nvSpPr>
        <p:spPr>
          <a:xfrm>
            <a:off x="1016000" y="3683000"/>
            <a:ext cx="6858000" cy="1651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10" name="Shape 8"/>
          <p:cNvSpPr/>
          <p:nvPr/>
        </p:nvSpPr>
        <p:spPr>
          <a:xfrm>
            <a:off x="1397000" y="4191000"/>
            <a:ext cx="457200" cy="457200"/>
          </a:xfrm>
          <a:custGeom>
            <a:avLst/>
            <a:gdLst/>
            <a:ahLst/>
            <a:cxnLst/>
            <a:rect l="l" t="t" r="r" b="b"/>
            <a:pathLst>
              <a:path w="457200" h="457200">
                <a:moveTo>
                  <a:pt x="107156" y="50006"/>
                </a:moveTo>
                <a:cubicBezTo>
                  <a:pt x="107156" y="22414"/>
                  <a:pt x="129570" y="0"/>
                  <a:pt x="157163" y="0"/>
                </a:cubicBezTo>
                <a:lnTo>
                  <a:pt x="178594" y="0"/>
                </a:lnTo>
                <a:cubicBezTo>
                  <a:pt x="194399" y="0"/>
                  <a:pt x="207169" y="12769"/>
                  <a:pt x="207169" y="28575"/>
                </a:cubicBezTo>
                <a:lnTo>
                  <a:pt x="207169" y="428625"/>
                </a:lnTo>
                <a:cubicBezTo>
                  <a:pt x="207169" y="444431"/>
                  <a:pt x="194399" y="457200"/>
                  <a:pt x="178594" y="457200"/>
                </a:cubicBezTo>
                <a:lnTo>
                  <a:pt x="150019" y="457200"/>
                </a:lnTo>
                <a:cubicBezTo>
                  <a:pt x="123408" y="457200"/>
                  <a:pt x="100995" y="438983"/>
                  <a:pt x="94655" y="414338"/>
                </a:cubicBezTo>
                <a:cubicBezTo>
                  <a:pt x="94030" y="414338"/>
                  <a:pt x="93494" y="414338"/>
                  <a:pt x="92869" y="414338"/>
                </a:cubicBezTo>
                <a:cubicBezTo>
                  <a:pt x="53400" y="414338"/>
                  <a:pt x="21431" y="382369"/>
                  <a:pt x="21431" y="342900"/>
                </a:cubicBezTo>
                <a:cubicBezTo>
                  <a:pt x="21431" y="326827"/>
                  <a:pt x="26789" y="312003"/>
                  <a:pt x="35719" y="300038"/>
                </a:cubicBezTo>
                <a:cubicBezTo>
                  <a:pt x="18395" y="287000"/>
                  <a:pt x="7144" y="266283"/>
                  <a:pt x="7144" y="242888"/>
                </a:cubicBezTo>
                <a:cubicBezTo>
                  <a:pt x="7144" y="215295"/>
                  <a:pt x="22860" y="191274"/>
                  <a:pt x="45720" y="179397"/>
                </a:cubicBezTo>
                <a:cubicBezTo>
                  <a:pt x="39380" y="168682"/>
                  <a:pt x="35719" y="156180"/>
                  <a:pt x="35719" y="142875"/>
                </a:cubicBezTo>
                <a:cubicBezTo>
                  <a:pt x="35719" y="103406"/>
                  <a:pt x="67687" y="71438"/>
                  <a:pt x="107156" y="71438"/>
                </a:cubicBezTo>
                <a:lnTo>
                  <a:pt x="107156" y="50006"/>
                </a:lnTo>
                <a:close/>
                <a:moveTo>
                  <a:pt x="350044" y="50006"/>
                </a:moveTo>
                <a:lnTo>
                  <a:pt x="350044" y="71438"/>
                </a:lnTo>
                <a:cubicBezTo>
                  <a:pt x="389513" y="71438"/>
                  <a:pt x="421481" y="103406"/>
                  <a:pt x="421481" y="142875"/>
                </a:cubicBezTo>
                <a:cubicBezTo>
                  <a:pt x="421481" y="156270"/>
                  <a:pt x="417820" y="168771"/>
                  <a:pt x="411480" y="179397"/>
                </a:cubicBezTo>
                <a:cubicBezTo>
                  <a:pt x="434429" y="191274"/>
                  <a:pt x="450056" y="215205"/>
                  <a:pt x="450056" y="242888"/>
                </a:cubicBezTo>
                <a:cubicBezTo>
                  <a:pt x="450056" y="266283"/>
                  <a:pt x="438805" y="287000"/>
                  <a:pt x="421481" y="300038"/>
                </a:cubicBezTo>
                <a:cubicBezTo>
                  <a:pt x="430411" y="312003"/>
                  <a:pt x="435769" y="326827"/>
                  <a:pt x="435769" y="342900"/>
                </a:cubicBezTo>
                <a:cubicBezTo>
                  <a:pt x="435769" y="382369"/>
                  <a:pt x="403800" y="414338"/>
                  <a:pt x="364331" y="414338"/>
                </a:cubicBezTo>
                <a:cubicBezTo>
                  <a:pt x="363706" y="414338"/>
                  <a:pt x="363170" y="414338"/>
                  <a:pt x="362545" y="414338"/>
                </a:cubicBezTo>
                <a:cubicBezTo>
                  <a:pt x="356205" y="438983"/>
                  <a:pt x="333792" y="457200"/>
                  <a:pt x="307181" y="457200"/>
                </a:cubicBezTo>
                <a:lnTo>
                  <a:pt x="278606" y="457200"/>
                </a:lnTo>
                <a:cubicBezTo>
                  <a:pt x="262801" y="457200"/>
                  <a:pt x="250031" y="444431"/>
                  <a:pt x="250031" y="428625"/>
                </a:cubicBezTo>
                <a:lnTo>
                  <a:pt x="250031" y="28575"/>
                </a:lnTo>
                <a:cubicBezTo>
                  <a:pt x="250031" y="12769"/>
                  <a:pt x="262801" y="0"/>
                  <a:pt x="278606" y="0"/>
                </a:cubicBezTo>
                <a:lnTo>
                  <a:pt x="300038" y="0"/>
                </a:lnTo>
                <a:cubicBezTo>
                  <a:pt x="327630" y="0"/>
                  <a:pt x="350044" y="22414"/>
                  <a:pt x="350044" y="50006"/>
                </a:cubicBezTo>
                <a:close/>
              </a:path>
            </a:pathLst>
          </a:custGeom>
          <a:solidFill>
            <a:srgbClr val="FFC107"/>
          </a:solidFill>
          <a:ln/>
        </p:spPr>
      </p:sp>
      <p:sp>
        <p:nvSpPr>
          <p:cNvPr id="11" name="Text 9"/>
          <p:cNvSpPr/>
          <p:nvPr/>
        </p:nvSpPr>
        <p:spPr>
          <a:xfrm>
            <a:off x="2095500" y="3937000"/>
            <a:ext cx="5524500" cy="1143000"/>
          </a:xfrm>
          <a:prstGeom prst="rect">
            <a:avLst/>
          </a:prstGeom>
          <a:noFill/>
          <a:ln/>
        </p:spPr>
        <p:txBody>
          <a:bodyPr wrap="square" lIns="0" tIns="0" rIns="0" bIns="0" rtlCol="0" anchor="ctr"/>
          <a:lstStyle/>
          <a:p>
            <a:pPr algn="l">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Проведено інтеграцію з </a:t>
            </a: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генеративним ШІ (LLM)</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 для аналізу безпеки тренувань.</a:t>
            </a:r>
            <a:endParaRPr lang="en-US" sz="1800" dirty="0"/>
          </a:p>
        </p:txBody>
      </p:sp>
      <p:sp>
        <p:nvSpPr>
          <p:cNvPr id="12" name="Shape 10"/>
          <p:cNvSpPr/>
          <p:nvPr/>
        </p:nvSpPr>
        <p:spPr>
          <a:xfrm>
            <a:off x="8382000" y="3683000"/>
            <a:ext cx="6858000" cy="1651000"/>
          </a:xfrm>
          <a:prstGeom prst="roundRect">
            <a:avLst>
              <a:gd name="adj" fmla="val 12000"/>
            </a:avLst>
          </a:prstGeom>
          <a:solidFill>
            <a:srgbClr val="FFFFFF"/>
          </a:solidFill>
          <a:ln/>
          <a:effectLst>
            <a:outerShdw blurRad="101600" dist="25400" dir="5400000" algn="bl" rotWithShape="0">
              <a:srgbClr val="000000">
                <a:alpha val="2353"/>
              </a:srgbClr>
            </a:outerShdw>
          </a:effectLst>
        </p:spPr>
      </p:sp>
      <p:sp>
        <p:nvSpPr>
          <p:cNvPr id="13" name="Shape 11"/>
          <p:cNvSpPr/>
          <p:nvPr/>
        </p:nvSpPr>
        <p:spPr>
          <a:xfrm>
            <a:off x="8763000" y="4191000"/>
            <a:ext cx="457200" cy="457200"/>
          </a:xfrm>
          <a:custGeom>
            <a:avLst/>
            <a:gdLst/>
            <a:ahLst/>
            <a:cxnLst/>
            <a:rect l="l" t="t" r="r" b="b"/>
            <a:pathLst>
              <a:path w="457200" h="457200">
                <a:moveTo>
                  <a:pt x="228600" y="0"/>
                </a:moveTo>
                <a:cubicBezTo>
                  <a:pt x="232708" y="0"/>
                  <a:pt x="236815" y="893"/>
                  <a:pt x="240566" y="2590"/>
                </a:cubicBezTo>
                <a:lnTo>
                  <a:pt x="408801" y="73938"/>
                </a:lnTo>
                <a:cubicBezTo>
                  <a:pt x="428446" y="82242"/>
                  <a:pt x="443091" y="101620"/>
                  <a:pt x="443002" y="125016"/>
                </a:cubicBezTo>
                <a:cubicBezTo>
                  <a:pt x="442555" y="213598"/>
                  <a:pt x="406122" y="375672"/>
                  <a:pt x="252264" y="449342"/>
                </a:cubicBezTo>
                <a:cubicBezTo>
                  <a:pt x="237351" y="456486"/>
                  <a:pt x="220028" y="456486"/>
                  <a:pt x="205115" y="449342"/>
                </a:cubicBezTo>
                <a:cubicBezTo>
                  <a:pt x="51167" y="375672"/>
                  <a:pt x="14823" y="213598"/>
                  <a:pt x="14377" y="125016"/>
                </a:cubicBezTo>
                <a:cubicBezTo>
                  <a:pt x="14287" y="101620"/>
                  <a:pt x="28932" y="82242"/>
                  <a:pt x="48577" y="73938"/>
                </a:cubicBezTo>
                <a:lnTo>
                  <a:pt x="216724" y="2590"/>
                </a:lnTo>
                <a:cubicBezTo>
                  <a:pt x="220474" y="893"/>
                  <a:pt x="224492" y="0"/>
                  <a:pt x="228600" y="0"/>
                </a:cubicBezTo>
                <a:close/>
                <a:moveTo>
                  <a:pt x="228600" y="59650"/>
                </a:moveTo>
                <a:lnTo>
                  <a:pt x="228600" y="397282"/>
                </a:lnTo>
                <a:cubicBezTo>
                  <a:pt x="351830" y="337631"/>
                  <a:pt x="384959" y="205472"/>
                  <a:pt x="385763" y="126355"/>
                </a:cubicBezTo>
                <a:lnTo>
                  <a:pt x="228600" y="59740"/>
                </a:lnTo>
                <a:lnTo>
                  <a:pt x="228600" y="59740"/>
                </a:lnTo>
                <a:close/>
              </a:path>
            </a:pathLst>
          </a:custGeom>
          <a:solidFill>
            <a:srgbClr val="E74C3C"/>
          </a:solidFill>
          <a:ln/>
        </p:spPr>
      </p:sp>
      <p:sp>
        <p:nvSpPr>
          <p:cNvPr id="14" name="Text 12"/>
          <p:cNvSpPr/>
          <p:nvPr/>
        </p:nvSpPr>
        <p:spPr>
          <a:xfrm>
            <a:off x="9461500" y="3937000"/>
            <a:ext cx="5524500" cy="1143000"/>
          </a:xfrm>
          <a:prstGeom prst="rect">
            <a:avLst/>
          </a:prstGeom>
          <a:noFill/>
          <a:ln/>
        </p:spPr>
        <p:txBody>
          <a:bodyPr wrap="square" lIns="0" tIns="0" rIns="0" bIns="0" rtlCol="0" anchor="ctr"/>
          <a:lstStyle/>
          <a:p>
            <a:pPr algn="l">
              <a:lnSpc>
                <a:spcPct val="150000"/>
              </a:lnSpc>
            </a:pP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Вирішено проблему браку зворотного зв'язку, що </a:t>
            </a:r>
            <a:r>
              <a:rPr lang="en-US" sz="1800" b="1" dirty="0">
                <a:solidFill>
                  <a:srgbClr val="333333"/>
                </a:solidFill>
                <a:latin typeface="Times New Roman" panose="02020603050405020304" pitchFamily="18" charset="0"/>
                <a:ea typeface="Liter" pitchFamily="34" charset="-122"/>
                <a:cs typeface="Times New Roman" panose="02020603050405020304" pitchFamily="18" charset="0"/>
              </a:rPr>
              <a:t>знижує ризик травмування</a:t>
            </a:r>
            <a:r>
              <a:rPr lang="en-US" sz="1800" dirty="0">
                <a:solidFill>
                  <a:srgbClr val="333333"/>
                </a:solidFill>
                <a:latin typeface="Times New Roman" panose="02020603050405020304" pitchFamily="18" charset="0"/>
                <a:ea typeface="Liter" pitchFamily="34" charset="-122"/>
                <a:cs typeface="Times New Roman" panose="02020603050405020304" pitchFamily="18" charset="0"/>
              </a:rPr>
              <a:t>.</a:t>
            </a:r>
            <a:endParaRPr lang="en-US" sz="1800" dirty="0"/>
          </a:p>
        </p:txBody>
      </p:sp>
      <p:sp>
        <p:nvSpPr>
          <p:cNvPr id="15" name="Shape 13"/>
          <p:cNvSpPr/>
          <p:nvPr/>
        </p:nvSpPr>
        <p:spPr>
          <a:xfrm>
            <a:off x="1016000" y="5842000"/>
            <a:ext cx="14224000" cy="2540000"/>
          </a:xfrm>
          <a:prstGeom prst="roundRect">
            <a:avLst>
              <a:gd name="adj" fmla="val 12000"/>
            </a:avLst>
          </a:prstGeom>
          <a:gradFill flip="none" rotWithShape="1">
            <a:gsLst>
              <a:gs pos="0">
                <a:srgbClr val="0A6B70"/>
              </a:gs>
              <a:gs pos="100000">
                <a:srgbClr val="0A8B91"/>
              </a:gs>
            </a:gsLst>
            <a:lin ang="8100000" scaled="1"/>
          </a:gradFill>
          <a:ln/>
          <a:effectLst>
            <a:outerShdw blurRad="152400" dist="50800" dir="5400000" algn="bl" rotWithShape="0">
              <a:srgbClr val="0A6B70">
                <a:alpha val="12549"/>
              </a:srgbClr>
            </a:outerShdw>
          </a:effectLst>
        </p:spPr>
      </p:sp>
      <p:sp>
        <p:nvSpPr>
          <p:cNvPr id="16" name="Shape 14"/>
          <p:cNvSpPr/>
          <p:nvPr/>
        </p:nvSpPr>
        <p:spPr>
          <a:xfrm>
            <a:off x="1651000" y="6264031"/>
            <a:ext cx="508000" cy="508000"/>
          </a:xfrm>
          <a:custGeom>
            <a:avLst/>
            <a:gdLst/>
            <a:ahLst/>
            <a:cxnLst/>
            <a:rect l="l" t="t" r="r" b="b"/>
            <a:pathLst>
              <a:path w="508000" h="508000">
                <a:moveTo>
                  <a:pt x="143173" y="0"/>
                </a:moveTo>
                <a:lnTo>
                  <a:pt x="365423" y="0"/>
                </a:lnTo>
                <a:cubicBezTo>
                  <a:pt x="391716" y="0"/>
                  <a:pt x="413147" y="21630"/>
                  <a:pt x="412155" y="47823"/>
                </a:cubicBezTo>
                <a:cubicBezTo>
                  <a:pt x="411956" y="53082"/>
                  <a:pt x="411758" y="58341"/>
                  <a:pt x="411460" y="63500"/>
                </a:cubicBezTo>
                <a:lnTo>
                  <a:pt x="460673" y="63500"/>
                </a:lnTo>
                <a:cubicBezTo>
                  <a:pt x="486569" y="63500"/>
                  <a:pt x="509389" y="84931"/>
                  <a:pt x="507405" y="112911"/>
                </a:cubicBezTo>
                <a:cubicBezTo>
                  <a:pt x="499963" y="215801"/>
                  <a:pt x="447377" y="272355"/>
                  <a:pt x="390327" y="301923"/>
                </a:cubicBezTo>
                <a:cubicBezTo>
                  <a:pt x="374650" y="310059"/>
                  <a:pt x="358676" y="316111"/>
                  <a:pt x="343495" y="320576"/>
                </a:cubicBezTo>
                <a:cubicBezTo>
                  <a:pt x="323453" y="348952"/>
                  <a:pt x="302617" y="363934"/>
                  <a:pt x="286048" y="371971"/>
                </a:cubicBezTo>
                <a:lnTo>
                  <a:pt x="286048" y="444500"/>
                </a:lnTo>
                <a:lnTo>
                  <a:pt x="349548" y="444500"/>
                </a:lnTo>
                <a:cubicBezTo>
                  <a:pt x="367109" y="444500"/>
                  <a:pt x="381298" y="458688"/>
                  <a:pt x="381298" y="476250"/>
                </a:cubicBezTo>
                <a:cubicBezTo>
                  <a:pt x="381298" y="493812"/>
                  <a:pt x="367109" y="508000"/>
                  <a:pt x="349548" y="508000"/>
                </a:cubicBezTo>
                <a:lnTo>
                  <a:pt x="159048" y="508000"/>
                </a:lnTo>
                <a:cubicBezTo>
                  <a:pt x="141486" y="508000"/>
                  <a:pt x="127298" y="493812"/>
                  <a:pt x="127298" y="476250"/>
                </a:cubicBezTo>
                <a:cubicBezTo>
                  <a:pt x="127298" y="458688"/>
                  <a:pt x="141486" y="444500"/>
                  <a:pt x="159048" y="444500"/>
                </a:cubicBezTo>
                <a:lnTo>
                  <a:pt x="222548" y="444500"/>
                </a:lnTo>
                <a:lnTo>
                  <a:pt x="222548" y="371971"/>
                </a:lnTo>
                <a:cubicBezTo>
                  <a:pt x="206673" y="364331"/>
                  <a:pt x="186928" y="350143"/>
                  <a:pt x="167680" y="324048"/>
                </a:cubicBezTo>
                <a:cubicBezTo>
                  <a:pt x="149423" y="319286"/>
                  <a:pt x="129580" y="312043"/>
                  <a:pt x="110232" y="301129"/>
                </a:cubicBezTo>
                <a:cubicBezTo>
                  <a:pt x="56555" y="271066"/>
                  <a:pt x="8136" y="214412"/>
                  <a:pt x="1191" y="112712"/>
                </a:cubicBezTo>
                <a:cubicBezTo>
                  <a:pt x="-695" y="84832"/>
                  <a:pt x="22027" y="63401"/>
                  <a:pt x="47923" y="63401"/>
                </a:cubicBezTo>
                <a:lnTo>
                  <a:pt x="97135" y="63401"/>
                </a:lnTo>
                <a:cubicBezTo>
                  <a:pt x="96838" y="58241"/>
                  <a:pt x="96639" y="53082"/>
                  <a:pt x="96441" y="47724"/>
                </a:cubicBezTo>
                <a:cubicBezTo>
                  <a:pt x="95448" y="21431"/>
                  <a:pt x="116880" y="-99"/>
                  <a:pt x="143173" y="-99"/>
                </a:cubicBezTo>
                <a:close/>
                <a:moveTo>
                  <a:pt x="100707" y="111125"/>
                </a:moveTo>
                <a:lnTo>
                  <a:pt x="48716" y="111125"/>
                </a:lnTo>
                <a:cubicBezTo>
                  <a:pt x="54868" y="195163"/>
                  <a:pt x="93464" y="237232"/>
                  <a:pt x="133251" y="259556"/>
                </a:cubicBezTo>
                <a:cubicBezTo>
                  <a:pt x="118963" y="222548"/>
                  <a:pt x="107156" y="174228"/>
                  <a:pt x="100707" y="111125"/>
                </a:cubicBezTo>
                <a:close/>
                <a:moveTo>
                  <a:pt x="377031" y="254794"/>
                </a:moveTo>
                <a:cubicBezTo>
                  <a:pt x="417215" y="231180"/>
                  <a:pt x="453529" y="189210"/>
                  <a:pt x="459680" y="111125"/>
                </a:cubicBezTo>
                <a:lnTo>
                  <a:pt x="407789" y="111125"/>
                </a:lnTo>
                <a:cubicBezTo>
                  <a:pt x="401638" y="171549"/>
                  <a:pt x="390525" y="218480"/>
                  <a:pt x="377031" y="254794"/>
                </a:cubicBezTo>
                <a:close/>
              </a:path>
            </a:pathLst>
          </a:custGeom>
          <a:solidFill>
            <a:srgbClr val="FFC107"/>
          </a:solidFill>
          <a:ln/>
        </p:spPr>
      </p:sp>
      <p:sp>
        <p:nvSpPr>
          <p:cNvPr id="17" name="Text 15"/>
          <p:cNvSpPr/>
          <p:nvPr/>
        </p:nvSpPr>
        <p:spPr>
          <a:xfrm>
            <a:off x="2413000" y="6264031"/>
            <a:ext cx="5080000" cy="508000"/>
          </a:xfrm>
          <a:prstGeom prst="rect">
            <a:avLst/>
          </a:prstGeom>
          <a:noFill/>
          <a:ln/>
        </p:spPr>
        <p:txBody>
          <a:bodyPr wrap="square" lIns="0" tIns="0" rIns="0" bIns="0" rtlCol="0" anchor="ctr"/>
          <a:lstStyle/>
          <a:p>
            <a:pPr algn="l">
              <a:lnSpc>
                <a:spcPct val="120000"/>
              </a:lnSpc>
            </a:pPr>
            <a:r>
              <a:rPr lang="en-US" sz="2400" b="1" dirty="0">
                <a:solidFill>
                  <a:srgbClr val="FFFFFF"/>
                </a:solidFill>
                <a:latin typeface="Times New Roman" panose="02020603050405020304" pitchFamily="18" charset="0"/>
                <a:ea typeface="Liter" pitchFamily="34" charset="-122"/>
                <a:cs typeface="Times New Roman" panose="02020603050405020304" pitchFamily="18" charset="0"/>
              </a:rPr>
              <a:t>Результат роботи</a:t>
            </a:r>
            <a:endParaRPr lang="en-US" sz="2400" dirty="0"/>
          </a:p>
        </p:txBody>
      </p:sp>
      <p:sp>
        <p:nvSpPr>
          <p:cNvPr id="18" name="Text 16"/>
          <p:cNvSpPr/>
          <p:nvPr/>
        </p:nvSpPr>
        <p:spPr>
          <a:xfrm>
            <a:off x="1651000" y="6899031"/>
            <a:ext cx="13208000" cy="1016000"/>
          </a:xfrm>
          <a:prstGeom prst="rect">
            <a:avLst/>
          </a:prstGeom>
          <a:noFill/>
          <a:ln/>
        </p:spPr>
        <p:txBody>
          <a:bodyPr wrap="square" lIns="0" tIns="0" rIns="0" bIns="0" rtlCol="0" anchor="ctr"/>
          <a:lstStyle/>
          <a:p>
            <a:pPr algn="l">
              <a:lnSpc>
                <a:spcPct val="150000"/>
              </a:lnSpc>
            </a:pPr>
            <a:r>
              <a:rPr lang="en-US" sz="2000" dirty="0">
                <a:solidFill>
                  <a:srgbClr val="E0F7FA"/>
                </a:solidFill>
                <a:latin typeface="Times New Roman" panose="02020603050405020304" pitchFamily="18" charset="0"/>
                <a:ea typeface="Liter" pitchFamily="34" charset="-122"/>
                <a:cs typeface="Times New Roman" panose="02020603050405020304" pitchFamily="18" charset="0"/>
              </a:rPr>
              <a:t>Створено безпечну платформу для самостійних тренувань, яка поєднує візуальну навігацію, AI-аналіз та адаптивний дизайн.</a:t>
            </a:r>
            <a:endParaRPr lang="en-US" sz="20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6">
    <p:bg>
      <p:bgPr>
        <a:gradFill flip="none" rotWithShape="1">
          <a:gsLst>
            <a:gs pos="0">
              <a:srgbClr val="0A6B70"/>
            </a:gs>
            <a:gs pos="100000">
              <a:srgbClr val="1A2E35"/>
            </a:gs>
          </a:gsLst>
          <a:path path="circle"/>
        </a:gradFill>
        <a:effectLst/>
      </p:bgPr>
    </p:bg>
    <p:spTree>
      <p:nvGrpSpPr>
        <p:cNvPr id="1" name=""/>
        <p:cNvGrpSpPr/>
        <p:nvPr/>
      </p:nvGrpSpPr>
      <p:grpSpPr>
        <a:xfrm>
          <a:off x="0" y="0"/>
          <a:ext cx="0" cy="0"/>
          <a:chOff x="0" y="0"/>
          <a:chExt cx="0" cy="0"/>
        </a:xfrm>
      </p:grpSpPr>
      <p:sp>
        <p:nvSpPr>
          <p:cNvPr id="2" name="Shape 0"/>
          <p:cNvSpPr/>
          <p:nvPr/>
        </p:nvSpPr>
        <p:spPr>
          <a:xfrm>
            <a:off x="0" y="0"/>
            <a:ext cx="2794000" cy="2794000"/>
          </a:xfrm>
          <a:prstGeom prst="ellipse">
            <a:avLst/>
          </a:prstGeom>
          <a:solidFill>
            <a:srgbClr val="FFFFFF">
              <a:alpha val="1961"/>
            </a:srgbClr>
          </a:solidFill>
          <a:ln/>
        </p:spPr>
      </p:sp>
      <p:sp>
        <p:nvSpPr>
          <p:cNvPr id="3" name="Shape 1"/>
          <p:cNvSpPr/>
          <p:nvPr/>
        </p:nvSpPr>
        <p:spPr>
          <a:xfrm>
            <a:off x="12446000" y="5334000"/>
            <a:ext cx="3810000" cy="3810000"/>
          </a:xfrm>
          <a:prstGeom prst="ellipse">
            <a:avLst/>
          </a:prstGeom>
          <a:solidFill>
            <a:srgbClr val="FFFFFF">
              <a:alpha val="1176"/>
            </a:srgbClr>
          </a:solidFill>
          <a:ln/>
        </p:spPr>
      </p:sp>
      <p:sp>
        <p:nvSpPr>
          <p:cNvPr id="4" name="Text 2"/>
          <p:cNvSpPr/>
          <p:nvPr/>
        </p:nvSpPr>
        <p:spPr>
          <a:xfrm>
            <a:off x="3048000" y="2921000"/>
            <a:ext cx="10160000" cy="889000"/>
          </a:xfrm>
          <a:prstGeom prst="rect">
            <a:avLst/>
          </a:prstGeom>
          <a:noFill/>
          <a:ln/>
        </p:spPr>
        <p:txBody>
          <a:bodyPr wrap="square" lIns="0" tIns="0" rIns="0" bIns="0" rtlCol="0" anchor="ctr"/>
          <a:lstStyle/>
          <a:p>
            <a:pPr algn="ctr">
              <a:lnSpc>
                <a:spcPct val="120000"/>
              </a:lnSpc>
            </a:pPr>
            <a:r>
              <a:rPr lang="en-US" sz="4600" dirty="0">
                <a:solidFill>
                  <a:srgbClr val="FFFFFF"/>
                </a:solidFill>
                <a:latin typeface="Times New Roman" panose="02020603050405020304" pitchFamily="18" charset="0"/>
                <a:ea typeface="Liter" pitchFamily="34" charset="-122"/>
                <a:cs typeface="Times New Roman" panose="02020603050405020304" pitchFamily="18" charset="0"/>
              </a:rPr>
              <a:t>Дякую за увагу!</a:t>
            </a:r>
            <a:endParaRPr lang="en-US" sz="4600" dirty="0"/>
          </a:p>
        </p:txBody>
      </p:sp>
      <p:sp>
        <p:nvSpPr>
          <p:cNvPr id="5" name="Text 3"/>
          <p:cNvSpPr/>
          <p:nvPr/>
        </p:nvSpPr>
        <p:spPr>
          <a:xfrm>
            <a:off x="3683000" y="4064000"/>
            <a:ext cx="8890000" cy="635000"/>
          </a:xfrm>
          <a:prstGeom prst="rect">
            <a:avLst/>
          </a:prstGeom>
          <a:noFill/>
          <a:ln/>
        </p:spPr>
        <p:txBody>
          <a:bodyPr wrap="square" lIns="0" tIns="0" rIns="0" bIns="0" rtlCol="0" anchor="ctr"/>
          <a:lstStyle/>
          <a:p>
            <a:pPr algn="ctr">
              <a:lnSpc>
                <a:spcPct val="120000"/>
              </a:lnSpc>
            </a:pPr>
            <a:r>
              <a:rPr lang="en-US" sz="2800" dirty="0">
                <a:solidFill>
                  <a:srgbClr val="D8D8D8"/>
                </a:solidFill>
                <a:latin typeface="Times New Roman" panose="02020603050405020304" pitchFamily="18" charset="0"/>
                <a:ea typeface="Liter" pitchFamily="34" charset="-122"/>
                <a:cs typeface="Times New Roman" panose="02020603050405020304" pitchFamily="18" charset="0"/>
              </a:rPr>
              <a:t>Доповідь завершено</a:t>
            </a:r>
            <a:endParaRPr lang="en-US" sz="2800" dirty="0"/>
          </a:p>
        </p:txBody>
      </p:sp>
      <p:sp>
        <p:nvSpPr>
          <p:cNvPr id="6" name="Shape 4"/>
          <p:cNvSpPr/>
          <p:nvPr/>
        </p:nvSpPr>
        <p:spPr>
          <a:xfrm>
            <a:off x="5588000" y="4953000"/>
            <a:ext cx="5080000" cy="25400"/>
          </a:xfrm>
          <a:prstGeom prst="rect">
            <a:avLst/>
          </a:prstGeom>
          <a:solidFill>
            <a:srgbClr val="FFFFFF">
              <a:alpha val="18824"/>
            </a:srgbClr>
          </a:solidFill>
          <a:ln/>
        </p:spPr>
      </p:sp>
      <p:sp>
        <p:nvSpPr>
          <p:cNvPr id="7" name="Text 5"/>
          <p:cNvSpPr/>
          <p:nvPr/>
        </p:nvSpPr>
        <p:spPr>
          <a:xfrm>
            <a:off x="4318000" y="5334000"/>
            <a:ext cx="7620000" cy="762000"/>
          </a:xfrm>
          <a:prstGeom prst="rect">
            <a:avLst/>
          </a:prstGeom>
          <a:noFill/>
          <a:ln/>
        </p:spPr>
        <p:txBody>
          <a:bodyPr wrap="square" lIns="0" tIns="0" rIns="0" bIns="0" rtlCol="0" anchor="ctr"/>
          <a:lstStyle/>
          <a:p>
            <a:pPr algn="ctr">
              <a:lnSpc>
                <a:spcPct val="160000"/>
              </a:lnSpc>
            </a:pPr>
            <a:r>
              <a:rPr lang="en-US" sz="2200" dirty="0">
                <a:solidFill>
                  <a:srgbClr val="D8D8D8"/>
                </a:solidFill>
                <a:latin typeface="Times New Roman" panose="02020603050405020304" pitchFamily="18" charset="0"/>
                <a:ea typeface="Liter" pitchFamily="34" charset="-122"/>
                <a:cs typeface="Times New Roman" panose="02020603050405020304" pitchFamily="18" charset="0"/>
              </a:rPr>
              <a:t>Буду радий відповісти на ваші запитання!</a:t>
            </a:r>
            <a:endParaRPr lang="en-US" sz="2200" dirty="0"/>
          </a:p>
        </p:txBody>
      </p:sp>
      <p:sp>
        <p:nvSpPr>
          <p:cNvPr id="8" name="Shape 6"/>
          <p:cNvSpPr/>
          <p:nvPr/>
        </p:nvSpPr>
        <p:spPr>
          <a:xfrm>
            <a:off x="6858000" y="6477000"/>
            <a:ext cx="508000" cy="508000"/>
          </a:xfrm>
          <a:custGeom>
            <a:avLst/>
            <a:gdLst/>
            <a:ahLst/>
            <a:cxnLst/>
            <a:rect l="l" t="t" r="r" b="b"/>
            <a:pathLst>
              <a:path w="508000" h="508000">
                <a:moveTo>
                  <a:pt x="338667" y="142875"/>
                </a:moveTo>
                <a:cubicBezTo>
                  <a:pt x="338667" y="239316"/>
                  <a:pt x="262819" y="317500"/>
                  <a:pt x="169333" y="317500"/>
                </a:cubicBezTo>
                <a:cubicBezTo>
                  <a:pt x="145785" y="317500"/>
                  <a:pt x="123384" y="312539"/>
                  <a:pt x="103011" y="303609"/>
                </a:cubicBezTo>
                <a:lnTo>
                  <a:pt x="31044" y="346472"/>
                </a:lnTo>
                <a:cubicBezTo>
                  <a:pt x="22842" y="351334"/>
                  <a:pt x="12788" y="349647"/>
                  <a:pt x="6174" y="342305"/>
                </a:cubicBezTo>
                <a:cubicBezTo>
                  <a:pt x="-441" y="334963"/>
                  <a:pt x="-1940" y="323552"/>
                  <a:pt x="2469" y="314325"/>
                </a:cubicBezTo>
                <a:lnTo>
                  <a:pt x="33867" y="247650"/>
                </a:lnTo>
                <a:cubicBezTo>
                  <a:pt x="12612" y="218480"/>
                  <a:pt x="0" y="182166"/>
                  <a:pt x="0" y="142875"/>
                </a:cubicBezTo>
                <a:cubicBezTo>
                  <a:pt x="0" y="46434"/>
                  <a:pt x="75847" y="-31750"/>
                  <a:pt x="169333" y="-31750"/>
                </a:cubicBezTo>
                <a:cubicBezTo>
                  <a:pt x="262819" y="-31750"/>
                  <a:pt x="338667" y="46434"/>
                  <a:pt x="338667" y="142875"/>
                </a:cubicBezTo>
                <a:close/>
                <a:moveTo>
                  <a:pt x="338667" y="508000"/>
                </a:moveTo>
                <a:cubicBezTo>
                  <a:pt x="255676" y="508000"/>
                  <a:pt x="186619" y="446385"/>
                  <a:pt x="172156" y="365125"/>
                </a:cubicBezTo>
                <a:cubicBezTo>
                  <a:pt x="277989" y="363637"/>
                  <a:pt x="369976" y="278904"/>
                  <a:pt x="380118" y="164009"/>
                </a:cubicBezTo>
                <a:cubicBezTo>
                  <a:pt x="453584" y="183059"/>
                  <a:pt x="508000" y="251619"/>
                  <a:pt x="508000" y="333375"/>
                </a:cubicBezTo>
                <a:cubicBezTo>
                  <a:pt x="508000" y="372666"/>
                  <a:pt x="495388" y="408980"/>
                  <a:pt x="474133" y="438150"/>
                </a:cubicBezTo>
                <a:lnTo>
                  <a:pt x="505531" y="504825"/>
                </a:lnTo>
                <a:cubicBezTo>
                  <a:pt x="509852" y="514052"/>
                  <a:pt x="508353" y="525363"/>
                  <a:pt x="501826" y="532805"/>
                </a:cubicBezTo>
                <a:cubicBezTo>
                  <a:pt x="495300" y="540246"/>
                  <a:pt x="485158" y="541933"/>
                  <a:pt x="476956" y="536972"/>
                </a:cubicBezTo>
                <a:lnTo>
                  <a:pt x="404989" y="494109"/>
                </a:lnTo>
                <a:cubicBezTo>
                  <a:pt x="384616" y="503039"/>
                  <a:pt x="362215" y="508000"/>
                  <a:pt x="338667" y="508000"/>
                </a:cubicBezTo>
                <a:close/>
              </a:path>
            </a:pathLst>
          </a:custGeom>
          <a:solidFill>
            <a:srgbClr val="D8D8D8"/>
          </a:solidFill>
          <a:ln/>
        </p:spPr>
      </p:sp>
      <p:sp>
        <p:nvSpPr>
          <p:cNvPr id="9" name="Shape 7"/>
          <p:cNvSpPr/>
          <p:nvPr/>
        </p:nvSpPr>
        <p:spPr>
          <a:xfrm>
            <a:off x="7937500" y="6477000"/>
            <a:ext cx="508000" cy="508000"/>
          </a:xfrm>
          <a:custGeom>
            <a:avLst/>
            <a:gdLst/>
            <a:ahLst/>
            <a:cxnLst/>
            <a:rect l="l" t="t" r="r" b="b"/>
            <a:pathLst>
              <a:path w="508000" h="508000">
                <a:moveTo>
                  <a:pt x="273617" y="-12898"/>
                </a:moveTo>
                <a:cubicBezTo>
                  <a:pt x="260690" y="-15180"/>
                  <a:pt x="247423" y="-15180"/>
                  <a:pt x="234496" y="-12898"/>
                </a:cubicBezTo>
                <a:lnTo>
                  <a:pt x="21885" y="24309"/>
                </a:lnTo>
                <a:cubicBezTo>
                  <a:pt x="9185" y="26491"/>
                  <a:pt x="0" y="36314"/>
                  <a:pt x="0" y="47625"/>
                </a:cubicBezTo>
                <a:cubicBezTo>
                  <a:pt x="0" y="57845"/>
                  <a:pt x="7371" y="66774"/>
                  <a:pt x="18143" y="70048"/>
                </a:cubicBezTo>
                <a:lnTo>
                  <a:pt x="18143" y="142875"/>
                </a:lnTo>
                <a:lnTo>
                  <a:pt x="340" y="220861"/>
                </a:lnTo>
                <a:cubicBezTo>
                  <a:pt x="113" y="221754"/>
                  <a:pt x="0" y="222746"/>
                  <a:pt x="0" y="223738"/>
                </a:cubicBezTo>
                <a:cubicBezTo>
                  <a:pt x="0" y="231676"/>
                  <a:pt x="7371" y="238224"/>
                  <a:pt x="16555" y="238224"/>
                </a:cubicBezTo>
                <a:lnTo>
                  <a:pt x="56129" y="238224"/>
                </a:lnTo>
                <a:cubicBezTo>
                  <a:pt x="65201" y="238224"/>
                  <a:pt x="72685" y="231775"/>
                  <a:pt x="72685" y="223738"/>
                </a:cubicBezTo>
                <a:cubicBezTo>
                  <a:pt x="72685" y="222746"/>
                  <a:pt x="72571" y="221853"/>
                  <a:pt x="72345" y="220861"/>
                </a:cubicBezTo>
                <a:lnTo>
                  <a:pt x="54429" y="142875"/>
                </a:lnTo>
                <a:lnTo>
                  <a:pt x="54429" y="76696"/>
                </a:lnTo>
                <a:lnTo>
                  <a:pt x="108857" y="86221"/>
                </a:lnTo>
                <a:lnTo>
                  <a:pt x="108857" y="142875"/>
                </a:lnTo>
                <a:cubicBezTo>
                  <a:pt x="108857" y="213023"/>
                  <a:pt x="173831" y="269875"/>
                  <a:pt x="254000" y="269875"/>
                </a:cubicBezTo>
                <a:cubicBezTo>
                  <a:pt x="334169" y="269875"/>
                  <a:pt x="399143" y="213023"/>
                  <a:pt x="399143" y="142875"/>
                </a:cubicBezTo>
                <a:lnTo>
                  <a:pt x="399143" y="86221"/>
                </a:lnTo>
                <a:lnTo>
                  <a:pt x="486115" y="71041"/>
                </a:lnTo>
                <a:cubicBezTo>
                  <a:pt x="498815" y="68759"/>
                  <a:pt x="508000" y="58936"/>
                  <a:pt x="508000" y="47625"/>
                </a:cubicBezTo>
                <a:cubicBezTo>
                  <a:pt x="508000" y="36314"/>
                  <a:pt x="498815" y="26491"/>
                  <a:pt x="486115" y="24309"/>
                </a:cubicBezTo>
                <a:lnTo>
                  <a:pt x="273617" y="-12898"/>
                </a:lnTo>
                <a:close/>
                <a:moveTo>
                  <a:pt x="254000" y="222250"/>
                </a:moveTo>
                <a:cubicBezTo>
                  <a:pt x="203880" y="222250"/>
                  <a:pt x="163286" y="186730"/>
                  <a:pt x="163286" y="142875"/>
                </a:cubicBezTo>
                <a:lnTo>
                  <a:pt x="344714" y="142875"/>
                </a:lnTo>
                <a:cubicBezTo>
                  <a:pt x="344714" y="186730"/>
                  <a:pt x="304120" y="222250"/>
                  <a:pt x="254000" y="222250"/>
                </a:cubicBezTo>
                <a:close/>
                <a:moveTo>
                  <a:pt x="136185" y="317599"/>
                </a:moveTo>
                <a:cubicBezTo>
                  <a:pt x="66562" y="345579"/>
                  <a:pt x="18143" y="407095"/>
                  <a:pt x="18143" y="478532"/>
                </a:cubicBezTo>
                <a:cubicBezTo>
                  <a:pt x="18143" y="494804"/>
                  <a:pt x="33224" y="508000"/>
                  <a:pt x="51821" y="508000"/>
                </a:cubicBezTo>
                <a:lnTo>
                  <a:pt x="226786" y="508000"/>
                </a:lnTo>
                <a:lnTo>
                  <a:pt x="226786" y="363141"/>
                </a:lnTo>
                <a:lnTo>
                  <a:pt x="161698" y="320477"/>
                </a:lnTo>
                <a:cubicBezTo>
                  <a:pt x="154328" y="315615"/>
                  <a:pt x="144463" y="314325"/>
                  <a:pt x="136071" y="317698"/>
                </a:cubicBezTo>
                <a:close/>
                <a:moveTo>
                  <a:pt x="281214" y="508000"/>
                </a:moveTo>
                <a:lnTo>
                  <a:pt x="456179" y="508000"/>
                </a:lnTo>
                <a:cubicBezTo>
                  <a:pt x="474776" y="508000"/>
                  <a:pt x="489857" y="494804"/>
                  <a:pt x="489857" y="478532"/>
                </a:cubicBezTo>
                <a:cubicBezTo>
                  <a:pt x="489857" y="407095"/>
                  <a:pt x="441438" y="345579"/>
                  <a:pt x="371815" y="317698"/>
                </a:cubicBezTo>
                <a:cubicBezTo>
                  <a:pt x="363424" y="314325"/>
                  <a:pt x="353559" y="315615"/>
                  <a:pt x="346188" y="320477"/>
                </a:cubicBezTo>
                <a:lnTo>
                  <a:pt x="281101" y="363141"/>
                </a:lnTo>
                <a:lnTo>
                  <a:pt x="281101" y="508000"/>
                </a:lnTo>
                <a:close/>
              </a:path>
            </a:pathLst>
          </a:custGeom>
          <a:solidFill>
            <a:srgbClr val="D8D8D8"/>
          </a:solidFill>
          <a:ln/>
        </p:spPr>
      </p:sp>
      <p:sp>
        <p:nvSpPr>
          <p:cNvPr id="10" name="Shape 8"/>
          <p:cNvSpPr/>
          <p:nvPr/>
        </p:nvSpPr>
        <p:spPr>
          <a:xfrm>
            <a:off x="9017000" y="6477000"/>
            <a:ext cx="508000" cy="508000"/>
          </a:xfrm>
          <a:custGeom>
            <a:avLst/>
            <a:gdLst/>
            <a:ahLst/>
            <a:cxnLst/>
            <a:rect l="l" t="t" r="r" b="b"/>
            <a:pathLst>
              <a:path w="508000" h="508000">
                <a:moveTo>
                  <a:pt x="318206" y="1191"/>
                </a:moveTo>
                <a:cubicBezTo>
                  <a:pt x="303213" y="-3671"/>
                  <a:pt x="287602" y="6152"/>
                  <a:pt x="283281" y="23019"/>
                </a:cubicBezTo>
                <a:lnTo>
                  <a:pt x="170392" y="467519"/>
                </a:lnTo>
                <a:cubicBezTo>
                  <a:pt x="166070" y="484386"/>
                  <a:pt x="174801" y="501948"/>
                  <a:pt x="189794" y="506809"/>
                </a:cubicBezTo>
                <a:cubicBezTo>
                  <a:pt x="204787" y="511671"/>
                  <a:pt x="220398" y="501848"/>
                  <a:pt x="224719" y="484981"/>
                </a:cubicBezTo>
                <a:lnTo>
                  <a:pt x="337608" y="40481"/>
                </a:lnTo>
                <a:cubicBezTo>
                  <a:pt x="341930" y="23614"/>
                  <a:pt x="333199" y="6052"/>
                  <a:pt x="318206" y="1191"/>
                </a:cubicBezTo>
                <a:close/>
                <a:moveTo>
                  <a:pt x="375179" y="136227"/>
                </a:moveTo>
                <a:cubicBezTo>
                  <a:pt x="364155" y="148630"/>
                  <a:pt x="364155" y="168771"/>
                  <a:pt x="375179" y="181173"/>
                </a:cubicBezTo>
                <a:lnTo>
                  <a:pt x="439914" y="254000"/>
                </a:lnTo>
                <a:lnTo>
                  <a:pt x="375179" y="326827"/>
                </a:lnTo>
                <a:cubicBezTo>
                  <a:pt x="364155" y="339229"/>
                  <a:pt x="364155" y="359370"/>
                  <a:pt x="375179" y="371773"/>
                </a:cubicBezTo>
                <a:cubicBezTo>
                  <a:pt x="386203" y="384175"/>
                  <a:pt x="404107" y="384175"/>
                  <a:pt x="415131" y="371773"/>
                </a:cubicBezTo>
                <a:lnTo>
                  <a:pt x="499798" y="276523"/>
                </a:lnTo>
                <a:cubicBezTo>
                  <a:pt x="510822" y="264120"/>
                  <a:pt x="510822" y="243979"/>
                  <a:pt x="499798" y="231577"/>
                </a:cubicBezTo>
                <a:lnTo>
                  <a:pt x="415131" y="136327"/>
                </a:lnTo>
                <a:cubicBezTo>
                  <a:pt x="404107" y="123924"/>
                  <a:pt x="386203" y="123924"/>
                  <a:pt x="375179" y="136327"/>
                </a:cubicBezTo>
                <a:close/>
                <a:moveTo>
                  <a:pt x="132909" y="136227"/>
                </a:moveTo>
                <a:cubicBezTo>
                  <a:pt x="121885" y="123825"/>
                  <a:pt x="103981" y="123825"/>
                  <a:pt x="92957" y="136227"/>
                </a:cubicBezTo>
                <a:lnTo>
                  <a:pt x="8290" y="231477"/>
                </a:lnTo>
                <a:cubicBezTo>
                  <a:pt x="-2734" y="243880"/>
                  <a:pt x="-2734" y="264021"/>
                  <a:pt x="8290" y="276423"/>
                </a:cubicBezTo>
                <a:lnTo>
                  <a:pt x="92957" y="371673"/>
                </a:lnTo>
                <a:cubicBezTo>
                  <a:pt x="103981" y="384076"/>
                  <a:pt x="121885" y="384076"/>
                  <a:pt x="132909" y="371673"/>
                </a:cubicBezTo>
                <a:cubicBezTo>
                  <a:pt x="143933" y="359271"/>
                  <a:pt x="143933" y="339130"/>
                  <a:pt x="132909" y="326727"/>
                </a:cubicBezTo>
                <a:lnTo>
                  <a:pt x="68174" y="254000"/>
                </a:lnTo>
                <a:lnTo>
                  <a:pt x="132821" y="181173"/>
                </a:lnTo>
                <a:cubicBezTo>
                  <a:pt x="143845" y="168771"/>
                  <a:pt x="143845" y="148630"/>
                  <a:pt x="132821" y="136227"/>
                </a:cubicBezTo>
                <a:close/>
              </a:path>
            </a:pathLst>
          </a:custGeom>
          <a:solidFill>
            <a:srgbClr val="D8D8D8"/>
          </a:solidFill>
          <a:ln/>
        </p:spPr>
      </p:sp>
      <p:sp>
        <p:nvSpPr>
          <p:cNvPr id="11" name="Text 9"/>
          <p:cNvSpPr/>
          <p:nvPr/>
        </p:nvSpPr>
        <p:spPr>
          <a:xfrm>
            <a:off x="4318000" y="7874000"/>
            <a:ext cx="7620000" cy="457200"/>
          </a:xfrm>
          <a:prstGeom prst="rect">
            <a:avLst/>
          </a:prstGeom>
          <a:noFill/>
          <a:ln/>
        </p:spPr>
        <p:txBody>
          <a:bodyPr wrap="square" lIns="0" tIns="0" rIns="0" bIns="0" rtlCol="0" anchor="ctr"/>
          <a:lstStyle/>
          <a:p>
            <a:pPr algn="ctr">
              <a:lnSpc>
                <a:spcPct val="120000"/>
              </a:lnSpc>
            </a:pPr>
            <a:r>
              <a:rPr lang="en-US" sz="1600" dirty="0">
                <a:solidFill>
                  <a:srgbClr val="A0A0A0"/>
                </a:solidFill>
                <a:latin typeface="Times New Roman" panose="02020603050405020304" pitchFamily="18" charset="0"/>
                <a:ea typeface="Liter" pitchFamily="34" charset="-122"/>
                <a:cs typeface="Times New Roman" panose="02020603050405020304" pitchFamily="18" charset="0"/>
              </a:rPr>
              <a:t>GymAnalysis · Дипломна робота · 202</a:t>
            </a:r>
            <a:r>
              <a:rPr lang="uk-UA" sz="1600" dirty="0">
                <a:solidFill>
                  <a:srgbClr val="A0A0A0"/>
                </a:solidFill>
                <a:latin typeface="Times New Roman" panose="02020603050405020304" pitchFamily="18" charset="0"/>
                <a:ea typeface="Liter" pitchFamily="34" charset="-122"/>
                <a:cs typeface="Times New Roman" panose="02020603050405020304" pitchFamily="18" charset="0"/>
              </a:rPr>
              <a:t>6</a:t>
            </a:r>
            <a:endParaRPr lang="en-US" sz="1600" dirty="0"/>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1211</Words>
  <Application>Microsoft Office PowerPoint</Application>
  <PresentationFormat>Custom</PresentationFormat>
  <Paragraphs>164</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Courier New</vt:lpstr>
      <vt:lpstr>Liter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Кросплатформений застосунок для обліку та аналізу індивідуальних спортивних тренувань</dc:title>
  <dc:subject>Кросплатформений застосунок для обліку та аналізу індивідуальних спортивних тренувань</dc:subject>
  <dc:creator>Kimi</dc:creator>
  <cp:lastModifiedBy>Егор Сотников</cp:lastModifiedBy>
  <cp:revision>10</cp:revision>
  <dcterms:created xsi:type="dcterms:W3CDTF">2026-07-08T21:03:48Z</dcterms:created>
  <dcterms:modified xsi:type="dcterms:W3CDTF">2026-07-12T18:53:59Z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{"Label":"Кросплатформений застосунок для обліку та аналізу індивідуальних спортивних тренувань","ContentProducer":"001191110108MACG2KBH8F10000","ProduceID":"19f4386d-03e2-8a17-8000-0000de0c6aaa","ReservedCode1":"","ContentPropagator":"001191110108MACG2KB</vt:lpwstr>
  </property>
</Properties>
</file>